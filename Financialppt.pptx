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7" r:id="rId9"/>
    <p:sldId id="263" r:id="rId10"/>
    <p:sldId id="268" r:id="rId11"/>
    <p:sldId id="264" r:id="rId12"/>
    <p:sldId id="269" r:id="rId13"/>
    <p:sldId id="265" r:id="rId14"/>
    <p:sldId id="270" r:id="rId15"/>
    <p:sldId id="271" r:id="rId16"/>
    <p:sldId id="272" r:id="rId17"/>
    <p:sldId id="273" r:id="rId18"/>
    <p:sldId id="274" r:id="rId19"/>
    <p:sldId id="275" r:id="rId20"/>
  </p:sldIdLst>
  <p:sldSz cx="18288000" cy="10287000"/>
  <p:notesSz cx="18288000" cy="10287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2" d="100"/>
          <a:sy n="42" d="100"/>
        </p:scale>
        <p:origin x="-120" y="-192"/>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6600" b="1" i="0">
                <a:solidFill>
                  <a:srgbClr val="FF0000"/>
                </a:solidFill>
                <a:latin typeface="Calibri"/>
                <a:cs typeface="Calibri"/>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75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00" b="1" i="0">
                <a:solidFill>
                  <a:srgbClr val="FF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75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00" b="1" i="0">
                <a:solidFill>
                  <a:srgbClr val="FF0000"/>
                </a:solidFill>
                <a:latin typeface="Calibri"/>
                <a:cs typeface="Calibri"/>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11/15/2025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00" b="1"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11/15/2025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11/15/2025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3449300" y="9429743"/>
            <a:ext cx="4400550" cy="666731"/>
          </a:xfrm>
          <a:prstGeom prst="rect">
            <a:avLst/>
          </a:prstGeom>
        </p:spPr>
      </p:pic>
      <p:sp>
        <p:nvSpPr>
          <p:cNvPr id="2" name="Holder 2"/>
          <p:cNvSpPr>
            <a:spLocks noGrp="1"/>
          </p:cNvSpPr>
          <p:nvPr>
            <p:ph type="title"/>
          </p:nvPr>
        </p:nvSpPr>
        <p:spPr>
          <a:xfrm>
            <a:off x="2518410" y="176148"/>
            <a:ext cx="12096369" cy="1610677"/>
          </a:xfrm>
          <a:prstGeom prst="rect">
            <a:avLst/>
          </a:prstGeom>
        </p:spPr>
        <p:txBody>
          <a:bodyPr wrap="square" lIns="0" tIns="0" rIns="0" bIns="0">
            <a:spAutoFit/>
          </a:bodyPr>
          <a:lstStyle>
            <a:lvl1pPr>
              <a:defRPr sz="6600" b="1" i="0">
                <a:solidFill>
                  <a:srgbClr val="FF0000"/>
                </a:solidFill>
                <a:latin typeface="Calibri"/>
                <a:cs typeface="Calibri"/>
              </a:defRPr>
            </a:lvl1pPr>
          </a:lstStyle>
          <a:p>
            <a:endParaRPr/>
          </a:p>
        </p:txBody>
      </p:sp>
      <p:sp>
        <p:nvSpPr>
          <p:cNvPr id="3" name="Holder 3"/>
          <p:cNvSpPr>
            <a:spLocks noGrp="1"/>
          </p:cNvSpPr>
          <p:nvPr>
            <p:ph type="body" idx="1"/>
          </p:nvPr>
        </p:nvSpPr>
        <p:spPr>
          <a:xfrm>
            <a:off x="1687829" y="2330513"/>
            <a:ext cx="16036925" cy="6890384"/>
          </a:xfrm>
          <a:prstGeom prst="rect">
            <a:avLst/>
          </a:prstGeom>
        </p:spPr>
        <p:txBody>
          <a:bodyPr wrap="square" lIns="0" tIns="0" rIns="0" bIns="0">
            <a:spAutoFit/>
          </a:bodyPr>
          <a:lstStyle>
            <a:lvl1pPr>
              <a:defRPr sz="2750" b="1" i="0">
                <a:solidFill>
                  <a:schemeClr val="tx1"/>
                </a:solidFill>
                <a:latin typeface="Calibri"/>
                <a:cs typeface="Calibri"/>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11/15/2025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100" y="0"/>
            <a:ext cx="18249900" cy="10039350"/>
          </a:xfrm>
          <a:prstGeom prst="rect">
            <a:avLst/>
          </a:prstGeom>
        </p:spPr>
      </p:pic>
      <p:sp>
        <p:nvSpPr>
          <p:cNvPr id="3" name="object 3"/>
          <p:cNvSpPr txBox="1">
            <a:spLocks noGrp="1"/>
          </p:cNvSpPr>
          <p:nvPr>
            <p:ph type="title"/>
          </p:nvPr>
        </p:nvSpPr>
        <p:spPr>
          <a:xfrm>
            <a:off x="4394200" y="5898768"/>
            <a:ext cx="9512300" cy="2237105"/>
          </a:xfrm>
          <a:prstGeom prst="rect">
            <a:avLst/>
          </a:prstGeom>
        </p:spPr>
        <p:txBody>
          <a:bodyPr vert="horz" wrap="square" lIns="0" tIns="172720" rIns="0" bIns="0" rtlCol="0">
            <a:spAutoFit/>
          </a:bodyPr>
          <a:lstStyle/>
          <a:p>
            <a:pPr marL="12700">
              <a:lnSpc>
                <a:spcPct val="100000"/>
              </a:lnSpc>
              <a:spcBef>
                <a:spcPts val="1360"/>
              </a:spcBef>
            </a:pPr>
            <a:r>
              <a:rPr sz="6200" spc="85" dirty="0">
                <a:solidFill>
                  <a:srgbClr val="000000"/>
                </a:solidFill>
                <a:latin typeface="Tahoma"/>
                <a:cs typeface="Tahoma"/>
              </a:rPr>
              <a:t>Financial</a:t>
            </a:r>
            <a:r>
              <a:rPr sz="6200" spc="-120" dirty="0">
                <a:solidFill>
                  <a:srgbClr val="000000"/>
                </a:solidFill>
                <a:latin typeface="Tahoma"/>
                <a:cs typeface="Tahoma"/>
              </a:rPr>
              <a:t> </a:t>
            </a:r>
            <a:r>
              <a:rPr sz="6200" spc="170" dirty="0">
                <a:solidFill>
                  <a:srgbClr val="000000"/>
                </a:solidFill>
                <a:latin typeface="Tahoma"/>
                <a:cs typeface="Tahoma"/>
              </a:rPr>
              <a:t>Data</a:t>
            </a:r>
            <a:r>
              <a:rPr sz="6200" spc="-120" dirty="0">
                <a:solidFill>
                  <a:srgbClr val="000000"/>
                </a:solidFill>
                <a:latin typeface="Tahoma"/>
                <a:cs typeface="Tahoma"/>
              </a:rPr>
              <a:t> </a:t>
            </a:r>
            <a:r>
              <a:rPr sz="6200" spc="150" dirty="0">
                <a:solidFill>
                  <a:srgbClr val="000000"/>
                </a:solidFill>
                <a:latin typeface="Tahoma"/>
                <a:cs typeface="Tahoma"/>
              </a:rPr>
              <a:t>Analysis</a:t>
            </a:r>
            <a:endParaRPr sz="6200">
              <a:latin typeface="Tahoma"/>
              <a:cs typeface="Tahoma"/>
            </a:endParaRPr>
          </a:p>
          <a:p>
            <a:pPr marL="214629" algn="ctr">
              <a:lnSpc>
                <a:spcPct val="100000"/>
              </a:lnSpc>
              <a:spcBef>
                <a:spcPts val="1265"/>
              </a:spcBef>
            </a:pPr>
            <a:r>
              <a:rPr sz="6200" spc="245" dirty="0">
                <a:solidFill>
                  <a:srgbClr val="FFBC58"/>
                </a:solidFill>
                <a:latin typeface="Tahoma"/>
                <a:cs typeface="Tahoma"/>
              </a:rPr>
              <a:t>Power</a:t>
            </a:r>
            <a:r>
              <a:rPr sz="6200" spc="-110" dirty="0">
                <a:solidFill>
                  <a:srgbClr val="FFBC58"/>
                </a:solidFill>
                <a:latin typeface="Tahoma"/>
                <a:cs typeface="Tahoma"/>
              </a:rPr>
              <a:t> </a:t>
            </a:r>
            <a:r>
              <a:rPr sz="6200" spc="-655" dirty="0">
                <a:solidFill>
                  <a:srgbClr val="FFBC58"/>
                </a:solidFill>
                <a:latin typeface="Tahoma"/>
                <a:cs typeface="Tahoma"/>
              </a:rPr>
              <a:t>BI</a:t>
            </a:r>
            <a:endParaRPr sz="6200">
              <a:latin typeface="Tahoma"/>
              <a:cs typeface="Tahoma"/>
            </a:endParaRPr>
          </a:p>
        </p:txBody>
      </p:sp>
      <p:sp>
        <p:nvSpPr>
          <p:cNvPr id="4" name="TextBox 3"/>
          <p:cNvSpPr txBox="1"/>
          <p:nvPr/>
        </p:nvSpPr>
        <p:spPr>
          <a:xfrm>
            <a:off x="0" y="8191500"/>
            <a:ext cx="6096000" cy="1815882"/>
          </a:xfrm>
          <a:prstGeom prst="rect">
            <a:avLst/>
          </a:prstGeom>
          <a:noFill/>
        </p:spPr>
        <p:txBody>
          <a:bodyPr wrap="square" rtlCol="0">
            <a:spAutoFit/>
          </a:bodyPr>
          <a:lstStyle/>
          <a:p>
            <a:r>
              <a:rPr lang="en-US" sz="2800" b="1" dirty="0" err="1" smtClean="0"/>
              <a:t>M.Pavan</a:t>
            </a:r>
            <a:r>
              <a:rPr lang="en-US" sz="2800" b="1" dirty="0" smtClean="0"/>
              <a:t> </a:t>
            </a:r>
            <a:r>
              <a:rPr lang="en-US" sz="2800" b="1" dirty="0" err="1" smtClean="0"/>
              <a:t>Datta</a:t>
            </a:r>
            <a:endParaRPr lang="en-US" sz="2800" b="1" dirty="0" smtClean="0"/>
          </a:p>
          <a:p>
            <a:r>
              <a:rPr lang="en-US" sz="2800" b="1" dirty="0" smtClean="0"/>
              <a:t>Batch 403</a:t>
            </a:r>
          </a:p>
          <a:p>
            <a:r>
              <a:rPr lang="en-US" sz="2800" b="1" dirty="0" err="1" smtClean="0"/>
              <a:t>Innomatics</a:t>
            </a:r>
            <a:r>
              <a:rPr lang="en-US" sz="2800" b="1" dirty="0" smtClean="0"/>
              <a:t> Research Labs </a:t>
            </a:r>
          </a:p>
          <a:p>
            <a:r>
              <a:rPr lang="en-US" sz="2800" b="1" dirty="0" err="1" smtClean="0"/>
              <a:t>Diksukhnagar</a:t>
            </a:r>
            <a:endParaRPr lang="en-US" sz="28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1502" rIns="0" bIns="0" rtlCol="0">
            <a:spAutoFit/>
          </a:bodyPr>
          <a:lstStyle/>
          <a:p>
            <a:pPr marL="316865">
              <a:lnSpc>
                <a:spcPct val="100000"/>
              </a:lnSpc>
              <a:spcBef>
                <a:spcPts val="105"/>
              </a:spcBef>
            </a:pPr>
            <a:r>
              <a:rPr spc="-10" dirty="0"/>
              <a:t>Agenda</a:t>
            </a:r>
          </a:p>
        </p:txBody>
      </p:sp>
      <p:sp>
        <p:nvSpPr>
          <p:cNvPr id="3" name="object 3"/>
          <p:cNvSpPr txBox="1"/>
          <p:nvPr/>
        </p:nvSpPr>
        <p:spPr>
          <a:xfrm>
            <a:off x="2750820" y="2207260"/>
            <a:ext cx="14241780" cy="7369966"/>
          </a:xfrm>
          <a:prstGeom prst="rect">
            <a:avLst/>
          </a:prstGeom>
        </p:spPr>
        <p:txBody>
          <a:bodyPr vert="horz" wrap="square" lIns="0" tIns="120650" rIns="0" bIns="0" rtlCol="0">
            <a:spAutoFit/>
          </a:bodyPr>
          <a:lstStyle/>
          <a:p>
            <a:pPr marL="457200" indent="-444500">
              <a:lnSpc>
                <a:spcPct val="100000"/>
              </a:lnSpc>
              <a:spcBef>
                <a:spcPts val="950"/>
              </a:spcBef>
              <a:buFont typeface="Arial MT"/>
              <a:buChar char="•"/>
              <a:tabLst>
                <a:tab pos="457200" algn="l"/>
              </a:tabLst>
            </a:pPr>
            <a:r>
              <a:rPr sz="4100" b="1" dirty="0">
                <a:latin typeface="Times New Roman"/>
                <a:cs typeface="Times New Roman"/>
              </a:rPr>
              <a:t>Project</a:t>
            </a:r>
            <a:r>
              <a:rPr sz="4100" b="1" spc="-175" dirty="0">
                <a:latin typeface="Times New Roman"/>
                <a:cs typeface="Times New Roman"/>
              </a:rPr>
              <a:t> </a:t>
            </a:r>
            <a:r>
              <a:rPr sz="4100" b="1" spc="-10" dirty="0">
                <a:latin typeface="Times New Roman"/>
                <a:cs typeface="Times New Roman"/>
              </a:rPr>
              <a:t>Overview</a:t>
            </a:r>
            <a:endParaRPr sz="4100" dirty="0">
              <a:latin typeface="Times New Roman"/>
              <a:cs typeface="Times New Roman"/>
            </a:endParaRPr>
          </a:p>
          <a:p>
            <a:pPr marL="457200" indent="-444500">
              <a:lnSpc>
                <a:spcPct val="100000"/>
              </a:lnSpc>
              <a:spcBef>
                <a:spcPts val="860"/>
              </a:spcBef>
              <a:buFont typeface="Arial MT"/>
              <a:buChar char="•"/>
              <a:tabLst>
                <a:tab pos="457200" algn="l"/>
              </a:tabLst>
            </a:pPr>
            <a:r>
              <a:rPr sz="4100" b="1" dirty="0">
                <a:latin typeface="Times New Roman"/>
                <a:cs typeface="Times New Roman"/>
              </a:rPr>
              <a:t>Data</a:t>
            </a:r>
            <a:r>
              <a:rPr sz="4100" b="1" spc="-15" dirty="0">
                <a:latin typeface="Times New Roman"/>
                <a:cs typeface="Times New Roman"/>
              </a:rPr>
              <a:t> </a:t>
            </a:r>
            <a:r>
              <a:rPr lang="en-US" sz="4100" b="1" spc="-10" dirty="0" smtClean="0">
                <a:latin typeface="Times New Roman"/>
                <a:cs typeface="Times New Roman"/>
              </a:rPr>
              <a:t>Overview</a:t>
            </a:r>
            <a:endParaRPr sz="4100" dirty="0">
              <a:latin typeface="Times New Roman"/>
              <a:cs typeface="Times New Roman"/>
            </a:endParaRPr>
          </a:p>
          <a:p>
            <a:pPr marL="457200" indent="-444500">
              <a:lnSpc>
                <a:spcPct val="100000"/>
              </a:lnSpc>
              <a:spcBef>
                <a:spcPts val="940"/>
              </a:spcBef>
              <a:buFont typeface="Arial MT"/>
              <a:buChar char="•"/>
              <a:tabLst>
                <a:tab pos="457200" algn="l"/>
              </a:tabLst>
            </a:pPr>
            <a:r>
              <a:rPr sz="4100" b="1" dirty="0">
                <a:latin typeface="Times New Roman"/>
                <a:cs typeface="Times New Roman"/>
              </a:rPr>
              <a:t>Data</a:t>
            </a:r>
            <a:r>
              <a:rPr sz="4100" b="1" spc="-10" dirty="0">
                <a:latin typeface="Times New Roman"/>
                <a:cs typeface="Times New Roman"/>
              </a:rPr>
              <a:t> Preparation</a:t>
            </a:r>
            <a:endParaRPr sz="4100" dirty="0">
              <a:latin typeface="Times New Roman"/>
              <a:cs typeface="Times New Roman"/>
            </a:endParaRPr>
          </a:p>
          <a:p>
            <a:pPr marL="457200" indent="-444500">
              <a:lnSpc>
                <a:spcPct val="100000"/>
              </a:lnSpc>
              <a:spcBef>
                <a:spcPts val="860"/>
              </a:spcBef>
              <a:buFont typeface="Arial MT"/>
              <a:buChar char="•"/>
              <a:tabLst>
                <a:tab pos="457200" algn="l"/>
              </a:tabLst>
            </a:pPr>
            <a:r>
              <a:rPr sz="4100" b="1" dirty="0">
                <a:latin typeface="Times New Roman"/>
                <a:cs typeface="Times New Roman"/>
              </a:rPr>
              <a:t>Dashboard</a:t>
            </a:r>
            <a:r>
              <a:rPr sz="4100" b="1" spc="-170" dirty="0">
                <a:latin typeface="Times New Roman"/>
                <a:cs typeface="Times New Roman"/>
              </a:rPr>
              <a:t> </a:t>
            </a:r>
            <a:r>
              <a:rPr sz="4100" b="1" spc="-10" dirty="0">
                <a:latin typeface="Times New Roman"/>
                <a:cs typeface="Times New Roman"/>
              </a:rPr>
              <a:t>Visualizations</a:t>
            </a:r>
            <a:endParaRPr sz="4100" dirty="0">
              <a:latin typeface="Times New Roman"/>
              <a:cs typeface="Times New Roman"/>
            </a:endParaRPr>
          </a:p>
          <a:p>
            <a:pPr marL="457200" indent="-444500">
              <a:lnSpc>
                <a:spcPct val="100000"/>
              </a:lnSpc>
              <a:spcBef>
                <a:spcPts val="860"/>
              </a:spcBef>
              <a:buFont typeface="Arial MT"/>
              <a:buChar char="•"/>
              <a:tabLst>
                <a:tab pos="457200" algn="l"/>
              </a:tabLst>
            </a:pPr>
            <a:r>
              <a:rPr sz="4100" b="1" dirty="0">
                <a:latin typeface="Times New Roman"/>
                <a:cs typeface="Times New Roman"/>
              </a:rPr>
              <a:t>Applications</a:t>
            </a:r>
            <a:r>
              <a:rPr sz="4100" b="1" spc="-90" dirty="0">
                <a:latin typeface="Times New Roman"/>
                <a:cs typeface="Times New Roman"/>
              </a:rPr>
              <a:t> </a:t>
            </a:r>
            <a:r>
              <a:rPr sz="4100" b="1" dirty="0">
                <a:latin typeface="Times New Roman"/>
                <a:cs typeface="Times New Roman"/>
              </a:rPr>
              <a:t>&amp;</a:t>
            </a:r>
            <a:r>
              <a:rPr sz="4100" b="1" spc="-30" dirty="0">
                <a:latin typeface="Times New Roman"/>
                <a:cs typeface="Times New Roman"/>
              </a:rPr>
              <a:t> </a:t>
            </a:r>
            <a:r>
              <a:rPr sz="4100" b="1" spc="-10" dirty="0">
                <a:latin typeface="Times New Roman"/>
                <a:cs typeface="Times New Roman"/>
              </a:rPr>
              <a:t>Recommendations</a:t>
            </a:r>
            <a:endParaRPr sz="4100" dirty="0">
              <a:latin typeface="Times New Roman"/>
              <a:cs typeface="Times New Roman"/>
            </a:endParaRPr>
          </a:p>
          <a:p>
            <a:pPr marL="457200" indent="-444500">
              <a:lnSpc>
                <a:spcPct val="100000"/>
              </a:lnSpc>
              <a:spcBef>
                <a:spcPts val="935"/>
              </a:spcBef>
              <a:buFont typeface="Arial MT"/>
              <a:buChar char="•"/>
              <a:tabLst>
                <a:tab pos="457200" algn="l"/>
              </a:tabLst>
            </a:pPr>
            <a:r>
              <a:rPr sz="4100" b="1" spc="-10" dirty="0">
                <a:latin typeface="Times New Roman"/>
                <a:cs typeface="Times New Roman"/>
              </a:rPr>
              <a:t>Conclusion</a:t>
            </a:r>
            <a:endParaRPr sz="4100" dirty="0">
              <a:latin typeface="Times New Roman"/>
              <a:cs typeface="Times New Roman"/>
            </a:endParaRPr>
          </a:p>
          <a:p>
            <a:pPr marL="457200" indent="-444500">
              <a:lnSpc>
                <a:spcPct val="100000"/>
              </a:lnSpc>
              <a:spcBef>
                <a:spcPts val="860"/>
              </a:spcBef>
              <a:tabLst>
                <a:tab pos="457200" algn="l"/>
              </a:tabLst>
            </a:pPr>
            <a:r>
              <a:rPr lang="en-US" sz="3600" b="1" dirty="0" smtClean="0">
                <a:latin typeface="Times New Roman"/>
                <a:cs typeface="Times New Roman"/>
              </a:rPr>
              <a:t>Problem </a:t>
            </a:r>
            <a:r>
              <a:rPr lang="en-US" sz="3600" b="1" dirty="0" err="1" smtClean="0">
                <a:latin typeface="Times New Roman"/>
                <a:cs typeface="Times New Roman"/>
              </a:rPr>
              <a:t>statement:</a:t>
            </a:r>
            <a:r>
              <a:rPr lang="en-US" sz="3600" b="1" dirty="0" err="1"/>
              <a:t>To</a:t>
            </a:r>
            <a:r>
              <a:rPr lang="en-US" sz="3600" b="1" dirty="0"/>
              <a:t> identify the most promising investment opportunities by evaluating companies based on consistent revenue growth, profitability, asset expansion, and sustainable financial leverage, while flagging companies showing signs of financial distress or declining performance</a:t>
            </a:r>
            <a:r>
              <a:rPr lang="en-US" sz="2800" b="1" dirty="0"/>
              <a:t>.</a:t>
            </a:r>
            <a:endParaRPr sz="2800" dirty="0">
              <a:latin typeface="Times New Roman"/>
              <a:cs typeface="Times New Roman"/>
            </a:endParaRPr>
          </a:p>
        </p:txBody>
      </p:sp>
      <p:sp>
        <p:nvSpPr>
          <p:cNvPr id="4" name="object 4"/>
          <p:cNvSpPr/>
          <p:nvPr/>
        </p:nvSpPr>
        <p:spPr>
          <a:xfrm>
            <a:off x="1041500" y="642358"/>
            <a:ext cx="1546860" cy="1543050"/>
          </a:xfrm>
          <a:custGeom>
            <a:avLst/>
            <a:gdLst/>
            <a:ahLst/>
            <a:cxnLst/>
            <a:rect l="l" t="t" r="r" b="b"/>
            <a:pathLst>
              <a:path w="1546860" h="1543050">
                <a:moveTo>
                  <a:pt x="972261" y="511043"/>
                </a:moveTo>
                <a:lnTo>
                  <a:pt x="936795" y="518216"/>
                </a:lnTo>
                <a:lnTo>
                  <a:pt x="907796" y="537772"/>
                </a:lnTo>
                <a:lnTo>
                  <a:pt x="888224" y="566764"/>
                </a:lnTo>
                <a:lnTo>
                  <a:pt x="881043" y="602246"/>
                </a:lnTo>
                <a:lnTo>
                  <a:pt x="881043" y="1450678"/>
                </a:lnTo>
                <a:lnTo>
                  <a:pt x="888206" y="1486154"/>
                </a:lnTo>
                <a:lnTo>
                  <a:pt x="907747" y="1515126"/>
                </a:lnTo>
                <a:lnTo>
                  <a:pt x="936741" y="1534660"/>
                </a:lnTo>
                <a:lnTo>
                  <a:pt x="972261" y="1541823"/>
                </a:lnTo>
                <a:lnTo>
                  <a:pt x="972261" y="1542536"/>
                </a:lnTo>
                <a:lnTo>
                  <a:pt x="1007781" y="1535382"/>
                </a:lnTo>
                <a:lnTo>
                  <a:pt x="1036775" y="1515864"/>
                </a:lnTo>
                <a:lnTo>
                  <a:pt x="1056316" y="1486895"/>
                </a:lnTo>
                <a:lnTo>
                  <a:pt x="1063480" y="1451391"/>
                </a:lnTo>
                <a:lnTo>
                  <a:pt x="1063479" y="602246"/>
                </a:lnTo>
                <a:lnTo>
                  <a:pt x="1056303" y="566764"/>
                </a:lnTo>
                <a:lnTo>
                  <a:pt x="1036743" y="537772"/>
                </a:lnTo>
                <a:lnTo>
                  <a:pt x="1007740" y="518216"/>
                </a:lnTo>
                <a:lnTo>
                  <a:pt x="972261" y="511043"/>
                </a:lnTo>
                <a:close/>
              </a:path>
              <a:path w="1546860" h="1543050">
                <a:moveTo>
                  <a:pt x="678589" y="611983"/>
                </a:moveTo>
                <a:lnTo>
                  <a:pt x="643110" y="619146"/>
                </a:lnTo>
                <a:lnTo>
                  <a:pt x="614108" y="638680"/>
                </a:lnTo>
                <a:lnTo>
                  <a:pt x="594547" y="667650"/>
                </a:lnTo>
                <a:lnTo>
                  <a:pt x="587371" y="703122"/>
                </a:lnTo>
                <a:lnTo>
                  <a:pt x="587371" y="1349622"/>
                </a:lnTo>
                <a:lnTo>
                  <a:pt x="594535" y="1385098"/>
                </a:lnTo>
                <a:lnTo>
                  <a:pt x="614076" y="1414070"/>
                </a:lnTo>
                <a:lnTo>
                  <a:pt x="643069" y="1433604"/>
                </a:lnTo>
                <a:lnTo>
                  <a:pt x="678564" y="1440762"/>
                </a:lnTo>
                <a:lnTo>
                  <a:pt x="677976" y="1440762"/>
                </a:lnTo>
                <a:lnTo>
                  <a:pt x="713516" y="1433604"/>
                </a:lnTo>
                <a:lnTo>
                  <a:pt x="713932" y="1433604"/>
                </a:lnTo>
                <a:lnTo>
                  <a:pt x="742948" y="1414070"/>
                </a:lnTo>
                <a:lnTo>
                  <a:pt x="767425" y="1361300"/>
                </a:lnTo>
                <a:lnTo>
                  <a:pt x="769808" y="703122"/>
                </a:lnTo>
                <a:lnTo>
                  <a:pt x="762626" y="667650"/>
                </a:lnTo>
                <a:lnTo>
                  <a:pt x="743055" y="638680"/>
                </a:lnTo>
                <a:lnTo>
                  <a:pt x="714055" y="619146"/>
                </a:lnTo>
                <a:lnTo>
                  <a:pt x="678589" y="611983"/>
                </a:lnTo>
                <a:close/>
              </a:path>
              <a:path w="1546860" h="1543050">
                <a:moveTo>
                  <a:pt x="1154762" y="1247724"/>
                </a:moveTo>
                <a:lnTo>
                  <a:pt x="1154762" y="1321249"/>
                </a:lnTo>
                <a:lnTo>
                  <a:pt x="1427676" y="1403065"/>
                </a:lnTo>
                <a:lnTo>
                  <a:pt x="1460360" y="1408052"/>
                </a:lnTo>
                <a:lnTo>
                  <a:pt x="1492625" y="1403065"/>
                </a:lnTo>
                <a:lnTo>
                  <a:pt x="1519733" y="1386623"/>
                </a:lnTo>
                <a:lnTo>
                  <a:pt x="1538586" y="1361301"/>
                </a:lnTo>
                <a:lnTo>
                  <a:pt x="1544573" y="1337378"/>
                </a:lnTo>
                <a:lnTo>
                  <a:pt x="1456822" y="1337378"/>
                </a:lnTo>
                <a:lnTo>
                  <a:pt x="1452592" y="1336694"/>
                </a:lnTo>
                <a:lnTo>
                  <a:pt x="1448595" y="1335370"/>
                </a:lnTo>
                <a:lnTo>
                  <a:pt x="1154762" y="1247724"/>
                </a:lnTo>
                <a:close/>
              </a:path>
              <a:path w="1546860" h="1543050">
                <a:moveTo>
                  <a:pt x="384918" y="708745"/>
                </a:moveTo>
                <a:lnTo>
                  <a:pt x="349367" y="715909"/>
                </a:lnTo>
                <a:lnTo>
                  <a:pt x="320366" y="735447"/>
                </a:lnTo>
                <a:lnTo>
                  <a:pt x="300837" y="764426"/>
                </a:lnTo>
                <a:lnTo>
                  <a:pt x="293680" y="799916"/>
                </a:lnTo>
                <a:lnTo>
                  <a:pt x="293680" y="1253360"/>
                </a:lnTo>
                <a:lnTo>
                  <a:pt x="320418" y="1317832"/>
                </a:lnTo>
                <a:lnTo>
                  <a:pt x="384918" y="1344506"/>
                </a:lnTo>
                <a:lnTo>
                  <a:pt x="420289" y="1337378"/>
                </a:lnTo>
                <a:lnTo>
                  <a:pt x="421399" y="1336693"/>
                </a:lnTo>
                <a:lnTo>
                  <a:pt x="449439" y="1317832"/>
                </a:lnTo>
                <a:lnTo>
                  <a:pt x="469018" y="1288863"/>
                </a:lnTo>
                <a:lnTo>
                  <a:pt x="476201" y="1253360"/>
                </a:lnTo>
                <a:lnTo>
                  <a:pt x="476201" y="799916"/>
                </a:lnTo>
                <a:lnTo>
                  <a:pt x="469027" y="764426"/>
                </a:lnTo>
                <a:lnTo>
                  <a:pt x="449464" y="735447"/>
                </a:lnTo>
                <a:lnTo>
                  <a:pt x="420448" y="715909"/>
                </a:lnTo>
                <a:lnTo>
                  <a:pt x="384918" y="708745"/>
                </a:lnTo>
                <a:close/>
              </a:path>
              <a:path w="1546860" h="1543050">
                <a:moveTo>
                  <a:pt x="396105" y="70325"/>
                </a:moveTo>
                <a:lnTo>
                  <a:pt x="146464" y="70324"/>
                </a:lnTo>
                <a:lnTo>
                  <a:pt x="150670" y="70999"/>
                </a:lnTo>
                <a:lnTo>
                  <a:pt x="154702" y="72285"/>
                </a:lnTo>
                <a:lnTo>
                  <a:pt x="1428385" y="452940"/>
                </a:lnTo>
                <a:lnTo>
                  <a:pt x="1462878" y="476709"/>
                </a:lnTo>
                <a:lnTo>
                  <a:pt x="1476605" y="1337378"/>
                </a:lnTo>
                <a:lnTo>
                  <a:pt x="1544573" y="1337378"/>
                </a:lnTo>
                <a:lnTo>
                  <a:pt x="1546518" y="1329604"/>
                </a:lnTo>
                <a:lnTo>
                  <a:pt x="1546582" y="508215"/>
                </a:lnTo>
                <a:lnTo>
                  <a:pt x="1538943" y="468946"/>
                </a:lnTo>
                <a:lnTo>
                  <a:pt x="1517980" y="432795"/>
                </a:lnTo>
                <a:lnTo>
                  <a:pt x="1486628" y="403447"/>
                </a:lnTo>
                <a:lnTo>
                  <a:pt x="1448063" y="384704"/>
                </a:lnTo>
                <a:lnTo>
                  <a:pt x="396105" y="70325"/>
                </a:lnTo>
                <a:close/>
              </a:path>
              <a:path w="1546860" h="1543050">
                <a:moveTo>
                  <a:pt x="91223" y="807018"/>
                </a:moveTo>
                <a:lnTo>
                  <a:pt x="55284" y="814277"/>
                </a:lnTo>
                <a:lnTo>
                  <a:pt x="55613" y="814277"/>
                </a:lnTo>
                <a:lnTo>
                  <a:pt x="26680" y="833824"/>
                </a:lnTo>
                <a:lnTo>
                  <a:pt x="7168" y="862753"/>
                </a:lnTo>
                <a:lnTo>
                  <a:pt x="0" y="898157"/>
                </a:lnTo>
                <a:lnTo>
                  <a:pt x="13" y="1154959"/>
                </a:lnTo>
                <a:lnTo>
                  <a:pt x="7215" y="1190431"/>
                </a:lnTo>
                <a:lnTo>
                  <a:pt x="26823" y="1219403"/>
                </a:lnTo>
                <a:lnTo>
                  <a:pt x="55821" y="1238939"/>
                </a:lnTo>
                <a:lnTo>
                  <a:pt x="56044" y="1238939"/>
                </a:lnTo>
                <a:lnTo>
                  <a:pt x="91529" y="1246101"/>
                </a:lnTo>
                <a:lnTo>
                  <a:pt x="91236" y="1246101"/>
                </a:lnTo>
                <a:lnTo>
                  <a:pt x="126730" y="1238939"/>
                </a:lnTo>
                <a:lnTo>
                  <a:pt x="155749" y="1219403"/>
                </a:lnTo>
                <a:lnTo>
                  <a:pt x="175327" y="1190431"/>
                </a:lnTo>
                <a:lnTo>
                  <a:pt x="182510" y="1154959"/>
                </a:lnTo>
                <a:lnTo>
                  <a:pt x="182509" y="898157"/>
                </a:lnTo>
                <a:lnTo>
                  <a:pt x="175288" y="862753"/>
                </a:lnTo>
                <a:lnTo>
                  <a:pt x="155724" y="833824"/>
                </a:lnTo>
                <a:lnTo>
                  <a:pt x="126731" y="814277"/>
                </a:lnTo>
                <a:lnTo>
                  <a:pt x="91223" y="807018"/>
                </a:lnTo>
                <a:close/>
              </a:path>
              <a:path w="1546860" h="1543050">
                <a:moveTo>
                  <a:pt x="129961" y="0"/>
                </a:moveTo>
                <a:lnTo>
                  <a:pt x="92018" y="14202"/>
                </a:lnTo>
                <a:lnTo>
                  <a:pt x="65795" y="43379"/>
                </a:lnTo>
                <a:lnTo>
                  <a:pt x="56006" y="84079"/>
                </a:lnTo>
                <a:lnTo>
                  <a:pt x="56006" y="719382"/>
                </a:lnTo>
                <a:lnTo>
                  <a:pt x="64753" y="717859"/>
                </a:lnTo>
                <a:lnTo>
                  <a:pt x="73560" y="716763"/>
                </a:lnTo>
                <a:lnTo>
                  <a:pt x="82410" y="716102"/>
                </a:lnTo>
                <a:lnTo>
                  <a:pt x="90103" y="715909"/>
                </a:lnTo>
                <a:lnTo>
                  <a:pt x="126634" y="715909"/>
                </a:lnTo>
                <a:lnTo>
                  <a:pt x="126634" y="70324"/>
                </a:lnTo>
                <a:lnTo>
                  <a:pt x="396105" y="70325"/>
                </a:lnTo>
                <a:lnTo>
                  <a:pt x="174909" y="4220"/>
                </a:lnTo>
                <a:lnTo>
                  <a:pt x="129961" y="0"/>
                </a:lnTo>
                <a:close/>
              </a:path>
              <a:path w="1546860" h="1543050">
                <a:moveTo>
                  <a:pt x="126634" y="715909"/>
                </a:moveTo>
                <a:lnTo>
                  <a:pt x="92475" y="715909"/>
                </a:lnTo>
                <a:lnTo>
                  <a:pt x="100181" y="716102"/>
                </a:lnTo>
                <a:lnTo>
                  <a:pt x="109047" y="716763"/>
                </a:lnTo>
                <a:lnTo>
                  <a:pt x="117870" y="717859"/>
                </a:lnTo>
                <a:lnTo>
                  <a:pt x="126634" y="719382"/>
                </a:lnTo>
                <a:lnTo>
                  <a:pt x="126634" y="715909"/>
                </a:lnTo>
                <a:close/>
              </a:path>
            </a:pathLst>
          </a:custGeom>
          <a:solidFill>
            <a:srgbClr val="333333"/>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1502" rIns="0" bIns="0" rtlCol="0">
            <a:spAutoFit/>
          </a:bodyPr>
          <a:lstStyle/>
          <a:p>
            <a:pPr marL="316865">
              <a:lnSpc>
                <a:spcPct val="100000"/>
              </a:lnSpc>
              <a:spcBef>
                <a:spcPts val="105"/>
              </a:spcBef>
            </a:pPr>
            <a:r>
              <a:rPr dirty="0"/>
              <a:t>Project</a:t>
            </a:r>
            <a:r>
              <a:rPr spc="-175" dirty="0"/>
              <a:t> </a:t>
            </a:r>
            <a:r>
              <a:rPr spc="-10" dirty="0"/>
              <a:t>Overview</a:t>
            </a:r>
          </a:p>
        </p:txBody>
      </p:sp>
      <p:sp>
        <p:nvSpPr>
          <p:cNvPr id="3" name="object 3"/>
          <p:cNvSpPr txBox="1"/>
          <p:nvPr/>
        </p:nvSpPr>
        <p:spPr>
          <a:xfrm>
            <a:off x="2113026" y="2446851"/>
            <a:ext cx="15589885" cy="6516912"/>
          </a:xfrm>
          <a:prstGeom prst="rect">
            <a:avLst/>
          </a:prstGeom>
        </p:spPr>
        <p:txBody>
          <a:bodyPr vert="horz" wrap="square" lIns="0" tIns="11430" rIns="0" bIns="0" rtlCol="0">
            <a:spAutoFit/>
          </a:bodyPr>
          <a:lstStyle/>
          <a:p>
            <a:pPr marL="325755" marR="1400175" indent="-313690">
              <a:lnSpc>
                <a:spcPct val="119200"/>
              </a:lnSpc>
              <a:spcBef>
                <a:spcPts val="90"/>
              </a:spcBef>
              <a:buFont typeface="Arial MT"/>
              <a:buChar char="•"/>
              <a:tabLst>
                <a:tab pos="325755" algn="l"/>
              </a:tabLst>
            </a:pPr>
            <a:r>
              <a:rPr sz="3200" b="1" dirty="0">
                <a:latin typeface="Calibri"/>
                <a:cs typeface="Calibri"/>
              </a:rPr>
              <a:t>Developed</a:t>
            </a:r>
            <a:r>
              <a:rPr sz="3200" b="1" spc="-80" dirty="0">
                <a:latin typeface="Calibri"/>
                <a:cs typeface="Calibri"/>
              </a:rPr>
              <a:t> </a:t>
            </a:r>
            <a:r>
              <a:rPr sz="3200" b="1" dirty="0">
                <a:latin typeface="Calibri"/>
                <a:cs typeface="Calibri"/>
              </a:rPr>
              <a:t>a</a:t>
            </a:r>
            <a:r>
              <a:rPr sz="3200" b="1" spc="-140" dirty="0">
                <a:latin typeface="Calibri"/>
                <a:cs typeface="Calibri"/>
              </a:rPr>
              <a:t> </a:t>
            </a:r>
            <a:r>
              <a:rPr sz="3200" b="1" dirty="0">
                <a:latin typeface="Calibri"/>
                <a:cs typeface="Calibri"/>
              </a:rPr>
              <a:t>Power</a:t>
            </a:r>
            <a:r>
              <a:rPr sz="3200" b="1" spc="-80" dirty="0">
                <a:latin typeface="Calibri"/>
                <a:cs typeface="Calibri"/>
              </a:rPr>
              <a:t> </a:t>
            </a:r>
            <a:r>
              <a:rPr sz="3200" b="1" dirty="0">
                <a:latin typeface="Calibri"/>
                <a:cs typeface="Calibri"/>
              </a:rPr>
              <a:t>BI</a:t>
            </a:r>
            <a:r>
              <a:rPr sz="3200" b="1" spc="-95" dirty="0">
                <a:latin typeface="Calibri"/>
                <a:cs typeface="Calibri"/>
              </a:rPr>
              <a:t> </a:t>
            </a:r>
            <a:r>
              <a:rPr sz="3200" b="1" dirty="0">
                <a:latin typeface="Calibri"/>
                <a:cs typeface="Calibri"/>
              </a:rPr>
              <a:t>dashboard</a:t>
            </a:r>
            <a:r>
              <a:rPr sz="3200" b="1" spc="-65" dirty="0">
                <a:latin typeface="Calibri"/>
                <a:cs typeface="Calibri"/>
              </a:rPr>
              <a:t> </a:t>
            </a:r>
            <a:r>
              <a:rPr sz="3200" b="1" dirty="0">
                <a:latin typeface="Calibri"/>
                <a:cs typeface="Calibri"/>
              </a:rPr>
              <a:t>to</a:t>
            </a:r>
            <a:r>
              <a:rPr sz="3200" b="1" spc="-75" dirty="0">
                <a:latin typeface="Calibri"/>
                <a:cs typeface="Calibri"/>
              </a:rPr>
              <a:t> </a:t>
            </a:r>
            <a:r>
              <a:rPr sz="3200" b="1" dirty="0">
                <a:latin typeface="Calibri"/>
                <a:cs typeface="Calibri"/>
              </a:rPr>
              <a:t>analyze</a:t>
            </a:r>
            <a:r>
              <a:rPr sz="3200" b="1" spc="-105" dirty="0">
                <a:latin typeface="Calibri"/>
                <a:cs typeface="Calibri"/>
              </a:rPr>
              <a:t> </a:t>
            </a:r>
            <a:r>
              <a:rPr sz="3200" b="1" dirty="0">
                <a:latin typeface="Calibri"/>
                <a:cs typeface="Calibri"/>
              </a:rPr>
              <a:t>multi-year</a:t>
            </a:r>
            <a:r>
              <a:rPr sz="3200" b="1" spc="-80" dirty="0">
                <a:latin typeface="Calibri"/>
                <a:cs typeface="Calibri"/>
              </a:rPr>
              <a:t> </a:t>
            </a:r>
            <a:r>
              <a:rPr sz="3200" b="1" dirty="0">
                <a:latin typeface="Calibri"/>
                <a:cs typeface="Calibri"/>
              </a:rPr>
              <a:t>financial</a:t>
            </a:r>
            <a:r>
              <a:rPr sz="3200" b="1" spc="-100" dirty="0">
                <a:latin typeface="Calibri"/>
                <a:cs typeface="Calibri"/>
              </a:rPr>
              <a:t> </a:t>
            </a:r>
            <a:r>
              <a:rPr sz="3200" b="1" dirty="0">
                <a:latin typeface="Calibri"/>
                <a:cs typeface="Calibri"/>
              </a:rPr>
              <a:t>data</a:t>
            </a:r>
            <a:r>
              <a:rPr sz="3200" b="1" spc="-80" dirty="0">
                <a:latin typeface="Calibri"/>
                <a:cs typeface="Calibri"/>
              </a:rPr>
              <a:t> </a:t>
            </a:r>
            <a:r>
              <a:rPr sz="3200" b="1" dirty="0">
                <a:latin typeface="Calibri"/>
                <a:cs typeface="Calibri"/>
              </a:rPr>
              <a:t>from</a:t>
            </a:r>
            <a:r>
              <a:rPr sz="3200" b="1" spc="-125" dirty="0">
                <a:latin typeface="Calibri"/>
                <a:cs typeface="Calibri"/>
              </a:rPr>
              <a:t> </a:t>
            </a:r>
            <a:r>
              <a:rPr sz="3200" b="1" spc="-10" dirty="0">
                <a:latin typeface="Calibri"/>
                <a:cs typeface="Calibri"/>
              </a:rPr>
              <a:t>Income </a:t>
            </a:r>
            <a:r>
              <a:rPr sz="3200" b="1" spc="-20" dirty="0">
                <a:latin typeface="Calibri"/>
                <a:cs typeface="Calibri"/>
              </a:rPr>
              <a:t>Statement,</a:t>
            </a:r>
            <a:r>
              <a:rPr sz="3200" b="1" spc="-45" dirty="0">
                <a:latin typeface="Calibri"/>
                <a:cs typeface="Calibri"/>
              </a:rPr>
              <a:t> </a:t>
            </a:r>
            <a:r>
              <a:rPr sz="3200" b="1" dirty="0">
                <a:latin typeface="Calibri"/>
                <a:cs typeface="Calibri"/>
              </a:rPr>
              <a:t>Balance</a:t>
            </a:r>
            <a:r>
              <a:rPr sz="3200" b="1" spc="-80" dirty="0">
                <a:latin typeface="Calibri"/>
                <a:cs typeface="Calibri"/>
              </a:rPr>
              <a:t> </a:t>
            </a:r>
            <a:r>
              <a:rPr sz="3200" b="1" dirty="0">
                <a:latin typeface="Calibri"/>
                <a:cs typeface="Calibri"/>
              </a:rPr>
              <a:t>Sheet,</a:t>
            </a:r>
            <a:r>
              <a:rPr sz="3200" b="1" spc="-35" dirty="0">
                <a:latin typeface="Calibri"/>
                <a:cs typeface="Calibri"/>
              </a:rPr>
              <a:t> </a:t>
            </a:r>
            <a:r>
              <a:rPr sz="3200" b="1" dirty="0">
                <a:latin typeface="Calibri"/>
                <a:cs typeface="Calibri"/>
              </a:rPr>
              <a:t>and</a:t>
            </a:r>
            <a:r>
              <a:rPr sz="3200" b="1" spc="-45" dirty="0">
                <a:latin typeface="Calibri"/>
                <a:cs typeface="Calibri"/>
              </a:rPr>
              <a:t> </a:t>
            </a:r>
            <a:r>
              <a:rPr sz="3200" b="1" dirty="0">
                <a:latin typeface="Calibri"/>
                <a:cs typeface="Calibri"/>
              </a:rPr>
              <a:t>Cash</a:t>
            </a:r>
            <a:r>
              <a:rPr sz="3200" b="1" spc="-114" dirty="0">
                <a:latin typeface="Calibri"/>
                <a:cs typeface="Calibri"/>
              </a:rPr>
              <a:t> </a:t>
            </a:r>
            <a:r>
              <a:rPr sz="3200" b="1" dirty="0">
                <a:latin typeface="Calibri"/>
                <a:cs typeface="Calibri"/>
              </a:rPr>
              <a:t>Flow</a:t>
            </a:r>
            <a:r>
              <a:rPr sz="3200" b="1" spc="-40" dirty="0">
                <a:latin typeface="Calibri"/>
                <a:cs typeface="Calibri"/>
              </a:rPr>
              <a:t> </a:t>
            </a:r>
            <a:r>
              <a:rPr sz="3200" b="1" spc="-10" dirty="0">
                <a:latin typeface="Calibri"/>
                <a:cs typeface="Calibri"/>
              </a:rPr>
              <a:t>reports.</a:t>
            </a:r>
            <a:endParaRPr sz="3200" dirty="0">
              <a:latin typeface="Calibri"/>
              <a:cs typeface="Calibri"/>
            </a:endParaRPr>
          </a:p>
          <a:p>
            <a:pPr marL="325755" marR="393700" indent="-313690">
              <a:lnSpc>
                <a:spcPct val="119300"/>
              </a:lnSpc>
              <a:spcBef>
                <a:spcPts val="75"/>
              </a:spcBef>
              <a:buFont typeface="Arial MT"/>
              <a:buChar char="•"/>
              <a:tabLst>
                <a:tab pos="325755" algn="l"/>
              </a:tabLst>
            </a:pPr>
            <a:r>
              <a:rPr sz="3200" b="1" spc="-10" dirty="0">
                <a:latin typeface="Calibri"/>
                <a:cs typeface="Calibri"/>
              </a:rPr>
              <a:t>Consolidated</a:t>
            </a:r>
            <a:r>
              <a:rPr sz="3200" b="1" spc="-110" dirty="0">
                <a:latin typeface="Calibri"/>
                <a:cs typeface="Calibri"/>
              </a:rPr>
              <a:t> </a:t>
            </a:r>
            <a:r>
              <a:rPr sz="3200" b="1" dirty="0">
                <a:latin typeface="Calibri"/>
                <a:cs typeface="Calibri"/>
              </a:rPr>
              <a:t>financial</a:t>
            </a:r>
            <a:r>
              <a:rPr sz="3200" b="1" spc="-75" dirty="0">
                <a:latin typeface="Calibri"/>
                <a:cs typeface="Calibri"/>
              </a:rPr>
              <a:t> </a:t>
            </a:r>
            <a:r>
              <a:rPr sz="3200" b="1" dirty="0">
                <a:latin typeface="Calibri"/>
                <a:cs typeface="Calibri"/>
              </a:rPr>
              <a:t>metrics</a:t>
            </a:r>
            <a:r>
              <a:rPr sz="3200" b="1" spc="-120" dirty="0">
                <a:latin typeface="Calibri"/>
                <a:cs typeface="Calibri"/>
              </a:rPr>
              <a:t> </a:t>
            </a:r>
            <a:r>
              <a:rPr sz="3200" b="1" dirty="0">
                <a:latin typeface="Calibri"/>
                <a:cs typeface="Calibri"/>
              </a:rPr>
              <a:t>such</a:t>
            </a:r>
            <a:r>
              <a:rPr sz="3200" b="1" spc="-120" dirty="0">
                <a:latin typeface="Calibri"/>
                <a:cs typeface="Calibri"/>
              </a:rPr>
              <a:t> </a:t>
            </a:r>
            <a:r>
              <a:rPr sz="3200" b="1" dirty="0">
                <a:latin typeface="Calibri"/>
                <a:cs typeface="Calibri"/>
              </a:rPr>
              <a:t>as</a:t>
            </a:r>
            <a:r>
              <a:rPr sz="3200" b="1" spc="-50" dirty="0">
                <a:latin typeface="Calibri"/>
                <a:cs typeface="Calibri"/>
              </a:rPr>
              <a:t> </a:t>
            </a:r>
            <a:r>
              <a:rPr sz="3200" b="1" dirty="0">
                <a:latin typeface="Calibri"/>
                <a:cs typeface="Calibri"/>
              </a:rPr>
              <a:t>Revenue,</a:t>
            </a:r>
            <a:r>
              <a:rPr sz="3200" b="1" spc="-45" dirty="0">
                <a:latin typeface="Calibri"/>
                <a:cs typeface="Calibri"/>
              </a:rPr>
              <a:t> </a:t>
            </a:r>
            <a:r>
              <a:rPr sz="3200" b="1" dirty="0">
                <a:latin typeface="Calibri"/>
                <a:cs typeface="Calibri"/>
              </a:rPr>
              <a:t>Net</a:t>
            </a:r>
            <a:r>
              <a:rPr sz="3200" b="1" spc="-35" dirty="0">
                <a:latin typeface="Calibri"/>
                <a:cs typeface="Calibri"/>
              </a:rPr>
              <a:t> </a:t>
            </a:r>
            <a:r>
              <a:rPr sz="3200" b="1" dirty="0">
                <a:latin typeface="Calibri"/>
                <a:cs typeface="Calibri"/>
              </a:rPr>
              <a:t>Income,</a:t>
            </a:r>
            <a:r>
              <a:rPr sz="3200" b="1" spc="-110" dirty="0">
                <a:latin typeface="Calibri"/>
                <a:cs typeface="Calibri"/>
              </a:rPr>
              <a:t> </a:t>
            </a:r>
            <a:r>
              <a:rPr sz="3200" b="1" dirty="0">
                <a:latin typeface="Calibri"/>
                <a:cs typeface="Calibri"/>
              </a:rPr>
              <a:t>Assets,</a:t>
            </a:r>
            <a:r>
              <a:rPr sz="3200" b="1" spc="-50" dirty="0">
                <a:latin typeface="Calibri"/>
                <a:cs typeface="Calibri"/>
              </a:rPr>
              <a:t> </a:t>
            </a:r>
            <a:r>
              <a:rPr sz="3200" b="1" dirty="0">
                <a:latin typeface="Calibri"/>
                <a:cs typeface="Calibri"/>
              </a:rPr>
              <a:t>Liabilities,</a:t>
            </a:r>
            <a:r>
              <a:rPr sz="3200" b="1" spc="-110" dirty="0">
                <a:latin typeface="Calibri"/>
                <a:cs typeface="Calibri"/>
              </a:rPr>
              <a:t> </a:t>
            </a:r>
            <a:r>
              <a:rPr sz="3200" b="1" dirty="0">
                <a:latin typeface="Calibri"/>
                <a:cs typeface="Calibri"/>
              </a:rPr>
              <a:t>and</a:t>
            </a:r>
            <a:r>
              <a:rPr sz="3200" b="1" spc="-55" dirty="0">
                <a:latin typeface="Calibri"/>
                <a:cs typeface="Calibri"/>
              </a:rPr>
              <a:t> </a:t>
            </a:r>
            <a:r>
              <a:rPr sz="3200" b="1" spc="-20" dirty="0">
                <a:latin typeface="Calibri"/>
                <a:cs typeface="Calibri"/>
              </a:rPr>
              <a:t>Cash </a:t>
            </a:r>
            <a:r>
              <a:rPr sz="3200" b="1" dirty="0">
                <a:latin typeface="Calibri"/>
                <a:cs typeface="Calibri"/>
              </a:rPr>
              <a:t>Flow</a:t>
            </a:r>
            <a:r>
              <a:rPr sz="3200" b="1" spc="-80" dirty="0">
                <a:latin typeface="Calibri"/>
                <a:cs typeface="Calibri"/>
              </a:rPr>
              <a:t> </a:t>
            </a:r>
            <a:r>
              <a:rPr sz="3200" b="1" dirty="0">
                <a:latin typeface="Calibri"/>
                <a:cs typeface="Calibri"/>
              </a:rPr>
              <a:t>from</a:t>
            </a:r>
            <a:r>
              <a:rPr sz="3200" b="1" spc="-135" dirty="0">
                <a:latin typeface="Calibri"/>
                <a:cs typeface="Calibri"/>
              </a:rPr>
              <a:t> </a:t>
            </a:r>
            <a:r>
              <a:rPr sz="3200" b="1" dirty="0">
                <a:latin typeface="Calibri"/>
                <a:cs typeface="Calibri"/>
              </a:rPr>
              <a:t>multiple</a:t>
            </a:r>
            <a:r>
              <a:rPr sz="3200" b="1" spc="-120" dirty="0">
                <a:latin typeface="Calibri"/>
                <a:cs typeface="Calibri"/>
              </a:rPr>
              <a:t> </a:t>
            </a:r>
            <a:r>
              <a:rPr sz="3200" b="1" dirty="0">
                <a:latin typeface="Calibri"/>
                <a:cs typeface="Calibri"/>
              </a:rPr>
              <a:t>company</a:t>
            </a:r>
            <a:r>
              <a:rPr sz="3200" b="1" spc="-95" dirty="0">
                <a:latin typeface="Calibri"/>
                <a:cs typeface="Calibri"/>
              </a:rPr>
              <a:t> </a:t>
            </a:r>
            <a:r>
              <a:rPr sz="3200" b="1" spc="-10" dirty="0">
                <a:latin typeface="Calibri"/>
                <a:cs typeface="Calibri"/>
              </a:rPr>
              <a:t>datasets.</a:t>
            </a:r>
            <a:endParaRPr sz="3200" dirty="0">
              <a:latin typeface="Calibri"/>
              <a:cs typeface="Calibri"/>
            </a:endParaRPr>
          </a:p>
          <a:p>
            <a:pPr marL="325755" marR="1270000" indent="-313690">
              <a:lnSpc>
                <a:spcPts val="4650"/>
              </a:lnSpc>
              <a:spcBef>
                <a:spcPts val="219"/>
              </a:spcBef>
              <a:buFont typeface="Arial MT"/>
              <a:buChar char="•"/>
              <a:tabLst>
                <a:tab pos="325755" algn="l"/>
              </a:tabLst>
            </a:pPr>
            <a:r>
              <a:rPr sz="3200" b="1" dirty="0">
                <a:latin typeface="Calibri"/>
                <a:cs typeface="Calibri"/>
              </a:rPr>
              <a:t>Built</a:t>
            </a:r>
            <a:r>
              <a:rPr sz="3200" b="1" spc="-95" dirty="0">
                <a:latin typeface="Calibri"/>
                <a:cs typeface="Calibri"/>
              </a:rPr>
              <a:t> </a:t>
            </a:r>
            <a:r>
              <a:rPr sz="3200" b="1" dirty="0">
                <a:latin typeface="Calibri"/>
                <a:cs typeface="Calibri"/>
              </a:rPr>
              <a:t>a</a:t>
            </a:r>
            <a:r>
              <a:rPr sz="3200" b="1" spc="-50" dirty="0">
                <a:latin typeface="Calibri"/>
                <a:cs typeface="Calibri"/>
              </a:rPr>
              <a:t> </a:t>
            </a:r>
            <a:r>
              <a:rPr sz="3200" b="1" dirty="0">
                <a:latin typeface="Calibri"/>
                <a:cs typeface="Calibri"/>
              </a:rPr>
              <a:t>star</a:t>
            </a:r>
            <a:r>
              <a:rPr sz="3200" b="1" spc="-50" dirty="0">
                <a:latin typeface="Calibri"/>
                <a:cs typeface="Calibri"/>
              </a:rPr>
              <a:t> </a:t>
            </a:r>
            <a:r>
              <a:rPr sz="3200" b="1" dirty="0">
                <a:latin typeface="Calibri"/>
                <a:cs typeface="Calibri"/>
              </a:rPr>
              <a:t>schema</a:t>
            </a:r>
            <a:r>
              <a:rPr sz="3200" b="1" spc="-120" dirty="0">
                <a:latin typeface="Calibri"/>
                <a:cs typeface="Calibri"/>
              </a:rPr>
              <a:t> </a:t>
            </a:r>
            <a:r>
              <a:rPr sz="3200" b="1" dirty="0">
                <a:latin typeface="Calibri"/>
                <a:cs typeface="Calibri"/>
              </a:rPr>
              <a:t>model</a:t>
            </a:r>
            <a:r>
              <a:rPr sz="3200" b="1" spc="-70" dirty="0">
                <a:latin typeface="Calibri"/>
                <a:cs typeface="Calibri"/>
              </a:rPr>
              <a:t> </a:t>
            </a:r>
            <a:r>
              <a:rPr sz="3200" b="1" dirty="0">
                <a:latin typeface="Calibri"/>
                <a:cs typeface="Calibri"/>
              </a:rPr>
              <a:t>with</a:t>
            </a:r>
            <a:r>
              <a:rPr sz="3200" b="1" spc="-100" dirty="0">
                <a:latin typeface="Calibri"/>
                <a:cs typeface="Calibri"/>
              </a:rPr>
              <a:t> </a:t>
            </a:r>
            <a:r>
              <a:rPr sz="3200" b="1" dirty="0" smtClean="0">
                <a:latin typeface="Calibri"/>
                <a:cs typeface="Calibri"/>
              </a:rPr>
              <a:t>for</a:t>
            </a:r>
            <a:r>
              <a:rPr sz="3200" b="1" spc="-50" dirty="0" smtClean="0">
                <a:latin typeface="Calibri"/>
                <a:cs typeface="Calibri"/>
              </a:rPr>
              <a:t> </a:t>
            </a:r>
            <a:r>
              <a:rPr sz="3200" b="1" spc="-10" dirty="0">
                <a:latin typeface="Calibri"/>
                <a:cs typeface="Calibri"/>
              </a:rPr>
              <a:t>efficient</a:t>
            </a:r>
            <a:r>
              <a:rPr sz="3200" b="1" spc="-30" dirty="0">
                <a:latin typeface="Calibri"/>
                <a:cs typeface="Calibri"/>
              </a:rPr>
              <a:t> </a:t>
            </a:r>
            <a:r>
              <a:rPr sz="3200" b="1" spc="-10" dirty="0">
                <a:latin typeface="Calibri"/>
                <a:cs typeface="Calibri"/>
              </a:rPr>
              <a:t>relationships</a:t>
            </a:r>
            <a:r>
              <a:rPr sz="3200" b="1" spc="-45" dirty="0">
                <a:latin typeface="Calibri"/>
                <a:cs typeface="Calibri"/>
              </a:rPr>
              <a:t> </a:t>
            </a:r>
            <a:r>
              <a:rPr sz="3200" b="1" spc="-25" dirty="0">
                <a:latin typeface="Calibri"/>
                <a:cs typeface="Calibri"/>
              </a:rPr>
              <a:t>and </a:t>
            </a:r>
            <a:r>
              <a:rPr sz="3200" b="1" spc="-10" dirty="0">
                <a:latin typeface="Calibri"/>
                <a:cs typeface="Calibri"/>
              </a:rPr>
              <a:t>accurate</a:t>
            </a:r>
            <a:r>
              <a:rPr sz="3200" b="1" spc="-60" dirty="0">
                <a:latin typeface="Calibri"/>
                <a:cs typeface="Calibri"/>
              </a:rPr>
              <a:t> </a:t>
            </a:r>
            <a:r>
              <a:rPr sz="3200" b="1" spc="-10" dirty="0" smtClean="0">
                <a:latin typeface="Calibri"/>
                <a:cs typeface="Calibri"/>
              </a:rPr>
              <a:t>analysis</a:t>
            </a:r>
            <a:r>
              <a:rPr sz="3200" b="1" spc="-10" dirty="0">
                <a:latin typeface="Calibri"/>
                <a:cs typeface="Calibri"/>
              </a:rPr>
              <a:t>.</a:t>
            </a:r>
            <a:endParaRPr sz="3200" dirty="0">
              <a:latin typeface="Calibri"/>
              <a:cs typeface="Calibri"/>
            </a:endParaRPr>
          </a:p>
          <a:p>
            <a:pPr marL="325755" indent="-313055">
              <a:lnSpc>
                <a:spcPct val="100000"/>
              </a:lnSpc>
              <a:spcBef>
                <a:spcPts val="450"/>
              </a:spcBef>
              <a:buFont typeface="Arial MT"/>
              <a:buChar char="•"/>
              <a:tabLst>
                <a:tab pos="325755" algn="l"/>
              </a:tabLst>
            </a:pPr>
            <a:r>
              <a:rPr sz="3200" b="1" dirty="0">
                <a:latin typeface="Calibri"/>
                <a:cs typeface="Calibri"/>
              </a:rPr>
              <a:t>Created</a:t>
            </a:r>
            <a:r>
              <a:rPr sz="3200" b="1" spc="-80" dirty="0">
                <a:latin typeface="Calibri"/>
                <a:cs typeface="Calibri"/>
              </a:rPr>
              <a:t> </a:t>
            </a:r>
            <a:r>
              <a:rPr sz="3200" b="1" dirty="0">
                <a:latin typeface="Calibri"/>
                <a:cs typeface="Calibri"/>
              </a:rPr>
              <a:t>DAX</a:t>
            </a:r>
            <a:r>
              <a:rPr sz="3200" b="1" spc="-55" dirty="0">
                <a:latin typeface="Calibri"/>
                <a:cs typeface="Calibri"/>
              </a:rPr>
              <a:t> </a:t>
            </a:r>
            <a:r>
              <a:rPr sz="3200" b="1" spc="-10" dirty="0">
                <a:latin typeface="Calibri"/>
                <a:cs typeface="Calibri"/>
              </a:rPr>
              <a:t>measures</a:t>
            </a:r>
            <a:r>
              <a:rPr sz="3200" b="1" spc="-145" dirty="0">
                <a:latin typeface="Calibri"/>
                <a:cs typeface="Calibri"/>
              </a:rPr>
              <a:t> </a:t>
            </a:r>
            <a:r>
              <a:rPr sz="3200" b="1" dirty="0">
                <a:latin typeface="Calibri"/>
                <a:cs typeface="Calibri"/>
              </a:rPr>
              <a:t>for</a:t>
            </a:r>
            <a:r>
              <a:rPr sz="3200" b="1" spc="-90" dirty="0">
                <a:latin typeface="Calibri"/>
                <a:cs typeface="Calibri"/>
              </a:rPr>
              <a:t> </a:t>
            </a:r>
            <a:r>
              <a:rPr sz="3200" b="1" dirty="0">
                <a:latin typeface="Calibri"/>
                <a:cs typeface="Calibri"/>
              </a:rPr>
              <a:t>key</a:t>
            </a:r>
            <a:r>
              <a:rPr sz="3200" b="1" spc="-155" dirty="0">
                <a:latin typeface="Calibri"/>
                <a:cs typeface="Calibri"/>
              </a:rPr>
              <a:t> </a:t>
            </a:r>
            <a:r>
              <a:rPr sz="3200" b="1" spc="-10" dirty="0">
                <a:latin typeface="Calibri"/>
                <a:cs typeface="Calibri"/>
              </a:rPr>
              <a:t>performance</a:t>
            </a:r>
            <a:r>
              <a:rPr sz="3200" b="1" spc="-114" dirty="0">
                <a:latin typeface="Calibri"/>
                <a:cs typeface="Calibri"/>
              </a:rPr>
              <a:t> </a:t>
            </a:r>
            <a:r>
              <a:rPr sz="3200" b="1" dirty="0">
                <a:latin typeface="Calibri"/>
                <a:cs typeface="Calibri"/>
              </a:rPr>
              <a:t>indicators —</a:t>
            </a:r>
            <a:r>
              <a:rPr sz="3200" b="1" spc="-105" dirty="0">
                <a:latin typeface="Calibri"/>
                <a:cs typeface="Calibri"/>
              </a:rPr>
              <a:t> </a:t>
            </a:r>
            <a:r>
              <a:rPr sz="3200" b="1" spc="-10" dirty="0" smtClean="0">
                <a:latin typeface="Calibri"/>
                <a:cs typeface="Calibri"/>
              </a:rPr>
              <a:t>Operating</a:t>
            </a:r>
            <a:endParaRPr sz="3200" dirty="0">
              <a:latin typeface="Calibri"/>
              <a:cs typeface="Calibri"/>
            </a:endParaRPr>
          </a:p>
          <a:p>
            <a:pPr marL="325755">
              <a:lnSpc>
                <a:spcPct val="100000"/>
              </a:lnSpc>
              <a:spcBef>
                <a:spcPts val="740"/>
              </a:spcBef>
            </a:pPr>
            <a:r>
              <a:rPr sz="3200" b="1" dirty="0">
                <a:latin typeface="Calibri"/>
                <a:cs typeface="Calibri"/>
              </a:rPr>
              <a:t>Income,</a:t>
            </a:r>
            <a:r>
              <a:rPr sz="3200" b="1" spc="-45" dirty="0">
                <a:latin typeface="Calibri"/>
                <a:cs typeface="Calibri"/>
              </a:rPr>
              <a:t> </a:t>
            </a:r>
            <a:r>
              <a:rPr sz="3200" b="1" dirty="0">
                <a:latin typeface="Calibri"/>
                <a:cs typeface="Calibri"/>
              </a:rPr>
              <a:t>Free</a:t>
            </a:r>
            <a:r>
              <a:rPr sz="3200" b="1" spc="-25" dirty="0">
                <a:latin typeface="Calibri"/>
                <a:cs typeface="Calibri"/>
              </a:rPr>
              <a:t> </a:t>
            </a:r>
            <a:r>
              <a:rPr sz="3200" b="1" dirty="0">
                <a:latin typeface="Calibri"/>
                <a:cs typeface="Calibri"/>
              </a:rPr>
              <a:t>Cash</a:t>
            </a:r>
            <a:r>
              <a:rPr sz="3200" b="1" spc="-40" dirty="0">
                <a:latin typeface="Calibri"/>
                <a:cs typeface="Calibri"/>
              </a:rPr>
              <a:t> </a:t>
            </a:r>
            <a:r>
              <a:rPr sz="3200" b="1" spc="-45" dirty="0">
                <a:latin typeface="Calibri"/>
                <a:cs typeface="Calibri"/>
              </a:rPr>
              <a:t>Flow,</a:t>
            </a:r>
            <a:r>
              <a:rPr sz="3200" b="1" spc="-110" dirty="0">
                <a:latin typeface="Calibri"/>
                <a:cs typeface="Calibri"/>
              </a:rPr>
              <a:t> </a:t>
            </a:r>
            <a:r>
              <a:rPr sz="3200" b="1" dirty="0">
                <a:latin typeface="Calibri"/>
                <a:cs typeface="Calibri"/>
              </a:rPr>
              <a:t>and</a:t>
            </a:r>
            <a:r>
              <a:rPr sz="3200" b="1" spc="-55" dirty="0">
                <a:latin typeface="Calibri"/>
                <a:cs typeface="Calibri"/>
              </a:rPr>
              <a:t> </a:t>
            </a:r>
            <a:r>
              <a:rPr sz="3200" b="1" spc="-20" dirty="0">
                <a:latin typeface="Calibri"/>
                <a:cs typeface="Calibri"/>
              </a:rPr>
              <a:t>Debt-</a:t>
            </a:r>
            <a:r>
              <a:rPr sz="3200" b="1" spc="-25" dirty="0">
                <a:latin typeface="Calibri"/>
                <a:cs typeface="Calibri"/>
              </a:rPr>
              <a:t>to-</a:t>
            </a:r>
            <a:r>
              <a:rPr sz="3200" b="1" dirty="0">
                <a:latin typeface="Calibri"/>
                <a:cs typeface="Calibri"/>
              </a:rPr>
              <a:t>Equity</a:t>
            </a:r>
            <a:r>
              <a:rPr sz="3200" b="1" spc="-55" dirty="0">
                <a:latin typeface="Calibri"/>
                <a:cs typeface="Calibri"/>
              </a:rPr>
              <a:t> </a:t>
            </a:r>
            <a:r>
              <a:rPr sz="3200" b="1" spc="-10" dirty="0">
                <a:latin typeface="Calibri"/>
                <a:cs typeface="Calibri"/>
              </a:rPr>
              <a:t>Ratio.</a:t>
            </a:r>
            <a:endParaRPr sz="3200" dirty="0">
              <a:latin typeface="Calibri"/>
              <a:cs typeface="Calibri"/>
            </a:endParaRPr>
          </a:p>
          <a:p>
            <a:pPr marL="325755" marR="658495" indent="-313690">
              <a:lnSpc>
                <a:spcPct val="119200"/>
              </a:lnSpc>
              <a:spcBef>
                <a:spcPts val="80"/>
              </a:spcBef>
              <a:buFont typeface="Arial MT"/>
              <a:buChar char="•"/>
              <a:tabLst>
                <a:tab pos="325755" algn="l"/>
              </a:tabLst>
            </a:pPr>
            <a:r>
              <a:rPr sz="3200" b="1" dirty="0">
                <a:latin typeface="Calibri"/>
                <a:cs typeface="Calibri"/>
              </a:rPr>
              <a:t>Designed</a:t>
            </a:r>
            <a:r>
              <a:rPr sz="3200" b="1" spc="-70" dirty="0">
                <a:latin typeface="Calibri"/>
                <a:cs typeface="Calibri"/>
              </a:rPr>
              <a:t> </a:t>
            </a:r>
            <a:r>
              <a:rPr sz="3200" b="1" dirty="0">
                <a:latin typeface="Calibri"/>
                <a:cs typeface="Calibri"/>
              </a:rPr>
              <a:t>5</a:t>
            </a:r>
            <a:r>
              <a:rPr sz="3200" b="1" spc="-110" dirty="0">
                <a:latin typeface="Calibri"/>
                <a:cs typeface="Calibri"/>
              </a:rPr>
              <a:t> </a:t>
            </a:r>
            <a:r>
              <a:rPr sz="3200" b="1" spc="-20" dirty="0">
                <a:latin typeface="Calibri"/>
                <a:cs typeface="Calibri"/>
              </a:rPr>
              <a:t>interactive</a:t>
            </a:r>
            <a:r>
              <a:rPr sz="3200" b="1" spc="-105" dirty="0">
                <a:latin typeface="Calibri"/>
                <a:cs typeface="Calibri"/>
              </a:rPr>
              <a:t> </a:t>
            </a:r>
            <a:r>
              <a:rPr sz="3200" b="1" dirty="0">
                <a:latin typeface="Calibri"/>
                <a:cs typeface="Calibri"/>
              </a:rPr>
              <a:t>dashboards</a:t>
            </a:r>
            <a:r>
              <a:rPr sz="3200" b="1" spc="-80" dirty="0">
                <a:latin typeface="Calibri"/>
                <a:cs typeface="Calibri"/>
              </a:rPr>
              <a:t> </a:t>
            </a:r>
            <a:r>
              <a:rPr sz="3200" b="1" dirty="0">
                <a:latin typeface="Calibri"/>
                <a:cs typeface="Calibri"/>
              </a:rPr>
              <a:t>covering</a:t>
            </a:r>
            <a:r>
              <a:rPr sz="3200" b="1" spc="-100" dirty="0">
                <a:latin typeface="Calibri"/>
                <a:cs typeface="Calibri"/>
              </a:rPr>
              <a:t> </a:t>
            </a:r>
            <a:r>
              <a:rPr sz="3200" b="1" spc="-10" dirty="0">
                <a:latin typeface="Calibri"/>
                <a:cs typeface="Calibri"/>
              </a:rPr>
              <a:t>overall</a:t>
            </a:r>
            <a:r>
              <a:rPr sz="3200" b="1" spc="-100" dirty="0">
                <a:latin typeface="Calibri"/>
                <a:cs typeface="Calibri"/>
              </a:rPr>
              <a:t> </a:t>
            </a:r>
            <a:r>
              <a:rPr sz="3200" b="1" spc="-10" dirty="0">
                <a:latin typeface="Calibri"/>
                <a:cs typeface="Calibri"/>
              </a:rPr>
              <a:t>performance,</a:t>
            </a:r>
            <a:r>
              <a:rPr sz="3200" b="1" spc="-65" dirty="0">
                <a:latin typeface="Calibri"/>
                <a:cs typeface="Calibri"/>
              </a:rPr>
              <a:t> </a:t>
            </a:r>
            <a:r>
              <a:rPr sz="3200" b="1" spc="-25" dirty="0">
                <a:latin typeface="Calibri"/>
                <a:cs typeface="Calibri"/>
              </a:rPr>
              <a:t>profitability,</a:t>
            </a:r>
            <a:r>
              <a:rPr sz="3200" b="1" spc="-125" dirty="0">
                <a:latin typeface="Calibri"/>
                <a:cs typeface="Calibri"/>
              </a:rPr>
              <a:t> </a:t>
            </a:r>
            <a:r>
              <a:rPr sz="3200" b="1" spc="-10" dirty="0">
                <a:latin typeface="Calibri"/>
                <a:cs typeface="Calibri"/>
              </a:rPr>
              <a:t>financial </a:t>
            </a:r>
            <a:r>
              <a:rPr sz="3200" b="1" dirty="0">
                <a:latin typeface="Calibri"/>
                <a:cs typeface="Calibri"/>
              </a:rPr>
              <a:t>structure,</a:t>
            </a:r>
            <a:r>
              <a:rPr sz="3200" b="1" spc="-70" dirty="0">
                <a:latin typeface="Calibri"/>
                <a:cs typeface="Calibri"/>
              </a:rPr>
              <a:t> </a:t>
            </a:r>
            <a:r>
              <a:rPr sz="3200" b="1" spc="-20" dirty="0">
                <a:latin typeface="Calibri"/>
                <a:cs typeface="Calibri"/>
              </a:rPr>
              <a:t>liquidity,</a:t>
            </a:r>
            <a:r>
              <a:rPr sz="3200" b="1" spc="-135" dirty="0">
                <a:latin typeface="Calibri"/>
                <a:cs typeface="Calibri"/>
              </a:rPr>
              <a:t> </a:t>
            </a:r>
            <a:r>
              <a:rPr sz="3200" b="1" dirty="0">
                <a:latin typeface="Calibri"/>
                <a:cs typeface="Calibri"/>
              </a:rPr>
              <a:t>and</a:t>
            </a:r>
            <a:r>
              <a:rPr sz="3200" b="1" spc="-80" dirty="0">
                <a:latin typeface="Calibri"/>
                <a:cs typeface="Calibri"/>
              </a:rPr>
              <a:t> </a:t>
            </a:r>
            <a:r>
              <a:rPr sz="3200" b="1" spc="-10" dirty="0">
                <a:latin typeface="Calibri"/>
                <a:cs typeface="Calibri"/>
              </a:rPr>
              <a:t>comparative</a:t>
            </a:r>
            <a:r>
              <a:rPr sz="3200" b="1" spc="-105" dirty="0">
                <a:latin typeface="Calibri"/>
                <a:cs typeface="Calibri"/>
              </a:rPr>
              <a:t> </a:t>
            </a:r>
            <a:r>
              <a:rPr sz="3200" b="1" spc="-10" dirty="0">
                <a:latin typeface="Calibri"/>
                <a:cs typeface="Calibri"/>
              </a:rPr>
              <a:t>analysis.</a:t>
            </a:r>
            <a:endParaRPr sz="3200" dirty="0">
              <a:latin typeface="Calibri"/>
              <a:cs typeface="Calibri"/>
            </a:endParaRPr>
          </a:p>
          <a:p>
            <a:pPr marL="325755" marR="5080" indent="-313690">
              <a:lnSpc>
                <a:spcPct val="107700"/>
              </a:lnSpc>
              <a:spcBef>
                <a:spcPts val="5"/>
              </a:spcBef>
              <a:buFont typeface="Arial MT"/>
              <a:buChar char="•"/>
              <a:tabLst>
                <a:tab pos="325755" algn="l"/>
              </a:tabLst>
            </a:pPr>
            <a:r>
              <a:rPr sz="3600" b="1" dirty="0">
                <a:latin typeface="Calibri"/>
                <a:cs typeface="Calibri"/>
              </a:rPr>
              <a:t>Enabled</a:t>
            </a:r>
            <a:r>
              <a:rPr sz="3600" b="1" spc="-160" dirty="0">
                <a:latin typeface="Calibri"/>
                <a:cs typeface="Calibri"/>
              </a:rPr>
              <a:t> </a:t>
            </a:r>
            <a:r>
              <a:rPr sz="3600" b="1" spc="-10" dirty="0">
                <a:latin typeface="Calibri"/>
                <a:cs typeface="Calibri"/>
              </a:rPr>
              <a:t>decision-</a:t>
            </a:r>
            <a:r>
              <a:rPr sz="3600" b="1" dirty="0">
                <a:latin typeface="Calibri"/>
                <a:cs typeface="Calibri"/>
              </a:rPr>
              <a:t>makers</a:t>
            </a:r>
            <a:r>
              <a:rPr sz="3600" b="1" spc="-114" dirty="0">
                <a:latin typeface="Calibri"/>
                <a:cs typeface="Calibri"/>
              </a:rPr>
              <a:t> </a:t>
            </a:r>
            <a:r>
              <a:rPr sz="3600" b="1" dirty="0">
                <a:latin typeface="Calibri"/>
                <a:cs typeface="Calibri"/>
              </a:rPr>
              <a:t>to</a:t>
            </a:r>
            <a:r>
              <a:rPr sz="3600" b="1" spc="-95" dirty="0">
                <a:latin typeface="Calibri"/>
                <a:cs typeface="Calibri"/>
              </a:rPr>
              <a:t> </a:t>
            </a:r>
            <a:r>
              <a:rPr sz="3600" b="1" dirty="0">
                <a:latin typeface="Calibri"/>
                <a:cs typeface="Calibri"/>
              </a:rPr>
              <a:t>identify</a:t>
            </a:r>
            <a:r>
              <a:rPr sz="3600" b="1" spc="-155" dirty="0">
                <a:latin typeface="Calibri"/>
                <a:cs typeface="Calibri"/>
              </a:rPr>
              <a:t> </a:t>
            </a:r>
            <a:r>
              <a:rPr sz="3600" b="1" dirty="0">
                <a:latin typeface="Calibri"/>
                <a:cs typeface="Calibri"/>
              </a:rPr>
              <a:t>high-performing</a:t>
            </a:r>
            <a:r>
              <a:rPr sz="3600" b="1" spc="-90" dirty="0">
                <a:latin typeface="Calibri"/>
                <a:cs typeface="Calibri"/>
              </a:rPr>
              <a:t> </a:t>
            </a:r>
            <a:r>
              <a:rPr sz="3600" b="1" dirty="0">
                <a:latin typeface="Calibri"/>
                <a:cs typeface="Calibri"/>
              </a:rPr>
              <a:t>companies,</a:t>
            </a:r>
            <a:r>
              <a:rPr sz="3600" b="1" spc="-135" dirty="0">
                <a:latin typeface="Calibri"/>
                <a:cs typeface="Calibri"/>
              </a:rPr>
              <a:t> </a:t>
            </a:r>
            <a:r>
              <a:rPr sz="3600" b="1" dirty="0">
                <a:latin typeface="Calibri"/>
                <a:cs typeface="Calibri"/>
              </a:rPr>
              <a:t>analyze</a:t>
            </a:r>
            <a:r>
              <a:rPr sz="3600" b="1" spc="-120" dirty="0">
                <a:latin typeface="Calibri"/>
                <a:cs typeface="Calibri"/>
              </a:rPr>
              <a:t> </a:t>
            </a:r>
            <a:r>
              <a:rPr sz="3600" b="1" spc="-10" dirty="0">
                <a:latin typeface="Calibri"/>
                <a:cs typeface="Calibri"/>
              </a:rPr>
              <a:t>growth </a:t>
            </a:r>
            <a:r>
              <a:rPr sz="3600" b="1" dirty="0">
                <a:latin typeface="Calibri"/>
                <a:cs typeface="Calibri"/>
              </a:rPr>
              <a:t>trends,</a:t>
            </a:r>
            <a:r>
              <a:rPr sz="3600" b="1" spc="-114" dirty="0">
                <a:latin typeface="Calibri"/>
                <a:cs typeface="Calibri"/>
              </a:rPr>
              <a:t> </a:t>
            </a:r>
            <a:r>
              <a:rPr sz="3600" b="1" dirty="0">
                <a:latin typeface="Calibri"/>
                <a:cs typeface="Calibri"/>
              </a:rPr>
              <a:t>and</a:t>
            </a:r>
            <a:r>
              <a:rPr sz="3600" b="1" spc="-135" dirty="0">
                <a:latin typeface="Calibri"/>
                <a:cs typeface="Calibri"/>
              </a:rPr>
              <a:t> </a:t>
            </a:r>
            <a:r>
              <a:rPr sz="3600" b="1" dirty="0">
                <a:latin typeface="Calibri"/>
                <a:cs typeface="Calibri"/>
              </a:rPr>
              <a:t>assess</a:t>
            </a:r>
            <a:r>
              <a:rPr sz="3600" b="1" spc="-95" dirty="0">
                <a:latin typeface="Calibri"/>
                <a:cs typeface="Calibri"/>
              </a:rPr>
              <a:t> </a:t>
            </a:r>
            <a:r>
              <a:rPr sz="3600" b="1" dirty="0">
                <a:latin typeface="Calibri"/>
                <a:cs typeface="Calibri"/>
              </a:rPr>
              <a:t>financial</a:t>
            </a:r>
            <a:r>
              <a:rPr sz="3600" b="1" spc="-140" dirty="0">
                <a:latin typeface="Calibri"/>
                <a:cs typeface="Calibri"/>
              </a:rPr>
              <a:t> </a:t>
            </a:r>
            <a:r>
              <a:rPr sz="3600" b="1" dirty="0">
                <a:latin typeface="Calibri"/>
                <a:cs typeface="Calibri"/>
              </a:rPr>
              <a:t>stability</a:t>
            </a:r>
            <a:r>
              <a:rPr sz="3600" b="1" spc="-130" dirty="0">
                <a:latin typeface="Calibri"/>
                <a:cs typeface="Calibri"/>
              </a:rPr>
              <a:t> </a:t>
            </a:r>
            <a:r>
              <a:rPr sz="3600" b="1" dirty="0">
                <a:latin typeface="Calibri"/>
                <a:cs typeface="Calibri"/>
              </a:rPr>
              <a:t>across</a:t>
            </a:r>
            <a:r>
              <a:rPr sz="3600" b="1" spc="-105" dirty="0">
                <a:latin typeface="Calibri"/>
                <a:cs typeface="Calibri"/>
              </a:rPr>
              <a:t> </a:t>
            </a:r>
            <a:r>
              <a:rPr sz="3600" b="1" spc="-10" dirty="0">
                <a:latin typeface="Calibri"/>
                <a:cs typeface="Calibri"/>
              </a:rPr>
              <a:t>industries.</a:t>
            </a:r>
            <a:endParaRPr sz="3600" dirty="0">
              <a:latin typeface="Calibri"/>
              <a:cs typeface="Calibri"/>
            </a:endParaRPr>
          </a:p>
        </p:txBody>
      </p:sp>
      <p:sp>
        <p:nvSpPr>
          <p:cNvPr id="4" name="object 4"/>
          <p:cNvSpPr/>
          <p:nvPr/>
        </p:nvSpPr>
        <p:spPr>
          <a:xfrm>
            <a:off x="1041500" y="642358"/>
            <a:ext cx="1546860" cy="1543050"/>
          </a:xfrm>
          <a:custGeom>
            <a:avLst/>
            <a:gdLst/>
            <a:ahLst/>
            <a:cxnLst/>
            <a:rect l="l" t="t" r="r" b="b"/>
            <a:pathLst>
              <a:path w="1546860" h="1543050">
                <a:moveTo>
                  <a:pt x="972261" y="511043"/>
                </a:moveTo>
                <a:lnTo>
                  <a:pt x="936795" y="518216"/>
                </a:lnTo>
                <a:lnTo>
                  <a:pt x="907796" y="537772"/>
                </a:lnTo>
                <a:lnTo>
                  <a:pt x="888224" y="566764"/>
                </a:lnTo>
                <a:lnTo>
                  <a:pt x="881043" y="602246"/>
                </a:lnTo>
                <a:lnTo>
                  <a:pt x="881043" y="1450678"/>
                </a:lnTo>
                <a:lnTo>
                  <a:pt x="888206" y="1486154"/>
                </a:lnTo>
                <a:lnTo>
                  <a:pt x="907747" y="1515126"/>
                </a:lnTo>
                <a:lnTo>
                  <a:pt x="936741" y="1534660"/>
                </a:lnTo>
                <a:lnTo>
                  <a:pt x="972261" y="1541823"/>
                </a:lnTo>
                <a:lnTo>
                  <a:pt x="972261" y="1542536"/>
                </a:lnTo>
                <a:lnTo>
                  <a:pt x="1007781" y="1535382"/>
                </a:lnTo>
                <a:lnTo>
                  <a:pt x="1036775" y="1515864"/>
                </a:lnTo>
                <a:lnTo>
                  <a:pt x="1056316" y="1486895"/>
                </a:lnTo>
                <a:lnTo>
                  <a:pt x="1063480" y="1451391"/>
                </a:lnTo>
                <a:lnTo>
                  <a:pt x="1063479" y="602246"/>
                </a:lnTo>
                <a:lnTo>
                  <a:pt x="1056303" y="566764"/>
                </a:lnTo>
                <a:lnTo>
                  <a:pt x="1036743" y="537772"/>
                </a:lnTo>
                <a:lnTo>
                  <a:pt x="1007740" y="518216"/>
                </a:lnTo>
                <a:lnTo>
                  <a:pt x="972261" y="511043"/>
                </a:lnTo>
                <a:close/>
              </a:path>
              <a:path w="1546860" h="1543050">
                <a:moveTo>
                  <a:pt x="678589" y="611983"/>
                </a:moveTo>
                <a:lnTo>
                  <a:pt x="643110" y="619146"/>
                </a:lnTo>
                <a:lnTo>
                  <a:pt x="614108" y="638680"/>
                </a:lnTo>
                <a:lnTo>
                  <a:pt x="594547" y="667650"/>
                </a:lnTo>
                <a:lnTo>
                  <a:pt x="587371" y="703122"/>
                </a:lnTo>
                <a:lnTo>
                  <a:pt x="587371" y="1349622"/>
                </a:lnTo>
                <a:lnTo>
                  <a:pt x="594535" y="1385098"/>
                </a:lnTo>
                <a:lnTo>
                  <a:pt x="614076" y="1414070"/>
                </a:lnTo>
                <a:lnTo>
                  <a:pt x="643069" y="1433604"/>
                </a:lnTo>
                <a:lnTo>
                  <a:pt x="678564" y="1440762"/>
                </a:lnTo>
                <a:lnTo>
                  <a:pt x="677976" y="1440762"/>
                </a:lnTo>
                <a:lnTo>
                  <a:pt x="713516" y="1433604"/>
                </a:lnTo>
                <a:lnTo>
                  <a:pt x="713932" y="1433604"/>
                </a:lnTo>
                <a:lnTo>
                  <a:pt x="742948" y="1414070"/>
                </a:lnTo>
                <a:lnTo>
                  <a:pt x="767425" y="1361300"/>
                </a:lnTo>
                <a:lnTo>
                  <a:pt x="769808" y="703122"/>
                </a:lnTo>
                <a:lnTo>
                  <a:pt x="762626" y="667650"/>
                </a:lnTo>
                <a:lnTo>
                  <a:pt x="743055" y="638680"/>
                </a:lnTo>
                <a:lnTo>
                  <a:pt x="714055" y="619146"/>
                </a:lnTo>
                <a:lnTo>
                  <a:pt x="678589" y="611983"/>
                </a:lnTo>
                <a:close/>
              </a:path>
              <a:path w="1546860" h="1543050">
                <a:moveTo>
                  <a:pt x="1154762" y="1247724"/>
                </a:moveTo>
                <a:lnTo>
                  <a:pt x="1154762" y="1321249"/>
                </a:lnTo>
                <a:lnTo>
                  <a:pt x="1427676" y="1403065"/>
                </a:lnTo>
                <a:lnTo>
                  <a:pt x="1460360" y="1408052"/>
                </a:lnTo>
                <a:lnTo>
                  <a:pt x="1492625" y="1403065"/>
                </a:lnTo>
                <a:lnTo>
                  <a:pt x="1519733" y="1386623"/>
                </a:lnTo>
                <a:lnTo>
                  <a:pt x="1538586" y="1361301"/>
                </a:lnTo>
                <a:lnTo>
                  <a:pt x="1544573" y="1337378"/>
                </a:lnTo>
                <a:lnTo>
                  <a:pt x="1456822" y="1337378"/>
                </a:lnTo>
                <a:lnTo>
                  <a:pt x="1452592" y="1336694"/>
                </a:lnTo>
                <a:lnTo>
                  <a:pt x="1448595" y="1335370"/>
                </a:lnTo>
                <a:lnTo>
                  <a:pt x="1154762" y="1247724"/>
                </a:lnTo>
                <a:close/>
              </a:path>
              <a:path w="1546860" h="1543050">
                <a:moveTo>
                  <a:pt x="384918" y="708745"/>
                </a:moveTo>
                <a:lnTo>
                  <a:pt x="349367" y="715909"/>
                </a:lnTo>
                <a:lnTo>
                  <a:pt x="320366" y="735447"/>
                </a:lnTo>
                <a:lnTo>
                  <a:pt x="300837" y="764426"/>
                </a:lnTo>
                <a:lnTo>
                  <a:pt x="293680" y="799916"/>
                </a:lnTo>
                <a:lnTo>
                  <a:pt x="293680" y="1253360"/>
                </a:lnTo>
                <a:lnTo>
                  <a:pt x="320418" y="1317832"/>
                </a:lnTo>
                <a:lnTo>
                  <a:pt x="384918" y="1344506"/>
                </a:lnTo>
                <a:lnTo>
                  <a:pt x="420289" y="1337378"/>
                </a:lnTo>
                <a:lnTo>
                  <a:pt x="421399" y="1336693"/>
                </a:lnTo>
                <a:lnTo>
                  <a:pt x="449439" y="1317832"/>
                </a:lnTo>
                <a:lnTo>
                  <a:pt x="469018" y="1288863"/>
                </a:lnTo>
                <a:lnTo>
                  <a:pt x="476201" y="1253360"/>
                </a:lnTo>
                <a:lnTo>
                  <a:pt x="476201" y="799916"/>
                </a:lnTo>
                <a:lnTo>
                  <a:pt x="469027" y="764426"/>
                </a:lnTo>
                <a:lnTo>
                  <a:pt x="449464" y="735447"/>
                </a:lnTo>
                <a:lnTo>
                  <a:pt x="420448" y="715909"/>
                </a:lnTo>
                <a:lnTo>
                  <a:pt x="384918" y="708745"/>
                </a:lnTo>
                <a:close/>
              </a:path>
              <a:path w="1546860" h="1543050">
                <a:moveTo>
                  <a:pt x="396105" y="70325"/>
                </a:moveTo>
                <a:lnTo>
                  <a:pt x="146464" y="70324"/>
                </a:lnTo>
                <a:lnTo>
                  <a:pt x="150670" y="70999"/>
                </a:lnTo>
                <a:lnTo>
                  <a:pt x="154702" y="72285"/>
                </a:lnTo>
                <a:lnTo>
                  <a:pt x="1428385" y="452940"/>
                </a:lnTo>
                <a:lnTo>
                  <a:pt x="1462878" y="476709"/>
                </a:lnTo>
                <a:lnTo>
                  <a:pt x="1476605" y="1337378"/>
                </a:lnTo>
                <a:lnTo>
                  <a:pt x="1544573" y="1337378"/>
                </a:lnTo>
                <a:lnTo>
                  <a:pt x="1546518" y="1329604"/>
                </a:lnTo>
                <a:lnTo>
                  <a:pt x="1546582" y="508215"/>
                </a:lnTo>
                <a:lnTo>
                  <a:pt x="1538943" y="468946"/>
                </a:lnTo>
                <a:lnTo>
                  <a:pt x="1517980" y="432795"/>
                </a:lnTo>
                <a:lnTo>
                  <a:pt x="1486628" y="403447"/>
                </a:lnTo>
                <a:lnTo>
                  <a:pt x="1448063" y="384704"/>
                </a:lnTo>
                <a:lnTo>
                  <a:pt x="396105" y="70325"/>
                </a:lnTo>
                <a:close/>
              </a:path>
              <a:path w="1546860" h="1543050">
                <a:moveTo>
                  <a:pt x="91223" y="807018"/>
                </a:moveTo>
                <a:lnTo>
                  <a:pt x="55284" y="814277"/>
                </a:lnTo>
                <a:lnTo>
                  <a:pt x="55613" y="814277"/>
                </a:lnTo>
                <a:lnTo>
                  <a:pt x="26680" y="833824"/>
                </a:lnTo>
                <a:lnTo>
                  <a:pt x="7168" y="862753"/>
                </a:lnTo>
                <a:lnTo>
                  <a:pt x="0" y="898157"/>
                </a:lnTo>
                <a:lnTo>
                  <a:pt x="13" y="1154959"/>
                </a:lnTo>
                <a:lnTo>
                  <a:pt x="7215" y="1190431"/>
                </a:lnTo>
                <a:lnTo>
                  <a:pt x="26823" y="1219403"/>
                </a:lnTo>
                <a:lnTo>
                  <a:pt x="55821" y="1238939"/>
                </a:lnTo>
                <a:lnTo>
                  <a:pt x="56044" y="1238939"/>
                </a:lnTo>
                <a:lnTo>
                  <a:pt x="91529" y="1246101"/>
                </a:lnTo>
                <a:lnTo>
                  <a:pt x="91236" y="1246101"/>
                </a:lnTo>
                <a:lnTo>
                  <a:pt x="126730" y="1238939"/>
                </a:lnTo>
                <a:lnTo>
                  <a:pt x="155749" y="1219403"/>
                </a:lnTo>
                <a:lnTo>
                  <a:pt x="175327" y="1190431"/>
                </a:lnTo>
                <a:lnTo>
                  <a:pt x="182510" y="1154959"/>
                </a:lnTo>
                <a:lnTo>
                  <a:pt x="182509" y="898157"/>
                </a:lnTo>
                <a:lnTo>
                  <a:pt x="175288" y="862753"/>
                </a:lnTo>
                <a:lnTo>
                  <a:pt x="155724" y="833824"/>
                </a:lnTo>
                <a:lnTo>
                  <a:pt x="126731" y="814277"/>
                </a:lnTo>
                <a:lnTo>
                  <a:pt x="91223" y="807018"/>
                </a:lnTo>
                <a:close/>
              </a:path>
              <a:path w="1546860" h="1543050">
                <a:moveTo>
                  <a:pt x="129961" y="0"/>
                </a:moveTo>
                <a:lnTo>
                  <a:pt x="92018" y="14202"/>
                </a:lnTo>
                <a:lnTo>
                  <a:pt x="65795" y="43379"/>
                </a:lnTo>
                <a:lnTo>
                  <a:pt x="56006" y="84079"/>
                </a:lnTo>
                <a:lnTo>
                  <a:pt x="56006" y="719382"/>
                </a:lnTo>
                <a:lnTo>
                  <a:pt x="64753" y="717859"/>
                </a:lnTo>
                <a:lnTo>
                  <a:pt x="73560" y="716763"/>
                </a:lnTo>
                <a:lnTo>
                  <a:pt x="82410" y="716102"/>
                </a:lnTo>
                <a:lnTo>
                  <a:pt x="90103" y="715909"/>
                </a:lnTo>
                <a:lnTo>
                  <a:pt x="126634" y="715909"/>
                </a:lnTo>
                <a:lnTo>
                  <a:pt x="126634" y="70324"/>
                </a:lnTo>
                <a:lnTo>
                  <a:pt x="396105" y="70325"/>
                </a:lnTo>
                <a:lnTo>
                  <a:pt x="174909" y="4220"/>
                </a:lnTo>
                <a:lnTo>
                  <a:pt x="129961" y="0"/>
                </a:lnTo>
                <a:close/>
              </a:path>
              <a:path w="1546860" h="1543050">
                <a:moveTo>
                  <a:pt x="126634" y="715909"/>
                </a:moveTo>
                <a:lnTo>
                  <a:pt x="92475" y="715909"/>
                </a:lnTo>
                <a:lnTo>
                  <a:pt x="100181" y="716102"/>
                </a:lnTo>
                <a:lnTo>
                  <a:pt x="109047" y="716763"/>
                </a:lnTo>
                <a:lnTo>
                  <a:pt x="117870" y="717859"/>
                </a:lnTo>
                <a:lnTo>
                  <a:pt x="126634" y="719382"/>
                </a:lnTo>
                <a:lnTo>
                  <a:pt x="126634" y="715909"/>
                </a:lnTo>
                <a:close/>
              </a:path>
            </a:pathLst>
          </a:custGeom>
          <a:solidFill>
            <a:srgbClr val="333333"/>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1502" rIns="0" bIns="0" rtlCol="0">
            <a:spAutoFit/>
          </a:bodyPr>
          <a:lstStyle/>
          <a:p>
            <a:pPr marL="316865">
              <a:lnSpc>
                <a:spcPct val="100000"/>
              </a:lnSpc>
              <a:spcBef>
                <a:spcPts val="105"/>
              </a:spcBef>
            </a:pPr>
            <a:r>
              <a:rPr dirty="0"/>
              <a:t>Data</a:t>
            </a:r>
            <a:r>
              <a:rPr spc="-229" dirty="0"/>
              <a:t> </a:t>
            </a:r>
            <a:r>
              <a:rPr lang="en-US" spc="-10" dirty="0" smtClean="0"/>
              <a:t>Overview</a:t>
            </a:r>
            <a:endParaRPr spc="-10" dirty="0"/>
          </a:p>
        </p:txBody>
      </p:sp>
      <p:sp>
        <p:nvSpPr>
          <p:cNvPr id="3" name="object 3"/>
          <p:cNvSpPr txBox="1"/>
          <p:nvPr/>
        </p:nvSpPr>
        <p:spPr>
          <a:xfrm>
            <a:off x="2102866" y="2386647"/>
            <a:ext cx="14182090" cy="6022975"/>
          </a:xfrm>
          <a:prstGeom prst="rect">
            <a:avLst/>
          </a:prstGeom>
        </p:spPr>
        <p:txBody>
          <a:bodyPr vert="horz" wrap="square" lIns="0" tIns="165100" rIns="0" bIns="0" rtlCol="0">
            <a:spAutoFit/>
          </a:bodyPr>
          <a:lstStyle/>
          <a:p>
            <a:pPr marL="314960" indent="-302260">
              <a:lnSpc>
                <a:spcPct val="100000"/>
              </a:lnSpc>
              <a:spcBef>
                <a:spcPts val="1300"/>
              </a:spcBef>
              <a:buFont typeface="Arial MT"/>
              <a:buChar char="•"/>
              <a:tabLst>
                <a:tab pos="314960" algn="l"/>
              </a:tabLst>
            </a:pPr>
            <a:r>
              <a:rPr sz="2750" b="1" dirty="0">
                <a:latin typeface="Times New Roman"/>
                <a:cs typeface="Times New Roman"/>
              </a:rPr>
              <a:t>Dataset</a:t>
            </a:r>
            <a:r>
              <a:rPr sz="2750" b="1" spc="110" dirty="0">
                <a:latin typeface="Times New Roman"/>
                <a:cs typeface="Times New Roman"/>
              </a:rPr>
              <a:t> </a:t>
            </a:r>
            <a:r>
              <a:rPr sz="2750" b="1" dirty="0">
                <a:latin typeface="Times New Roman"/>
                <a:cs typeface="Times New Roman"/>
              </a:rPr>
              <a:t>Name:</a:t>
            </a:r>
            <a:r>
              <a:rPr sz="2750" b="1" spc="130" dirty="0">
                <a:latin typeface="Times New Roman"/>
                <a:cs typeface="Times New Roman"/>
              </a:rPr>
              <a:t> </a:t>
            </a:r>
            <a:r>
              <a:rPr sz="2750" dirty="0">
                <a:latin typeface="Calibri"/>
                <a:cs typeface="Calibri"/>
              </a:rPr>
              <a:t>Financial</a:t>
            </a:r>
            <a:r>
              <a:rPr sz="2750" spc="85" dirty="0">
                <a:latin typeface="Calibri"/>
                <a:cs typeface="Calibri"/>
              </a:rPr>
              <a:t> </a:t>
            </a:r>
            <a:r>
              <a:rPr sz="2750" dirty="0">
                <a:latin typeface="Calibri"/>
                <a:cs typeface="Calibri"/>
              </a:rPr>
              <a:t>Statement</a:t>
            </a:r>
            <a:r>
              <a:rPr sz="2750" spc="95" dirty="0">
                <a:latin typeface="Calibri"/>
                <a:cs typeface="Calibri"/>
              </a:rPr>
              <a:t> </a:t>
            </a:r>
            <a:r>
              <a:rPr sz="2750" spc="-10" dirty="0">
                <a:latin typeface="Calibri"/>
                <a:cs typeface="Calibri"/>
              </a:rPr>
              <a:t>Dataset</a:t>
            </a:r>
            <a:endParaRPr sz="2750" dirty="0">
              <a:latin typeface="Calibri"/>
              <a:cs typeface="Calibri"/>
            </a:endParaRPr>
          </a:p>
          <a:p>
            <a:pPr marL="314960" indent="-302260">
              <a:lnSpc>
                <a:spcPct val="100000"/>
              </a:lnSpc>
              <a:spcBef>
                <a:spcPts val="1205"/>
              </a:spcBef>
              <a:buFont typeface="Arial MT"/>
              <a:buChar char="•"/>
              <a:tabLst>
                <a:tab pos="314960" algn="l"/>
              </a:tabLst>
            </a:pPr>
            <a:r>
              <a:rPr lang="en-US" sz="2750" b="1" dirty="0" smtClean="0">
                <a:latin typeface="Times New Roman"/>
                <a:cs typeface="Times New Roman"/>
              </a:rPr>
              <a:t>Time Frame :2012 -2020</a:t>
            </a:r>
            <a:endParaRPr sz="2750" dirty="0">
              <a:latin typeface="Times New Roman"/>
              <a:cs typeface="Times New Roman"/>
            </a:endParaRPr>
          </a:p>
          <a:p>
            <a:pPr marL="314960" indent="-302260">
              <a:lnSpc>
                <a:spcPct val="100000"/>
              </a:lnSpc>
              <a:spcBef>
                <a:spcPts val="1200"/>
              </a:spcBef>
              <a:buFont typeface="Arial MT"/>
              <a:buChar char="•"/>
              <a:tabLst>
                <a:tab pos="314960" algn="l"/>
              </a:tabLst>
            </a:pPr>
            <a:r>
              <a:rPr sz="2750" b="1" dirty="0">
                <a:latin typeface="Times New Roman"/>
                <a:cs typeface="Times New Roman"/>
              </a:rPr>
              <a:t>File</a:t>
            </a:r>
            <a:r>
              <a:rPr sz="2750" b="1" spc="-70" dirty="0">
                <a:latin typeface="Times New Roman"/>
                <a:cs typeface="Times New Roman"/>
              </a:rPr>
              <a:t> </a:t>
            </a:r>
            <a:r>
              <a:rPr sz="2750" b="1" dirty="0">
                <a:latin typeface="Times New Roman"/>
                <a:cs typeface="Times New Roman"/>
              </a:rPr>
              <a:t>Type:</a:t>
            </a:r>
            <a:r>
              <a:rPr sz="2750" b="1" spc="10" dirty="0">
                <a:latin typeface="Times New Roman"/>
                <a:cs typeface="Times New Roman"/>
              </a:rPr>
              <a:t> </a:t>
            </a:r>
            <a:r>
              <a:rPr sz="2750" b="1" dirty="0">
                <a:latin typeface="Times New Roman"/>
                <a:cs typeface="Times New Roman"/>
              </a:rPr>
              <a:t>Excel</a:t>
            </a:r>
            <a:r>
              <a:rPr sz="2750" b="1" spc="10" dirty="0">
                <a:latin typeface="Times New Roman"/>
                <a:cs typeface="Times New Roman"/>
              </a:rPr>
              <a:t> </a:t>
            </a:r>
            <a:r>
              <a:rPr sz="2750" b="1" spc="-20" dirty="0">
                <a:latin typeface="Times New Roman"/>
                <a:cs typeface="Times New Roman"/>
              </a:rPr>
              <a:t>file</a:t>
            </a:r>
            <a:endParaRPr sz="2750" dirty="0">
              <a:latin typeface="Times New Roman"/>
              <a:cs typeface="Times New Roman"/>
            </a:endParaRPr>
          </a:p>
          <a:p>
            <a:pPr marL="395605" indent="-382905">
              <a:lnSpc>
                <a:spcPct val="100000"/>
              </a:lnSpc>
              <a:spcBef>
                <a:spcPts val="1205"/>
              </a:spcBef>
              <a:buFont typeface="Arial MT"/>
              <a:buChar char="•"/>
              <a:tabLst>
                <a:tab pos="395605" algn="l"/>
              </a:tabLst>
            </a:pPr>
            <a:r>
              <a:rPr sz="2750" b="1" dirty="0">
                <a:latin typeface="Calibri"/>
                <a:cs typeface="Calibri"/>
              </a:rPr>
              <a:t>Number</a:t>
            </a:r>
            <a:r>
              <a:rPr sz="2750" b="1" spc="45" dirty="0">
                <a:latin typeface="Calibri"/>
                <a:cs typeface="Calibri"/>
              </a:rPr>
              <a:t> </a:t>
            </a:r>
            <a:r>
              <a:rPr sz="2750" b="1" dirty="0">
                <a:latin typeface="Calibri"/>
                <a:cs typeface="Calibri"/>
              </a:rPr>
              <a:t>of</a:t>
            </a:r>
            <a:r>
              <a:rPr sz="2750" b="1" spc="20" dirty="0">
                <a:latin typeface="Calibri"/>
                <a:cs typeface="Calibri"/>
              </a:rPr>
              <a:t> </a:t>
            </a:r>
            <a:r>
              <a:rPr sz="2750" b="1" dirty="0">
                <a:latin typeface="Calibri"/>
                <a:cs typeface="Calibri"/>
              </a:rPr>
              <a:t>Datasets:</a:t>
            </a:r>
            <a:r>
              <a:rPr sz="2750" b="1" spc="90" dirty="0">
                <a:latin typeface="Calibri"/>
                <a:cs typeface="Calibri"/>
              </a:rPr>
              <a:t> </a:t>
            </a:r>
            <a:r>
              <a:rPr sz="2750" dirty="0">
                <a:latin typeface="Calibri"/>
                <a:cs typeface="Calibri"/>
              </a:rPr>
              <a:t>6</a:t>
            </a:r>
            <a:r>
              <a:rPr sz="2750" spc="80" dirty="0">
                <a:latin typeface="Calibri"/>
                <a:cs typeface="Calibri"/>
              </a:rPr>
              <a:t> </a:t>
            </a:r>
            <a:r>
              <a:rPr sz="2750" dirty="0">
                <a:latin typeface="Calibri"/>
                <a:cs typeface="Calibri"/>
              </a:rPr>
              <a:t>individual</a:t>
            </a:r>
            <a:r>
              <a:rPr sz="2750" spc="30" dirty="0">
                <a:latin typeface="Calibri"/>
                <a:cs typeface="Calibri"/>
              </a:rPr>
              <a:t> </a:t>
            </a:r>
            <a:r>
              <a:rPr sz="2750" spc="-10" dirty="0">
                <a:latin typeface="Calibri"/>
                <a:cs typeface="Calibri"/>
              </a:rPr>
              <a:t>files</a:t>
            </a:r>
            <a:endParaRPr sz="2750" dirty="0">
              <a:latin typeface="Calibri"/>
              <a:cs typeface="Calibri"/>
            </a:endParaRPr>
          </a:p>
          <a:p>
            <a:pPr marL="453390" lvl="1" indent="-286385">
              <a:lnSpc>
                <a:spcPct val="100000"/>
              </a:lnSpc>
              <a:spcBef>
                <a:spcPts val="455"/>
              </a:spcBef>
              <a:buFont typeface="Arial MT"/>
              <a:buChar char="•"/>
              <a:tabLst>
                <a:tab pos="453390" algn="l"/>
              </a:tabLst>
            </a:pPr>
            <a:r>
              <a:rPr sz="2750" spc="-10" dirty="0">
                <a:latin typeface="Calibri"/>
                <a:cs typeface="Calibri"/>
              </a:rPr>
              <a:t>incomeStatementHistory_annually.csv</a:t>
            </a:r>
            <a:endParaRPr sz="2750" dirty="0">
              <a:latin typeface="Calibri"/>
              <a:cs typeface="Calibri"/>
            </a:endParaRPr>
          </a:p>
          <a:p>
            <a:pPr marL="453390" lvl="1" indent="-286385">
              <a:lnSpc>
                <a:spcPct val="100000"/>
              </a:lnSpc>
              <a:spcBef>
                <a:spcPts val="80"/>
              </a:spcBef>
              <a:buFont typeface="Arial MT"/>
              <a:buChar char="•"/>
              <a:tabLst>
                <a:tab pos="453390" algn="l"/>
              </a:tabLst>
            </a:pPr>
            <a:r>
              <a:rPr sz="2750" spc="-10" dirty="0">
                <a:latin typeface="Calibri"/>
                <a:cs typeface="Calibri"/>
              </a:rPr>
              <a:t>incomeStatementHistory_quarterly.csv</a:t>
            </a:r>
            <a:endParaRPr sz="2750" dirty="0">
              <a:latin typeface="Calibri"/>
              <a:cs typeface="Calibri"/>
            </a:endParaRPr>
          </a:p>
          <a:p>
            <a:pPr marL="453390" lvl="1" indent="-286385">
              <a:lnSpc>
                <a:spcPct val="100000"/>
              </a:lnSpc>
              <a:spcBef>
                <a:spcPts val="75"/>
              </a:spcBef>
              <a:buFont typeface="Arial MT"/>
              <a:buChar char="•"/>
              <a:tabLst>
                <a:tab pos="453390" algn="l"/>
              </a:tabLst>
            </a:pPr>
            <a:r>
              <a:rPr sz="2750" spc="-10" dirty="0">
                <a:latin typeface="Calibri"/>
                <a:cs typeface="Calibri"/>
              </a:rPr>
              <a:t>balanceSheetHistory_annually.csv</a:t>
            </a:r>
            <a:endParaRPr sz="2750" dirty="0">
              <a:latin typeface="Calibri"/>
              <a:cs typeface="Calibri"/>
            </a:endParaRPr>
          </a:p>
          <a:p>
            <a:pPr marL="453390" lvl="1" indent="-286385">
              <a:lnSpc>
                <a:spcPct val="100000"/>
              </a:lnSpc>
              <a:spcBef>
                <a:spcPts val="5"/>
              </a:spcBef>
              <a:buFont typeface="Arial MT"/>
              <a:buChar char="•"/>
              <a:tabLst>
                <a:tab pos="453390" algn="l"/>
              </a:tabLst>
            </a:pPr>
            <a:r>
              <a:rPr sz="2750" spc="-10" dirty="0">
                <a:latin typeface="Calibri"/>
                <a:cs typeface="Calibri"/>
              </a:rPr>
              <a:t>balanceSheetHistory_quarterly.csv</a:t>
            </a:r>
            <a:endParaRPr sz="2750" dirty="0">
              <a:latin typeface="Calibri"/>
              <a:cs typeface="Calibri"/>
            </a:endParaRPr>
          </a:p>
          <a:p>
            <a:pPr marL="453390" lvl="1" indent="-286385">
              <a:lnSpc>
                <a:spcPct val="100000"/>
              </a:lnSpc>
              <a:spcBef>
                <a:spcPts val="80"/>
              </a:spcBef>
              <a:buFont typeface="Arial MT"/>
              <a:buChar char="•"/>
              <a:tabLst>
                <a:tab pos="453390" algn="l"/>
              </a:tabLst>
            </a:pPr>
            <a:r>
              <a:rPr sz="2750" spc="-10" dirty="0">
                <a:latin typeface="Calibri"/>
                <a:cs typeface="Calibri"/>
              </a:rPr>
              <a:t>cashflowStatement_annually.csv</a:t>
            </a:r>
            <a:endParaRPr sz="2750" dirty="0">
              <a:latin typeface="Calibri"/>
              <a:cs typeface="Calibri"/>
            </a:endParaRPr>
          </a:p>
          <a:p>
            <a:pPr marL="453390" lvl="1" indent="-286385">
              <a:lnSpc>
                <a:spcPct val="100000"/>
              </a:lnSpc>
              <a:spcBef>
                <a:spcPts val="75"/>
              </a:spcBef>
              <a:buFont typeface="Arial MT"/>
              <a:buChar char="•"/>
              <a:tabLst>
                <a:tab pos="453390" algn="l"/>
              </a:tabLst>
            </a:pPr>
            <a:r>
              <a:rPr sz="2750" spc="-10" dirty="0">
                <a:latin typeface="Calibri"/>
                <a:cs typeface="Calibri"/>
              </a:rPr>
              <a:t>cashflowStatement_quarterly.csv</a:t>
            </a:r>
            <a:endParaRPr sz="2750" dirty="0">
              <a:latin typeface="Calibri"/>
              <a:cs typeface="Calibri"/>
            </a:endParaRPr>
          </a:p>
          <a:p>
            <a:pPr marL="314960" indent="-302260">
              <a:lnSpc>
                <a:spcPct val="100000"/>
              </a:lnSpc>
              <a:spcBef>
                <a:spcPts val="830"/>
              </a:spcBef>
              <a:buFont typeface="Arial MT"/>
              <a:buChar char="•"/>
              <a:tabLst>
                <a:tab pos="314960" algn="l"/>
              </a:tabLst>
            </a:pPr>
            <a:r>
              <a:rPr sz="2750" b="1" spc="-10" dirty="0">
                <a:latin typeface="Calibri"/>
                <a:cs typeface="Calibri"/>
              </a:rPr>
              <a:t>Total</a:t>
            </a:r>
            <a:r>
              <a:rPr sz="2750" b="1" spc="40" dirty="0">
                <a:latin typeface="Calibri"/>
                <a:cs typeface="Calibri"/>
              </a:rPr>
              <a:t> </a:t>
            </a:r>
            <a:r>
              <a:rPr sz="2750" b="1" dirty="0">
                <a:latin typeface="Calibri"/>
                <a:cs typeface="Calibri"/>
              </a:rPr>
              <a:t>Records:</a:t>
            </a:r>
            <a:r>
              <a:rPr sz="2750" b="1" spc="5" dirty="0">
                <a:latin typeface="Calibri"/>
                <a:cs typeface="Calibri"/>
              </a:rPr>
              <a:t> </a:t>
            </a:r>
            <a:r>
              <a:rPr sz="2750" dirty="0">
                <a:latin typeface="Calibri"/>
                <a:cs typeface="Calibri"/>
              </a:rPr>
              <a:t>~10,000</a:t>
            </a:r>
            <a:r>
              <a:rPr sz="2750" spc="65" dirty="0">
                <a:latin typeface="Calibri"/>
                <a:cs typeface="Calibri"/>
              </a:rPr>
              <a:t> </a:t>
            </a:r>
            <a:r>
              <a:rPr sz="2750" dirty="0">
                <a:latin typeface="Calibri"/>
                <a:cs typeface="Calibri"/>
              </a:rPr>
              <a:t>financial</a:t>
            </a:r>
            <a:r>
              <a:rPr sz="2750" spc="10" dirty="0">
                <a:latin typeface="Calibri"/>
                <a:cs typeface="Calibri"/>
              </a:rPr>
              <a:t> </a:t>
            </a:r>
            <a:r>
              <a:rPr sz="2750" dirty="0">
                <a:latin typeface="Calibri"/>
                <a:cs typeface="Calibri"/>
              </a:rPr>
              <a:t>records</a:t>
            </a:r>
            <a:r>
              <a:rPr sz="2750" spc="10" dirty="0">
                <a:latin typeface="Calibri"/>
                <a:cs typeface="Calibri"/>
              </a:rPr>
              <a:t> </a:t>
            </a:r>
            <a:r>
              <a:rPr sz="2750" spc="-10" dirty="0">
                <a:latin typeface="Calibri"/>
                <a:cs typeface="Calibri"/>
              </a:rPr>
              <a:t>(combined)</a:t>
            </a:r>
            <a:endParaRPr sz="2750" dirty="0">
              <a:latin typeface="Calibri"/>
              <a:cs typeface="Calibri"/>
            </a:endParaRPr>
          </a:p>
          <a:p>
            <a:pPr marL="314960" indent="-302260">
              <a:lnSpc>
                <a:spcPct val="100000"/>
              </a:lnSpc>
              <a:spcBef>
                <a:spcPts val="1205"/>
              </a:spcBef>
              <a:buFont typeface="Arial MT"/>
              <a:buChar char="•"/>
              <a:tabLst>
                <a:tab pos="314960" algn="l"/>
              </a:tabLst>
            </a:pPr>
            <a:r>
              <a:rPr sz="2750" b="1" spc="-20" dirty="0">
                <a:latin typeface="Calibri"/>
                <a:cs typeface="Calibri"/>
              </a:rPr>
              <a:t>Total</a:t>
            </a:r>
            <a:r>
              <a:rPr sz="2750" b="1" spc="80" dirty="0">
                <a:latin typeface="Calibri"/>
                <a:cs typeface="Calibri"/>
              </a:rPr>
              <a:t> </a:t>
            </a:r>
            <a:r>
              <a:rPr sz="2750" b="1" dirty="0">
                <a:latin typeface="Calibri"/>
                <a:cs typeface="Calibri"/>
              </a:rPr>
              <a:t>Columns:</a:t>
            </a:r>
            <a:r>
              <a:rPr sz="2750" b="1" spc="100" dirty="0">
                <a:latin typeface="Calibri"/>
                <a:cs typeface="Calibri"/>
              </a:rPr>
              <a:t> </a:t>
            </a:r>
            <a:r>
              <a:rPr sz="2750" dirty="0">
                <a:latin typeface="Calibri"/>
                <a:cs typeface="Calibri"/>
              </a:rPr>
              <a:t>20–30</a:t>
            </a:r>
            <a:r>
              <a:rPr sz="2750" spc="105" dirty="0">
                <a:latin typeface="Calibri"/>
                <a:cs typeface="Calibri"/>
              </a:rPr>
              <a:t> </a:t>
            </a:r>
            <a:r>
              <a:rPr sz="2750" dirty="0">
                <a:latin typeface="Calibri"/>
                <a:cs typeface="Calibri"/>
              </a:rPr>
              <a:t>per</a:t>
            </a:r>
            <a:r>
              <a:rPr sz="2750" spc="20" dirty="0">
                <a:latin typeface="Calibri"/>
                <a:cs typeface="Calibri"/>
              </a:rPr>
              <a:t> </a:t>
            </a:r>
            <a:r>
              <a:rPr sz="2750" dirty="0">
                <a:latin typeface="Calibri"/>
                <a:cs typeface="Calibri"/>
              </a:rPr>
              <a:t>file</a:t>
            </a:r>
            <a:r>
              <a:rPr sz="2750" spc="55" dirty="0">
                <a:latin typeface="Calibri"/>
                <a:cs typeface="Calibri"/>
              </a:rPr>
              <a:t> </a:t>
            </a:r>
            <a:r>
              <a:rPr sz="2750" dirty="0">
                <a:latin typeface="Calibri"/>
                <a:cs typeface="Calibri"/>
              </a:rPr>
              <a:t>(covering</a:t>
            </a:r>
            <a:r>
              <a:rPr sz="2750" spc="55" dirty="0">
                <a:latin typeface="Calibri"/>
                <a:cs typeface="Calibri"/>
              </a:rPr>
              <a:t> </a:t>
            </a:r>
            <a:r>
              <a:rPr sz="2750" dirty="0">
                <a:latin typeface="Calibri"/>
                <a:cs typeface="Calibri"/>
              </a:rPr>
              <a:t>Revenue,</a:t>
            </a:r>
            <a:r>
              <a:rPr sz="2750" spc="70" dirty="0">
                <a:latin typeface="Calibri"/>
                <a:cs typeface="Calibri"/>
              </a:rPr>
              <a:t> </a:t>
            </a:r>
            <a:r>
              <a:rPr sz="2750" dirty="0">
                <a:latin typeface="Calibri"/>
                <a:cs typeface="Calibri"/>
              </a:rPr>
              <a:t>Net</a:t>
            </a:r>
            <a:r>
              <a:rPr sz="2750" spc="55" dirty="0">
                <a:latin typeface="Calibri"/>
                <a:cs typeface="Calibri"/>
              </a:rPr>
              <a:t> </a:t>
            </a:r>
            <a:r>
              <a:rPr sz="2750" dirty="0">
                <a:latin typeface="Calibri"/>
                <a:cs typeface="Calibri"/>
              </a:rPr>
              <a:t>Income,</a:t>
            </a:r>
            <a:r>
              <a:rPr sz="2750" spc="-5" dirty="0">
                <a:latin typeface="Calibri"/>
                <a:cs typeface="Calibri"/>
              </a:rPr>
              <a:t> </a:t>
            </a:r>
            <a:r>
              <a:rPr sz="2750" dirty="0">
                <a:latin typeface="Calibri"/>
                <a:cs typeface="Calibri"/>
              </a:rPr>
              <a:t>Assets,</a:t>
            </a:r>
            <a:r>
              <a:rPr sz="2750" spc="70" dirty="0">
                <a:latin typeface="Calibri"/>
                <a:cs typeface="Calibri"/>
              </a:rPr>
              <a:t> </a:t>
            </a:r>
            <a:r>
              <a:rPr sz="2750" dirty="0">
                <a:latin typeface="Calibri"/>
                <a:cs typeface="Calibri"/>
              </a:rPr>
              <a:t>Liabilities,</a:t>
            </a:r>
            <a:r>
              <a:rPr sz="2750" spc="65" dirty="0">
                <a:latin typeface="Calibri"/>
                <a:cs typeface="Calibri"/>
              </a:rPr>
              <a:t> </a:t>
            </a:r>
            <a:r>
              <a:rPr sz="2750" dirty="0">
                <a:latin typeface="Calibri"/>
                <a:cs typeface="Calibri"/>
              </a:rPr>
              <a:t>Cash</a:t>
            </a:r>
            <a:r>
              <a:rPr sz="2750" spc="55" dirty="0">
                <a:latin typeface="Calibri"/>
                <a:cs typeface="Calibri"/>
              </a:rPr>
              <a:t> </a:t>
            </a:r>
            <a:r>
              <a:rPr sz="2750" dirty="0">
                <a:latin typeface="Calibri"/>
                <a:cs typeface="Calibri"/>
              </a:rPr>
              <a:t>Flow,</a:t>
            </a:r>
            <a:r>
              <a:rPr sz="2750" spc="65" dirty="0">
                <a:latin typeface="Calibri"/>
                <a:cs typeface="Calibri"/>
              </a:rPr>
              <a:t> </a:t>
            </a:r>
            <a:r>
              <a:rPr sz="2750" spc="-20" dirty="0">
                <a:latin typeface="Calibri"/>
                <a:cs typeface="Calibri"/>
              </a:rPr>
              <a:t>etc.)</a:t>
            </a:r>
            <a:endParaRPr sz="2750" dirty="0">
              <a:latin typeface="Calibri"/>
              <a:cs typeface="Calibri"/>
            </a:endParaRPr>
          </a:p>
        </p:txBody>
      </p:sp>
      <p:sp>
        <p:nvSpPr>
          <p:cNvPr id="4" name="object 4"/>
          <p:cNvSpPr/>
          <p:nvPr/>
        </p:nvSpPr>
        <p:spPr>
          <a:xfrm>
            <a:off x="1041500" y="642358"/>
            <a:ext cx="1546860" cy="1543050"/>
          </a:xfrm>
          <a:custGeom>
            <a:avLst/>
            <a:gdLst/>
            <a:ahLst/>
            <a:cxnLst/>
            <a:rect l="l" t="t" r="r" b="b"/>
            <a:pathLst>
              <a:path w="1546860" h="1543050">
                <a:moveTo>
                  <a:pt x="972261" y="511043"/>
                </a:moveTo>
                <a:lnTo>
                  <a:pt x="936795" y="518216"/>
                </a:lnTo>
                <a:lnTo>
                  <a:pt x="907796" y="537772"/>
                </a:lnTo>
                <a:lnTo>
                  <a:pt x="888224" y="566764"/>
                </a:lnTo>
                <a:lnTo>
                  <a:pt x="881043" y="602246"/>
                </a:lnTo>
                <a:lnTo>
                  <a:pt x="881043" y="1450678"/>
                </a:lnTo>
                <a:lnTo>
                  <a:pt x="888206" y="1486154"/>
                </a:lnTo>
                <a:lnTo>
                  <a:pt x="907747" y="1515126"/>
                </a:lnTo>
                <a:lnTo>
                  <a:pt x="936741" y="1534660"/>
                </a:lnTo>
                <a:lnTo>
                  <a:pt x="972261" y="1541823"/>
                </a:lnTo>
                <a:lnTo>
                  <a:pt x="972261" y="1542536"/>
                </a:lnTo>
                <a:lnTo>
                  <a:pt x="1007781" y="1535382"/>
                </a:lnTo>
                <a:lnTo>
                  <a:pt x="1036775" y="1515864"/>
                </a:lnTo>
                <a:lnTo>
                  <a:pt x="1056316" y="1486895"/>
                </a:lnTo>
                <a:lnTo>
                  <a:pt x="1063480" y="1451391"/>
                </a:lnTo>
                <a:lnTo>
                  <a:pt x="1063479" y="602246"/>
                </a:lnTo>
                <a:lnTo>
                  <a:pt x="1056303" y="566764"/>
                </a:lnTo>
                <a:lnTo>
                  <a:pt x="1036743" y="537772"/>
                </a:lnTo>
                <a:lnTo>
                  <a:pt x="1007740" y="518216"/>
                </a:lnTo>
                <a:lnTo>
                  <a:pt x="972261" y="511043"/>
                </a:lnTo>
                <a:close/>
              </a:path>
              <a:path w="1546860" h="1543050">
                <a:moveTo>
                  <a:pt x="678589" y="611983"/>
                </a:moveTo>
                <a:lnTo>
                  <a:pt x="643110" y="619146"/>
                </a:lnTo>
                <a:lnTo>
                  <a:pt x="614108" y="638680"/>
                </a:lnTo>
                <a:lnTo>
                  <a:pt x="594547" y="667650"/>
                </a:lnTo>
                <a:lnTo>
                  <a:pt x="587371" y="703122"/>
                </a:lnTo>
                <a:lnTo>
                  <a:pt x="587371" y="1349622"/>
                </a:lnTo>
                <a:lnTo>
                  <a:pt x="594535" y="1385098"/>
                </a:lnTo>
                <a:lnTo>
                  <a:pt x="614076" y="1414070"/>
                </a:lnTo>
                <a:lnTo>
                  <a:pt x="643069" y="1433604"/>
                </a:lnTo>
                <a:lnTo>
                  <a:pt x="678564" y="1440762"/>
                </a:lnTo>
                <a:lnTo>
                  <a:pt x="677976" y="1440762"/>
                </a:lnTo>
                <a:lnTo>
                  <a:pt x="713516" y="1433604"/>
                </a:lnTo>
                <a:lnTo>
                  <a:pt x="713932" y="1433604"/>
                </a:lnTo>
                <a:lnTo>
                  <a:pt x="742948" y="1414070"/>
                </a:lnTo>
                <a:lnTo>
                  <a:pt x="767425" y="1361300"/>
                </a:lnTo>
                <a:lnTo>
                  <a:pt x="769808" y="703122"/>
                </a:lnTo>
                <a:lnTo>
                  <a:pt x="762626" y="667650"/>
                </a:lnTo>
                <a:lnTo>
                  <a:pt x="743055" y="638680"/>
                </a:lnTo>
                <a:lnTo>
                  <a:pt x="714055" y="619146"/>
                </a:lnTo>
                <a:lnTo>
                  <a:pt x="678589" y="611983"/>
                </a:lnTo>
                <a:close/>
              </a:path>
              <a:path w="1546860" h="1543050">
                <a:moveTo>
                  <a:pt x="1154762" y="1247724"/>
                </a:moveTo>
                <a:lnTo>
                  <a:pt x="1154762" y="1321249"/>
                </a:lnTo>
                <a:lnTo>
                  <a:pt x="1427676" y="1403065"/>
                </a:lnTo>
                <a:lnTo>
                  <a:pt x="1460360" y="1408052"/>
                </a:lnTo>
                <a:lnTo>
                  <a:pt x="1492625" y="1403065"/>
                </a:lnTo>
                <a:lnTo>
                  <a:pt x="1519733" y="1386623"/>
                </a:lnTo>
                <a:lnTo>
                  <a:pt x="1538586" y="1361301"/>
                </a:lnTo>
                <a:lnTo>
                  <a:pt x="1544573" y="1337378"/>
                </a:lnTo>
                <a:lnTo>
                  <a:pt x="1456822" y="1337378"/>
                </a:lnTo>
                <a:lnTo>
                  <a:pt x="1452592" y="1336694"/>
                </a:lnTo>
                <a:lnTo>
                  <a:pt x="1448595" y="1335370"/>
                </a:lnTo>
                <a:lnTo>
                  <a:pt x="1154762" y="1247724"/>
                </a:lnTo>
                <a:close/>
              </a:path>
              <a:path w="1546860" h="1543050">
                <a:moveTo>
                  <a:pt x="384918" y="708745"/>
                </a:moveTo>
                <a:lnTo>
                  <a:pt x="349367" y="715909"/>
                </a:lnTo>
                <a:lnTo>
                  <a:pt x="320366" y="735447"/>
                </a:lnTo>
                <a:lnTo>
                  <a:pt x="300837" y="764426"/>
                </a:lnTo>
                <a:lnTo>
                  <a:pt x="293680" y="799916"/>
                </a:lnTo>
                <a:lnTo>
                  <a:pt x="293680" y="1253360"/>
                </a:lnTo>
                <a:lnTo>
                  <a:pt x="320418" y="1317832"/>
                </a:lnTo>
                <a:lnTo>
                  <a:pt x="384918" y="1344506"/>
                </a:lnTo>
                <a:lnTo>
                  <a:pt x="420289" y="1337378"/>
                </a:lnTo>
                <a:lnTo>
                  <a:pt x="421399" y="1336693"/>
                </a:lnTo>
                <a:lnTo>
                  <a:pt x="449439" y="1317832"/>
                </a:lnTo>
                <a:lnTo>
                  <a:pt x="469018" y="1288863"/>
                </a:lnTo>
                <a:lnTo>
                  <a:pt x="476201" y="1253360"/>
                </a:lnTo>
                <a:lnTo>
                  <a:pt x="476201" y="799916"/>
                </a:lnTo>
                <a:lnTo>
                  <a:pt x="469027" y="764426"/>
                </a:lnTo>
                <a:lnTo>
                  <a:pt x="449464" y="735447"/>
                </a:lnTo>
                <a:lnTo>
                  <a:pt x="420448" y="715909"/>
                </a:lnTo>
                <a:lnTo>
                  <a:pt x="384918" y="708745"/>
                </a:lnTo>
                <a:close/>
              </a:path>
              <a:path w="1546860" h="1543050">
                <a:moveTo>
                  <a:pt x="396105" y="70325"/>
                </a:moveTo>
                <a:lnTo>
                  <a:pt x="146464" y="70324"/>
                </a:lnTo>
                <a:lnTo>
                  <a:pt x="150670" y="70999"/>
                </a:lnTo>
                <a:lnTo>
                  <a:pt x="154702" y="72285"/>
                </a:lnTo>
                <a:lnTo>
                  <a:pt x="1428385" y="452940"/>
                </a:lnTo>
                <a:lnTo>
                  <a:pt x="1462878" y="476709"/>
                </a:lnTo>
                <a:lnTo>
                  <a:pt x="1476605" y="1337378"/>
                </a:lnTo>
                <a:lnTo>
                  <a:pt x="1544573" y="1337378"/>
                </a:lnTo>
                <a:lnTo>
                  <a:pt x="1546518" y="1329604"/>
                </a:lnTo>
                <a:lnTo>
                  <a:pt x="1546582" y="508215"/>
                </a:lnTo>
                <a:lnTo>
                  <a:pt x="1538943" y="468946"/>
                </a:lnTo>
                <a:lnTo>
                  <a:pt x="1517980" y="432795"/>
                </a:lnTo>
                <a:lnTo>
                  <a:pt x="1486628" y="403447"/>
                </a:lnTo>
                <a:lnTo>
                  <a:pt x="1448063" y="384704"/>
                </a:lnTo>
                <a:lnTo>
                  <a:pt x="396105" y="70325"/>
                </a:lnTo>
                <a:close/>
              </a:path>
              <a:path w="1546860" h="1543050">
                <a:moveTo>
                  <a:pt x="91223" y="807018"/>
                </a:moveTo>
                <a:lnTo>
                  <a:pt x="55284" y="814277"/>
                </a:lnTo>
                <a:lnTo>
                  <a:pt x="55613" y="814277"/>
                </a:lnTo>
                <a:lnTo>
                  <a:pt x="26680" y="833824"/>
                </a:lnTo>
                <a:lnTo>
                  <a:pt x="7168" y="862753"/>
                </a:lnTo>
                <a:lnTo>
                  <a:pt x="0" y="898157"/>
                </a:lnTo>
                <a:lnTo>
                  <a:pt x="13" y="1154959"/>
                </a:lnTo>
                <a:lnTo>
                  <a:pt x="7215" y="1190431"/>
                </a:lnTo>
                <a:lnTo>
                  <a:pt x="26823" y="1219403"/>
                </a:lnTo>
                <a:lnTo>
                  <a:pt x="55821" y="1238939"/>
                </a:lnTo>
                <a:lnTo>
                  <a:pt x="56044" y="1238939"/>
                </a:lnTo>
                <a:lnTo>
                  <a:pt x="91529" y="1246101"/>
                </a:lnTo>
                <a:lnTo>
                  <a:pt x="91236" y="1246101"/>
                </a:lnTo>
                <a:lnTo>
                  <a:pt x="126730" y="1238939"/>
                </a:lnTo>
                <a:lnTo>
                  <a:pt x="155749" y="1219403"/>
                </a:lnTo>
                <a:lnTo>
                  <a:pt x="175327" y="1190431"/>
                </a:lnTo>
                <a:lnTo>
                  <a:pt x="182510" y="1154959"/>
                </a:lnTo>
                <a:lnTo>
                  <a:pt x="182509" y="898157"/>
                </a:lnTo>
                <a:lnTo>
                  <a:pt x="175288" y="862753"/>
                </a:lnTo>
                <a:lnTo>
                  <a:pt x="155724" y="833824"/>
                </a:lnTo>
                <a:lnTo>
                  <a:pt x="126731" y="814277"/>
                </a:lnTo>
                <a:lnTo>
                  <a:pt x="91223" y="807018"/>
                </a:lnTo>
                <a:close/>
              </a:path>
              <a:path w="1546860" h="1543050">
                <a:moveTo>
                  <a:pt x="129961" y="0"/>
                </a:moveTo>
                <a:lnTo>
                  <a:pt x="92018" y="14202"/>
                </a:lnTo>
                <a:lnTo>
                  <a:pt x="65795" y="43379"/>
                </a:lnTo>
                <a:lnTo>
                  <a:pt x="56006" y="84079"/>
                </a:lnTo>
                <a:lnTo>
                  <a:pt x="56006" y="719382"/>
                </a:lnTo>
                <a:lnTo>
                  <a:pt x="64753" y="717859"/>
                </a:lnTo>
                <a:lnTo>
                  <a:pt x="73560" y="716763"/>
                </a:lnTo>
                <a:lnTo>
                  <a:pt x="82410" y="716102"/>
                </a:lnTo>
                <a:lnTo>
                  <a:pt x="90103" y="715909"/>
                </a:lnTo>
                <a:lnTo>
                  <a:pt x="126634" y="715909"/>
                </a:lnTo>
                <a:lnTo>
                  <a:pt x="126634" y="70324"/>
                </a:lnTo>
                <a:lnTo>
                  <a:pt x="396105" y="70325"/>
                </a:lnTo>
                <a:lnTo>
                  <a:pt x="174909" y="4220"/>
                </a:lnTo>
                <a:lnTo>
                  <a:pt x="129961" y="0"/>
                </a:lnTo>
                <a:close/>
              </a:path>
              <a:path w="1546860" h="1543050">
                <a:moveTo>
                  <a:pt x="126634" y="715909"/>
                </a:moveTo>
                <a:lnTo>
                  <a:pt x="92475" y="715909"/>
                </a:lnTo>
                <a:lnTo>
                  <a:pt x="100181" y="716102"/>
                </a:lnTo>
                <a:lnTo>
                  <a:pt x="109047" y="716763"/>
                </a:lnTo>
                <a:lnTo>
                  <a:pt x="117870" y="717859"/>
                </a:lnTo>
                <a:lnTo>
                  <a:pt x="126634" y="719382"/>
                </a:lnTo>
                <a:lnTo>
                  <a:pt x="126634" y="715909"/>
                </a:lnTo>
                <a:close/>
              </a:path>
            </a:pathLst>
          </a:custGeom>
          <a:solidFill>
            <a:srgbClr val="333333"/>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1502" rIns="0" bIns="0" rtlCol="0">
            <a:spAutoFit/>
          </a:bodyPr>
          <a:lstStyle/>
          <a:p>
            <a:pPr marL="316865">
              <a:lnSpc>
                <a:spcPct val="100000"/>
              </a:lnSpc>
              <a:spcBef>
                <a:spcPts val="105"/>
              </a:spcBef>
            </a:pPr>
            <a:r>
              <a:rPr dirty="0"/>
              <a:t>Data</a:t>
            </a:r>
            <a:r>
              <a:rPr spc="-229" dirty="0"/>
              <a:t> </a:t>
            </a:r>
            <a:r>
              <a:rPr spc="-20" dirty="0"/>
              <a:t>Preparation</a:t>
            </a:r>
          </a:p>
        </p:txBody>
      </p:sp>
      <p:sp>
        <p:nvSpPr>
          <p:cNvPr id="3" name="object 3"/>
          <p:cNvSpPr txBox="1"/>
          <p:nvPr/>
        </p:nvSpPr>
        <p:spPr>
          <a:xfrm>
            <a:off x="1873504" y="2192211"/>
            <a:ext cx="15741015" cy="4579843"/>
          </a:xfrm>
          <a:prstGeom prst="rect">
            <a:avLst/>
          </a:prstGeom>
        </p:spPr>
        <p:txBody>
          <a:bodyPr vert="horz" wrap="square" lIns="0" tIns="12065" rIns="0" bIns="0" rtlCol="0">
            <a:spAutoFit/>
          </a:bodyPr>
          <a:lstStyle/>
          <a:p>
            <a:pPr marL="314960" marR="112395" indent="-302895">
              <a:lnSpc>
                <a:spcPct val="136400"/>
              </a:lnSpc>
              <a:spcBef>
                <a:spcPts val="95"/>
              </a:spcBef>
              <a:buFont typeface="Arial MT"/>
              <a:buChar char="•"/>
              <a:tabLst>
                <a:tab pos="368300" algn="l"/>
              </a:tabLst>
            </a:pPr>
            <a:r>
              <a:rPr sz="2750" b="1" dirty="0">
                <a:latin typeface="Times New Roman"/>
                <a:cs typeface="Times New Roman"/>
              </a:rPr>
              <a:t>Loaded</a:t>
            </a:r>
            <a:r>
              <a:rPr sz="2750" b="1" spc="85" dirty="0">
                <a:latin typeface="Times New Roman"/>
                <a:cs typeface="Times New Roman"/>
              </a:rPr>
              <a:t> </a:t>
            </a:r>
            <a:r>
              <a:rPr sz="2750" b="1" dirty="0">
                <a:latin typeface="Times New Roman"/>
                <a:cs typeface="Times New Roman"/>
              </a:rPr>
              <a:t>6</a:t>
            </a:r>
            <a:r>
              <a:rPr sz="2750" b="1" spc="120" dirty="0">
                <a:latin typeface="Times New Roman"/>
                <a:cs typeface="Times New Roman"/>
              </a:rPr>
              <a:t> </a:t>
            </a:r>
            <a:r>
              <a:rPr sz="2750" b="1" dirty="0">
                <a:latin typeface="Times New Roman"/>
                <a:cs typeface="Times New Roman"/>
              </a:rPr>
              <a:t>CSV</a:t>
            </a:r>
            <a:r>
              <a:rPr sz="2750" b="1" spc="60" dirty="0">
                <a:latin typeface="Times New Roman"/>
                <a:cs typeface="Times New Roman"/>
              </a:rPr>
              <a:t> </a:t>
            </a:r>
            <a:r>
              <a:rPr sz="2750" b="1" dirty="0">
                <a:latin typeface="Times New Roman"/>
                <a:cs typeface="Times New Roman"/>
              </a:rPr>
              <a:t>files</a:t>
            </a:r>
            <a:r>
              <a:rPr sz="2750" b="1" spc="90" dirty="0">
                <a:latin typeface="Times New Roman"/>
                <a:cs typeface="Times New Roman"/>
              </a:rPr>
              <a:t> </a:t>
            </a:r>
            <a:r>
              <a:rPr sz="2750" b="1" dirty="0">
                <a:latin typeface="Times New Roman"/>
                <a:cs typeface="Times New Roman"/>
              </a:rPr>
              <a:t>—</a:t>
            </a:r>
            <a:r>
              <a:rPr sz="2750" b="1" spc="130" dirty="0">
                <a:latin typeface="Times New Roman"/>
                <a:cs typeface="Times New Roman"/>
              </a:rPr>
              <a:t> </a:t>
            </a:r>
            <a:r>
              <a:rPr sz="2750" b="1" dirty="0">
                <a:latin typeface="Times New Roman"/>
                <a:cs typeface="Times New Roman"/>
              </a:rPr>
              <a:t>Income</a:t>
            </a:r>
            <a:r>
              <a:rPr sz="2750" b="1" spc="100" dirty="0">
                <a:latin typeface="Times New Roman"/>
                <a:cs typeface="Times New Roman"/>
              </a:rPr>
              <a:t> </a:t>
            </a:r>
            <a:r>
              <a:rPr sz="2750" b="1" dirty="0">
                <a:latin typeface="Times New Roman"/>
                <a:cs typeface="Times New Roman"/>
              </a:rPr>
              <a:t>Statement,</a:t>
            </a:r>
            <a:r>
              <a:rPr sz="2750" b="1" spc="135" dirty="0">
                <a:latin typeface="Times New Roman"/>
                <a:cs typeface="Times New Roman"/>
              </a:rPr>
              <a:t> </a:t>
            </a:r>
            <a:r>
              <a:rPr sz="2750" b="1" dirty="0">
                <a:latin typeface="Times New Roman"/>
                <a:cs typeface="Times New Roman"/>
              </a:rPr>
              <a:t>Balance</a:t>
            </a:r>
            <a:r>
              <a:rPr sz="2750" b="1" spc="95" dirty="0">
                <a:latin typeface="Times New Roman"/>
                <a:cs typeface="Times New Roman"/>
              </a:rPr>
              <a:t> </a:t>
            </a:r>
            <a:r>
              <a:rPr sz="2750" b="1" dirty="0">
                <a:latin typeface="Times New Roman"/>
                <a:cs typeface="Times New Roman"/>
              </a:rPr>
              <a:t>Sheet,</a:t>
            </a:r>
            <a:r>
              <a:rPr sz="2750" b="1" spc="135" dirty="0">
                <a:latin typeface="Times New Roman"/>
                <a:cs typeface="Times New Roman"/>
              </a:rPr>
              <a:t> </a:t>
            </a:r>
            <a:r>
              <a:rPr sz="2750" b="1" dirty="0">
                <a:latin typeface="Times New Roman"/>
                <a:cs typeface="Times New Roman"/>
              </a:rPr>
              <a:t>and</a:t>
            </a:r>
            <a:r>
              <a:rPr sz="2750" b="1" spc="85" dirty="0">
                <a:latin typeface="Times New Roman"/>
                <a:cs typeface="Times New Roman"/>
              </a:rPr>
              <a:t> </a:t>
            </a:r>
            <a:r>
              <a:rPr sz="2750" b="1" dirty="0">
                <a:latin typeface="Times New Roman"/>
                <a:cs typeface="Times New Roman"/>
              </a:rPr>
              <a:t>Cash</a:t>
            </a:r>
            <a:r>
              <a:rPr sz="2750" b="1" spc="140" dirty="0">
                <a:latin typeface="Times New Roman"/>
                <a:cs typeface="Times New Roman"/>
              </a:rPr>
              <a:t> </a:t>
            </a:r>
            <a:r>
              <a:rPr sz="2750" b="1" dirty="0">
                <a:latin typeface="Times New Roman"/>
                <a:cs typeface="Times New Roman"/>
              </a:rPr>
              <a:t>Flow</a:t>
            </a:r>
            <a:r>
              <a:rPr sz="2750" b="1" spc="120" dirty="0">
                <a:latin typeface="Times New Roman"/>
                <a:cs typeface="Times New Roman"/>
              </a:rPr>
              <a:t> </a:t>
            </a:r>
            <a:r>
              <a:rPr sz="2750" b="1" dirty="0">
                <a:latin typeface="Times New Roman"/>
                <a:cs typeface="Times New Roman"/>
              </a:rPr>
              <a:t>(both</a:t>
            </a:r>
            <a:r>
              <a:rPr sz="2750" b="1" spc="95" dirty="0">
                <a:latin typeface="Times New Roman"/>
                <a:cs typeface="Times New Roman"/>
              </a:rPr>
              <a:t> </a:t>
            </a:r>
            <a:r>
              <a:rPr sz="2750" b="1" dirty="0">
                <a:latin typeface="Times New Roman"/>
                <a:cs typeface="Times New Roman"/>
              </a:rPr>
              <a:t>annual</a:t>
            </a:r>
            <a:r>
              <a:rPr sz="2750" b="1" spc="110" dirty="0">
                <a:latin typeface="Times New Roman"/>
                <a:cs typeface="Times New Roman"/>
              </a:rPr>
              <a:t> </a:t>
            </a:r>
            <a:r>
              <a:rPr sz="2750" b="1" dirty="0">
                <a:latin typeface="Times New Roman"/>
                <a:cs typeface="Times New Roman"/>
              </a:rPr>
              <a:t>and</a:t>
            </a:r>
            <a:r>
              <a:rPr sz="2750" b="1" spc="85" dirty="0">
                <a:latin typeface="Times New Roman"/>
                <a:cs typeface="Times New Roman"/>
              </a:rPr>
              <a:t> </a:t>
            </a:r>
            <a:r>
              <a:rPr sz="2750" b="1" spc="-10" dirty="0">
                <a:latin typeface="Times New Roman"/>
                <a:cs typeface="Times New Roman"/>
              </a:rPr>
              <a:t>quarterly) 	</a:t>
            </a:r>
            <a:r>
              <a:rPr sz="2750" b="1" dirty="0">
                <a:latin typeface="Times New Roman"/>
                <a:cs typeface="Times New Roman"/>
              </a:rPr>
              <a:t>into</a:t>
            </a:r>
            <a:r>
              <a:rPr sz="2750" b="1" spc="85" dirty="0">
                <a:latin typeface="Times New Roman"/>
                <a:cs typeface="Times New Roman"/>
              </a:rPr>
              <a:t> </a:t>
            </a:r>
            <a:r>
              <a:rPr sz="2750" b="1" dirty="0">
                <a:latin typeface="Times New Roman"/>
                <a:cs typeface="Times New Roman"/>
              </a:rPr>
              <a:t>Power</a:t>
            </a:r>
            <a:r>
              <a:rPr sz="2750" b="1" spc="50" dirty="0">
                <a:latin typeface="Times New Roman"/>
                <a:cs typeface="Times New Roman"/>
              </a:rPr>
              <a:t> </a:t>
            </a:r>
            <a:r>
              <a:rPr sz="2750" b="1" spc="-25" dirty="0">
                <a:latin typeface="Times New Roman"/>
                <a:cs typeface="Times New Roman"/>
              </a:rPr>
              <a:t>BI.</a:t>
            </a:r>
            <a:endParaRPr sz="2750" dirty="0">
              <a:latin typeface="Times New Roman"/>
              <a:cs typeface="Times New Roman"/>
            </a:endParaRPr>
          </a:p>
          <a:p>
            <a:pPr marL="314960" marR="5080" indent="-302895">
              <a:lnSpc>
                <a:spcPct val="136500"/>
              </a:lnSpc>
              <a:buFont typeface="Arial MT"/>
              <a:buChar char="•"/>
              <a:tabLst>
                <a:tab pos="368300" algn="l"/>
              </a:tabLst>
            </a:pPr>
            <a:r>
              <a:rPr sz="2750" b="1" dirty="0" smtClean="0">
                <a:latin typeface="Times New Roman"/>
                <a:cs typeface="Times New Roman"/>
              </a:rPr>
              <a:t>R</a:t>
            </a:r>
            <a:r>
              <a:rPr lang="en-US" sz="2750" b="1" dirty="0" smtClean="0">
                <a:latin typeface="Times New Roman"/>
                <a:cs typeface="Times New Roman"/>
              </a:rPr>
              <a:t>eplaced null values with 0</a:t>
            </a:r>
            <a:r>
              <a:rPr sz="2750" b="1" spc="170" dirty="0" smtClean="0">
                <a:latin typeface="Times New Roman"/>
                <a:cs typeface="Times New Roman"/>
              </a:rPr>
              <a:t> </a:t>
            </a:r>
            <a:r>
              <a:rPr sz="2750" b="1" dirty="0" smtClean="0">
                <a:latin typeface="Times New Roman"/>
                <a:cs typeface="Times New Roman"/>
              </a:rPr>
              <a:t>and</a:t>
            </a:r>
            <a:r>
              <a:rPr lang="en-US" sz="2750" b="1" dirty="0" smtClean="0">
                <a:latin typeface="Times New Roman"/>
                <a:cs typeface="Times New Roman"/>
              </a:rPr>
              <a:t> removed </a:t>
            </a:r>
            <a:r>
              <a:rPr sz="2750" b="1" spc="110" dirty="0" smtClean="0">
                <a:latin typeface="Times New Roman"/>
                <a:cs typeface="Times New Roman"/>
              </a:rPr>
              <a:t> </a:t>
            </a:r>
            <a:r>
              <a:rPr sz="2750" b="1" dirty="0">
                <a:latin typeface="Times New Roman"/>
                <a:cs typeface="Times New Roman"/>
              </a:rPr>
              <a:t>duplicates,</a:t>
            </a:r>
            <a:r>
              <a:rPr sz="2750" b="1" spc="150" dirty="0">
                <a:latin typeface="Times New Roman"/>
                <a:cs typeface="Times New Roman"/>
              </a:rPr>
              <a:t> </a:t>
            </a:r>
            <a:r>
              <a:rPr sz="2750" b="1" dirty="0">
                <a:latin typeface="Times New Roman"/>
                <a:cs typeface="Times New Roman"/>
              </a:rPr>
              <a:t>standardized</a:t>
            </a:r>
            <a:r>
              <a:rPr sz="2750" b="1" spc="145" dirty="0">
                <a:latin typeface="Times New Roman"/>
                <a:cs typeface="Times New Roman"/>
              </a:rPr>
              <a:t> </a:t>
            </a:r>
            <a:r>
              <a:rPr sz="2750" b="1" dirty="0">
                <a:latin typeface="Times New Roman"/>
                <a:cs typeface="Times New Roman"/>
              </a:rPr>
              <a:t>date</a:t>
            </a:r>
            <a:r>
              <a:rPr sz="2750" b="1" spc="135" dirty="0">
                <a:latin typeface="Times New Roman"/>
                <a:cs typeface="Times New Roman"/>
              </a:rPr>
              <a:t> </a:t>
            </a:r>
            <a:r>
              <a:rPr sz="2750" b="1" dirty="0">
                <a:latin typeface="Times New Roman"/>
                <a:cs typeface="Times New Roman"/>
              </a:rPr>
              <a:t>formats,</a:t>
            </a:r>
            <a:r>
              <a:rPr sz="2750" b="1" spc="114" dirty="0">
                <a:latin typeface="Times New Roman"/>
                <a:cs typeface="Times New Roman"/>
              </a:rPr>
              <a:t> </a:t>
            </a:r>
            <a:r>
              <a:rPr sz="2750" b="1" dirty="0">
                <a:latin typeface="Times New Roman"/>
                <a:cs typeface="Times New Roman"/>
              </a:rPr>
              <a:t>and</a:t>
            </a:r>
            <a:r>
              <a:rPr sz="2750" b="1" spc="114" dirty="0">
                <a:latin typeface="Times New Roman"/>
                <a:cs typeface="Times New Roman"/>
              </a:rPr>
              <a:t> </a:t>
            </a:r>
            <a:r>
              <a:rPr sz="2750" b="1" dirty="0">
                <a:latin typeface="Times New Roman"/>
                <a:cs typeface="Times New Roman"/>
              </a:rPr>
              <a:t>converted</a:t>
            </a:r>
            <a:r>
              <a:rPr sz="2750" b="1" spc="140" dirty="0">
                <a:latin typeface="Times New Roman"/>
                <a:cs typeface="Times New Roman"/>
              </a:rPr>
              <a:t> </a:t>
            </a:r>
            <a:r>
              <a:rPr sz="2750" b="1" dirty="0">
                <a:latin typeface="Times New Roman"/>
                <a:cs typeface="Times New Roman"/>
              </a:rPr>
              <a:t>text</a:t>
            </a:r>
            <a:r>
              <a:rPr sz="2750" b="1" spc="110" dirty="0">
                <a:latin typeface="Times New Roman"/>
                <a:cs typeface="Times New Roman"/>
              </a:rPr>
              <a:t> </a:t>
            </a:r>
            <a:r>
              <a:rPr sz="2750" b="1" dirty="0">
                <a:latin typeface="Times New Roman"/>
                <a:cs typeface="Times New Roman"/>
              </a:rPr>
              <a:t>fields</a:t>
            </a:r>
            <a:r>
              <a:rPr sz="2750" b="1" spc="105" dirty="0">
                <a:latin typeface="Times New Roman"/>
                <a:cs typeface="Times New Roman"/>
              </a:rPr>
              <a:t> </a:t>
            </a:r>
            <a:r>
              <a:rPr sz="2750" b="1" dirty="0">
                <a:latin typeface="Times New Roman"/>
                <a:cs typeface="Times New Roman"/>
              </a:rPr>
              <a:t>into</a:t>
            </a:r>
            <a:r>
              <a:rPr sz="2750" b="1" spc="114" dirty="0">
                <a:latin typeface="Times New Roman"/>
                <a:cs typeface="Times New Roman"/>
              </a:rPr>
              <a:t> </a:t>
            </a:r>
            <a:r>
              <a:rPr sz="2750" b="1" dirty="0">
                <a:latin typeface="Times New Roman"/>
                <a:cs typeface="Times New Roman"/>
              </a:rPr>
              <a:t>numeric</a:t>
            </a:r>
            <a:r>
              <a:rPr sz="2750" b="1" spc="160" dirty="0">
                <a:latin typeface="Times New Roman"/>
                <a:cs typeface="Times New Roman"/>
              </a:rPr>
              <a:t> </a:t>
            </a:r>
            <a:r>
              <a:rPr sz="2750" b="1" spc="-20" dirty="0">
                <a:latin typeface="Times New Roman"/>
                <a:cs typeface="Times New Roman"/>
              </a:rPr>
              <a:t>data </a:t>
            </a:r>
            <a:r>
              <a:rPr sz="2750" b="1" spc="-10" dirty="0" smtClean="0">
                <a:latin typeface="Times New Roman"/>
                <a:cs typeface="Times New Roman"/>
              </a:rPr>
              <a:t>types</a:t>
            </a:r>
            <a:r>
              <a:rPr sz="2750" b="1" spc="-10" dirty="0">
                <a:latin typeface="Times New Roman"/>
                <a:cs typeface="Times New Roman"/>
              </a:rPr>
              <a:t>.</a:t>
            </a:r>
            <a:endParaRPr sz="2750" dirty="0">
              <a:latin typeface="Times New Roman"/>
              <a:cs typeface="Times New Roman"/>
            </a:endParaRPr>
          </a:p>
          <a:p>
            <a:pPr marL="314960" indent="-302260">
              <a:lnSpc>
                <a:spcPct val="100000"/>
              </a:lnSpc>
              <a:spcBef>
                <a:spcPts val="844"/>
              </a:spcBef>
              <a:buFont typeface="Arial MT"/>
              <a:buChar char="•"/>
              <a:tabLst>
                <a:tab pos="314960" algn="l"/>
              </a:tabLst>
            </a:pPr>
            <a:r>
              <a:rPr sz="2750" b="1" dirty="0" smtClean="0">
                <a:latin typeface="Times New Roman"/>
                <a:cs typeface="Times New Roman"/>
              </a:rPr>
              <a:t>Created</a:t>
            </a:r>
            <a:r>
              <a:rPr sz="2750" b="1" spc="85" dirty="0" smtClean="0">
                <a:latin typeface="Times New Roman"/>
                <a:cs typeface="Times New Roman"/>
              </a:rPr>
              <a:t> </a:t>
            </a:r>
            <a:r>
              <a:rPr sz="2750" b="1" dirty="0">
                <a:latin typeface="Times New Roman"/>
                <a:cs typeface="Times New Roman"/>
              </a:rPr>
              <a:t>new</a:t>
            </a:r>
            <a:r>
              <a:rPr sz="2750" b="1" spc="120" dirty="0">
                <a:latin typeface="Times New Roman"/>
                <a:cs typeface="Times New Roman"/>
              </a:rPr>
              <a:t> </a:t>
            </a:r>
            <a:r>
              <a:rPr sz="2750" b="1" dirty="0">
                <a:latin typeface="Times New Roman"/>
                <a:cs typeface="Times New Roman"/>
              </a:rPr>
              <a:t>calculated</a:t>
            </a:r>
            <a:r>
              <a:rPr sz="2750" b="1" spc="75" dirty="0">
                <a:latin typeface="Times New Roman"/>
                <a:cs typeface="Times New Roman"/>
              </a:rPr>
              <a:t> </a:t>
            </a:r>
            <a:r>
              <a:rPr sz="2750" b="1" dirty="0">
                <a:latin typeface="Times New Roman"/>
                <a:cs typeface="Times New Roman"/>
              </a:rPr>
              <a:t>fields</a:t>
            </a:r>
            <a:r>
              <a:rPr sz="2750" b="1" spc="40" dirty="0">
                <a:latin typeface="Times New Roman"/>
                <a:cs typeface="Times New Roman"/>
              </a:rPr>
              <a:t> </a:t>
            </a:r>
            <a:r>
              <a:rPr sz="2750" b="1" dirty="0">
                <a:latin typeface="Times New Roman"/>
                <a:cs typeface="Times New Roman"/>
              </a:rPr>
              <a:t>such</a:t>
            </a:r>
            <a:r>
              <a:rPr sz="2750" b="1" spc="70" dirty="0">
                <a:latin typeface="Times New Roman"/>
                <a:cs typeface="Times New Roman"/>
              </a:rPr>
              <a:t> </a:t>
            </a:r>
            <a:r>
              <a:rPr sz="2750" b="1" dirty="0">
                <a:latin typeface="Times New Roman"/>
                <a:cs typeface="Times New Roman"/>
              </a:rPr>
              <a:t>as</a:t>
            </a:r>
            <a:r>
              <a:rPr sz="2750" b="1" spc="50" dirty="0">
                <a:latin typeface="Times New Roman"/>
                <a:cs typeface="Times New Roman"/>
              </a:rPr>
              <a:t> </a:t>
            </a:r>
            <a:r>
              <a:rPr sz="2750" b="1" dirty="0" smtClean="0">
                <a:latin typeface="Times New Roman"/>
                <a:cs typeface="Times New Roman"/>
              </a:rPr>
              <a:t>Gross</a:t>
            </a:r>
            <a:r>
              <a:rPr lang="en-US" sz="2750" b="1" spc="70" dirty="0">
                <a:latin typeface="Times New Roman"/>
                <a:cs typeface="Times New Roman"/>
              </a:rPr>
              <a:t> </a:t>
            </a:r>
            <a:r>
              <a:rPr lang="en-US" sz="2750" b="1" spc="70" dirty="0" smtClean="0">
                <a:latin typeface="Times New Roman"/>
                <a:cs typeface="Times New Roman"/>
              </a:rPr>
              <a:t>Profit</a:t>
            </a:r>
            <a:r>
              <a:rPr sz="2750" b="1" dirty="0" smtClean="0">
                <a:latin typeface="Times New Roman"/>
                <a:cs typeface="Times New Roman"/>
              </a:rPr>
              <a:t>,</a:t>
            </a:r>
            <a:r>
              <a:rPr sz="2750" b="1" spc="75" dirty="0" smtClean="0">
                <a:latin typeface="Times New Roman"/>
                <a:cs typeface="Times New Roman"/>
              </a:rPr>
              <a:t> </a:t>
            </a:r>
            <a:r>
              <a:rPr sz="2750" b="1" dirty="0">
                <a:latin typeface="Times New Roman"/>
                <a:cs typeface="Times New Roman"/>
              </a:rPr>
              <a:t>Free</a:t>
            </a:r>
            <a:r>
              <a:rPr sz="2750" b="1" spc="90" dirty="0">
                <a:latin typeface="Times New Roman"/>
                <a:cs typeface="Times New Roman"/>
              </a:rPr>
              <a:t> </a:t>
            </a:r>
            <a:r>
              <a:rPr sz="2750" b="1" dirty="0">
                <a:latin typeface="Times New Roman"/>
                <a:cs typeface="Times New Roman"/>
              </a:rPr>
              <a:t>Cash</a:t>
            </a:r>
            <a:r>
              <a:rPr sz="2750" b="1" spc="110" dirty="0">
                <a:latin typeface="Times New Roman"/>
                <a:cs typeface="Times New Roman"/>
              </a:rPr>
              <a:t> </a:t>
            </a:r>
            <a:r>
              <a:rPr sz="2750" b="1" dirty="0">
                <a:latin typeface="Times New Roman"/>
                <a:cs typeface="Times New Roman"/>
              </a:rPr>
              <a:t>Flow,</a:t>
            </a:r>
            <a:r>
              <a:rPr sz="2750" b="1" spc="55" dirty="0">
                <a:latin typeface="Times New Roman"/>
                <a:cs typeface="Times New Roman"/>
              </a:rPr>
              <a:t> </a:t>
            </a:r>
            <a:r>
              <a:rPr sz="2750" b="1" dirty="0">
                <a:latin typeface="Times New Roman"/>
                <a:cs typeface="Times New Roman"/>
              </a:rPr>
              <a:t>and</a:t>
            </a:r>
            <a:r>
              <a:rPr sz="2750" b="1" spc="55" dirty="0">
                <a:latin typeface="Times New Roman"/>
                <a:cs typeface="Times New Roman"/>
              </a:rPr>
              <a:t> </a:t>
            </a:r>
            <a:r>
              <a:rPr sz="2750" b="1" dirty="0">
                <a:latin typeface="Times New Roman"/>
                <a:cs typeface="Times New Roman"/>
              </a:rPr>
              <a:t>Debt-to-Equity</a:t>
            </a:r>
            <a:r>
              <a:rPr sz="2750" b="1" spc="120" dirty="0">
                <a:latin typeface="Times New Roman"/>
                <a:cs typeface="Times New Roman"/>
              </a:rPr>
              <a:t> </a:t>
            </a:r>
            <a:r>
              <a:rPr sz="2750" b="1" spc="-20" dirty="0">
                <a:latin typeface="Times New Roman"/>
                <a:cs typeface="Times New Roman"/>
              </a:rPr>
              <a:t>Ratio</a:t>
            </a:r>
            <a:endParaRPr sz="2750" dirty="0">
              <a:latin typeface="Times New Roman"/>
              <a:cs typeface="Times New Roman"/>
            </a:endParaRPr>
          </a:p>
          <a:p>
            <a:pPr marL="368300">
              <a:lnSpc>
                <a:spcPct val="100000"/>
              </a:lnSpc>
              <a:spcBef>
                <a:spcPts val="1205"/>
              </a:spcBef>
            </a:pPr>
            <a:r>
              <a:rPr sz="2750" b="1" dirty="0">
                <a:latin typeface="Times New Roman"/>
                <a:cs typeface="Times New Roman"/>
              </a:rPr>
              <a:t>using</a:t>
            </a:r>
            <a:r>
              <a:rPr sz="2750" b="1" spc="114" dirty="0">
                <a:latin typeface="Times New Roman"/>
                <a:cs typeface="Times New Roman"/>
              </a:rPr>
              <a:t> </a:t>
            </a:r>
            <a:r>
              <a:rPr sz="2750" b="1" spc="-20" dirty="0">
                <a:latin typeface="Times New Roman"/>
                <a:cs typeface="Times New Roman"/>
              </a:rPr>
              <a:t>DAX.</a:t>
            </a:r>
            <a:endParaRPr sz="2750" dirty="0">
              <a:latin typeface="Times New Roman"/>
              <a:cs typeface="Times New Roman"/>
            </a:endParaRPr>
          </a:p>
          <a:p>
            <a:pPr marL="314960" indent="-302260">
              <a:lnSpc>
                <a:spcPct val="100000"/>
              </a:lnSpc>
              <a:spcBef>
                <a:spcPts val="1205"/>
              </a:spcBef>
              <a:buFont typeface="Arial MT"/>
              <a:buChar char="•"/>
              <a:tabLst>
                <a:tab pos="314960" algn="l"/>
              </a:tabLst>
            </a:pPr>
            <a:r>
              <a:rPr sz="2750" b="1" dirty="0" smtClean="0">
                <a:latin typeface="Times New Roman"/>
                <a:cs typeface="Times New Roman"/>
              </a:rPr>
              <a:t>Verified</a:t>
            </a:r>
            <a:r>
              <a:rPr sz="2750" b="1" spc="120" dirty="0" smtClean="0">
                <a:latin typeface="Times New Roman"/>
                <a:cs typeface="Times New Roman"/>
              </a:rPr>
              <a:t> </a:t>
            </a:r>
            <a:r>
              <a:rPr sz="2750" b="1" dirty="0">
                <a:latin typeface="Times New Roman"/>
                <a:cs typeface="Times New Roman"/>
              </a:rPr>
              <a:t>measure</a:t>
            </a:r>
            <a:r>
              <a:rPr sz="2750" b="1" spc="120" dirty="0">
                <a:latin typeface="Times New Roman"/>
                <a:cs typeface="Times New Roman"/>
              </a:rPr>
              <a:t> </a:t>
            </a:r>
            <a:r>
              <a:rPr sz="2750" b="1" dirty="0">
                <a:latin typeface="Times New Roman"/>
                <a:cs typeface="Times New Roman"/>
              </a:rPr>
              <a:t>accuracy</a:t>
            </a:r>
            <a:r>
              <a:rPr sz="2750" b="1" spc="114" dirty="0">
                <a:latin typeface="Times New Roman"/>
                <a:cs typeface="Times New Roman"/>
              </a:rPr>
              <a:t> </a:t>
            </a:r>
            <a:r>
              <a:rPr sz="2750" b="1" dirty="0">
                <a:latin typeface="Times New Roman"/>
                <a:cs typeface="Times New Roman"/>
              </a:rPr>
              <a:t>across</a:t>
            </a:r>
            <a:r>
              <a:rPr sz="2750" b="1" spc="100" dirty="0">
                <a:latin typeface="Times New Roman"/>
                <a:cs typeface="Times New Roman"/>
              </a:rPr>
              <a:t> </a:t>
            </a:r>
            <a:r>
              <a:rPr sz="2750" b="1" dirty="0">
                <a:latin typeface="Times New Roman"/>
                <a:cs typeface="Times New Roman"/>
              </a:rPr>
              <a:t>all</a:t>
            </a:r>
            <a:r>
              <a:rPr sz="2750" b="1" spc="75" dirty="0">
                <a:latin typeface="Times New Roman"/>
                <a:cs typeface="Times New Roman"/>
              </a:rPr>
              <a:t> </a:t>
            </a:r>
            <a:r>
              <a:rPr sz="2750" b="1" dirty="0">
                <a:latin typeface="Times New Roman"/>
                <a:cs typeface="Times New Roman"/>
              </a:rPr>
              <a:t>dashboards</a:t>
            </a:r>
            <a:r>
              <a:rPr sz="2750" b="1" spc="135" dirty="0">
                <a:latin typeface="Times New Roman"/>
                <a:cs typeface="Times New Roman"/>
              </a:rPr>
              <a:t> </a:t>
            </a:r>
            <a:r>
              <a:rPr sz="2750" b="1" dirty="0">
                <a:latin typeface="Times New Roman"/>
                <a:cs typeface="Times New Roman"/>
              </a:rPr>
              <a:t>and</a:t>
            </a:r>
            <a:r>
              <a:rPr sz="2750" b="1" spc="50" dirty="0">
                <a:latin typeface="Times New Roman"/>
                <a:cs typeface="Times New Roman"/>
              </a:rPr>
              <a:t> </a:t>
            </a:r>
            <a:r>
              <a:rPr sz="2750" b="1" dirty="0">
                <a:latin typeface="Times New Roman"/>
                <a:cs typeface="Times New Roman"/>
              </a:rPr>
              <a:t>ensured</a:t>
            </a:r>
            <a:r>
              <a:rPr sz="2750" b="1" spc="95" dirty="0">
                <a:latin typeface="Times New Roman"/>
                <a:cs typeface="Times New Roman"/>
              </a:rPr>
              <a:t> </a:t>
            </a:r>
            <a:r>
              <a:rPr sz="2750" b="1" dirty="0">
                <a:latin typeface="Times New Roman"/>
                <a:cs typeface="Times New Roman"/>
              </a:rPr>
              <a:t>consistency</a:t>
            </a:r>
            <a:r>
              <a:rPr sz="2750" b="1" spc="75" dirty="0">
                <a:latin typeface="Times New Roman"/>
                <a:cs typeface="Times New Roman"/>
              </a:rPr>
              <a:t> </a:t>
            </a:r>
            <a:r>
              <a:rPr sz="2750" b="1" dirty="0">
                <a:latin typeface="Times New Roman"/>
                <a:cs typeface="Times New Roman"/>
              </a:rPr>
              <a:t>between</a:t>
            </a:r>
            <a:r>
              <a:rPr sz="2750" b="1" spc="85" dirty="0">
                <a:latin typeface="Times New Roman"/>
                <a:cs typeface="Times New Roman"/>
              </a:rPr>
              <a:t> </a:t>
            </a:r>
            <a:r>
              <a:rPr sz="2750" b="1" dirty="0">
                <a:latin typeface="Times New Roman"/>
                <a:cs typeface="Times New Roman"/>
              </a:rPr>
              <a:t>annual</a:t>
            </a:r>
            <a:r>
              <a:rPr sz="2750" b="1" spc="65" dirty="0">
                <a:latin typeface="Times New Roman"/>
                <a:cs typeface="Times New Roman"/>
              </a:rPr>
              <a:t> </a:t>
            </a:r>
            <a:r>
              <a:rPr sz="2750" b="1" dirty="0">
                <a:latin typeface="Times New Roman"/>
                <a:cs typeface="Times New Roman"/>
              </a:rPr>
              <a:t>and</a:t>
            </a:r>
            <a:r>
              <a:rPr sz="2750" b="1" spc="55" dirty="0">
                <a:latin typeface="Times New Roman"/>
                <a:cs typeface="Times New Roman"/>
              </a:rPr>
              <a:t> </a:t>
            </a:r>
            <a:r>
              <a:rPr sz="2750" b="1" spc="-20" dirty="0">
                <a:latin typeface="Times New Roman"/>
                <a:cs typeface="Times New Roman"/>
              </a:rPr>
              <a:t>quar</a:t>
            </a:r>
            <a:endParaRPr sz="2750" dirty="0">
              <a:latin typeface="Times New Roman"/>
              <a:cs typeface="Times New Roman"/>
            </a:endParaRPr>
          </a:p>
          <a:p>
            <a:pPr marL="368300">
              <a:lnSpc>
                <a:spcPct val="100000"/>
              </a:lnSpc>
              <a:spcBef>
                <a:spcPts val="1205"/>
              </a:spcBef>
            </a:pPr>
            <a:r>
              <a:rPr sz="2750" b="1" dirty="0">
                <a:latin typeface="Times New Roman"/>
                <a:cs typeface="Times New Roman"/>
              </a:rPr>
              <a:t>-terly</a:t>
            </a:r>
            <a:r>
              <a:rPr sz="2750" b="1" spc="85" dirty="0">
                <a:latin typeface="Times New Roman"/>
                <a:cs typeface="Times New Roman"/>
              </a:rPr>
              <a:t> </a:t>
            </a:r>
            <a:r>
              <a:rPr sz="2750" b="1" spc="-10" dirty="0">
                <a:latin typeface="Times New Roman"/>
                <a:cs typeface="Times New Roman"/>
              </a:rPr>
              <a:t>results</a:t>
            </a:r>
            <a:r>
              <a:rPr sz="2000" b="1" spc="-10" dirty="0">
                <a:latin typeface="Calibri"/>
                <a:cs typeface="Calibri"/>
              </a:rPr>
              <a:t>.</a:t>
            </a:r>
            <a:endParaRPr sz="2000" dirty="0">
              <a:latin typeface="Calibri"/>
              <a:cs typeface="Calibri"/>
            </a:endParaRPr>
          </a:p>
        </p:txBody>
      </p:sp>
      <p:sp>
        <p:nvSpPr>
          <p:cNvPr id="4" name="object 4"/>
          <p:cNvSpPr/>
          <p:nvPr/>
        </p:nvSpPr>
        <p:spPr>
          <a:xfrm>
            <a:off x="1041500" y="642358"/>
            <a:ext cx="1546860" cy="1543050"/>
          </a:xfrm>
          <a:custGeom>
            <a:avLst/>
            <a:gdLst/>
            <a:ahLst/>
            <a:cxnLst/>
            <a:rect l="l" t="t" r="r" b="b"/>
            <a:pathLst>
              <a:path w="1546860" h="1543050">
                <a:moveTo>
                  <a:pt x="972261" y="511043"/>
                </a:moveTo>
                <a:lnTo>
                  <a:pt x="936795" y="518216"/>
                </a:lnTo>
                <a:lnTo>
                  <a:pt x="907796" y="537772"/>
                </a:lnTo>
                <a:lnTo>
                  <a:pt x="888224" y="566764"/>
                </a:lnTo>
                <a:lnTo>
                  <a:pt x="881043" y="602246"/>
                </a:lnTo>
                <a:lnTo>
                  <a:pt x="881043" y="1450678"/>
                </a:lnTo>
                <a:lnTo>
                  <a:pt x="888206" y="1486154"/>
                </a:lnTo>
                <a:lnTo>
                  <a:pt x="907747" y="1515126"/>
                </a:lnTo>
                <a:lnTo>
                  <a:pt x="936741" y="1534660"/>
                </a:lnTo>
                <a:lnTo>
                  <a:pt x="972261" y="1541823"/>
                </a:lnTo>
                <a:lnTo>
                  <a:pt x="972261" y="1542536"/>
                </a:lnTo>
                <a:lnTo>
                  <a:pt x="1007781" y="1535382"/>
                </a:lnTo>
                <a:lnTo>
                  <a:pt x="1036775" y="1515864"/>
                </a:lnTo>
                <a:lnTo>
                  <a:pt x="1056316" y="1486895"/>
                </a:lnTo>
                <a:lnTo>
                  <a:pt x="1063480" y="1451391"/>
                </a:lnTo>
                <a:lnTo>
                  <a:pt x="1063479" y="602246"/>
                </a:lnTo>
                <a:lnTo>
                  <a:pt x="1056303" y="566764"/>
                </a:lnTo>
                <a:lnTo>
                  <a:pt x="1036743" y="537772"/>
                </a:lnTo>
                <a:lnTo>
                  <a:pt x="1007740" y="518216"/>
                </a:lnTo>
                <a:lnTo>
                  <a:pt x="972261" y="511043"/>
                </a:lnTo>
                <a:close/>
              </a:path>
              <a:path w="1546860" h="1543050">
                <a:moveTo>
                  <a:pt x="678589" y="611983"/>
                </a:moveTo>
                <a:lnTo>
                  <a:pt x="643110" y="619146"/>
                </a:lnTo>
                <a:lnTo>
                  <a:pt x="614108" y="638680"/>
                </a:lnTo>
                <a:lnTo>
                  <a:pt x="594547" y="667650"/>
                </a:lnTo>
                <a:lnTo>
                  <a:pt x="587371" y="703122"/>
                </a:lnTo>
                <a:lnTo>
                  <a:pt x="587371" y="1349622"/>
                </a:lnTo>
                <a:lnTo>
                  <a:pt x="594535" y="1385098"/>
                </a:lnTo>
                <a:lnTo>
                  <a:pt x="614076" y="1414070"/>
                </a:lnTo>
                <a:lnTo>
                  <a:pt x="643069" y="1433604"/>
                </a:lnTo>
                <a:lnTo>
                  <a:pt x="678564" y="1440762"/>
                </a:lnTo>
                <a:lnTo>
                  <a:pt x="677976" y="1440762"/>
                </a:lnTo>
                <a:lnTo>
                  <a:pt x="713516" y="1433604"/>
                </a:lnTo>
                <a:lnTo>
                  <a:pt x="713932" y="1433604"/>
                </a:lnTo>
                <a:lnTo>
                  <a:pt x="742948" y="1414070"/>
                </a:lnTo>
                <a:lnTo>
                  <a:pt x="767425" y="1361300"/>
                </a:lnTo>
                <a:lnTo>
                  <a:pt x="769808" y="703122"/>
                </a:lnTo>
                <a:lnTo>
                  <a:pt x="762626" y="667650"/>
                </a:lnTo>
                <a:lnTo>
                  <a:pt x="743055" y="638680"/>
                </a:lnTo>
                <a:lnTo>
                  <a:pt x="714055" y="619146"/>
                </a:lnTo>
                <a:lnTo>
                  <a:pt x="678589" y="611983"/>
                </a:lnTo>
                <a:close/>
              </a:path>
              <a:path w="1546860" h="1543050">
                <a:moveTo>
                  <a:pt x="1154762" y="1247724"/>
                </a:moveTo>
                <a:lnTo>
                  <a:pt x="1154762" y="1321249"/>
                </a:lnTo>
                <a:lnTo>
                  <a:pt x="1427676" y="1403065"/>
                </a:lnTo>
                <a:lnTo>
                  <a:pt x="1460360" y="1408052"/>
                </a:lnTo>
                <a:lnTo>
                  <a:pt x="1492625" y="1403065"/>
                </a:lnTo>
                <a:lnTo>
                  <a:pt x="1519733" y="1386623"/>
                </a:lnTo>
                <a:lnTo>
                  <a:pt x="1538586" y="1361301"/>
                </a:lnTo>
                <a:lnTo>
                  <a:pt x="1544573" y="1337378"/>
                </a:lnTo>
                <a:lnTo>
                  <a:pt x="1456822" y="1337378"/>
                </a:lnTo>
                <a:lnTo>
                  <a:pt x="1452592" y="1336694"/>
                </a:lnTo>
                <a:lnTo>
                  <a:pt x="1448595" y="1335370"/>
                </a:lnTo>
                <a:lnTo>
                  <a:pt x="1154762" y="1247724"/>
                </a:lnTo>
                <a:close/>
              </a:path>
              <a:path w="1546860" h="1543050">
                <a:moveTo>
                  <a:pt x="384918" y="708745"/>
                </a:moveTo>
                <a:lnTo>
                  <a:pt x="349367" y="715909"/>
                </a:lnTo>
                <a:lnTo>
                  <a:pt x="320366" y="735447"/>
                </a:lnTo>
                <a:lnTo>
                  <a:pt x="300837" y="764426"/>
                </a:lnTo>
                <a:lnTo>
                  <a:pt x="293680" y="799916"/>
                </a:lnTo>
                <a:lnTo>
                  <a:pt x="293680" y="1253360"/>
                </a:lnTo>
                <a:lnTo>
                  <a:pt x="320418" y="1317832"/>
                </a:lnTo>
                <a:lnTo>
                  <a:pt x="384918" y="1344506"/>
                </a:lnTo>
                <a:lnTo>
                  <a:pt x="420289" y="1337378"/>
                </a:lnTo>
                <a:lnTo>
                  <a:pt x="421399" y="1336693"/>
                </a:lnTo>
                <a:lnTo>
                  <a:pt x="449439" y="1317832"/>
                </a:lnTo>
                <a:lnTo>
                  <a:pt x="469018" y="1288863"/>
                </a:lnTo>
                <a:lnTo>
                  <a:pt x="476201" y="1253360"/>
                </a:lnTo>
                <a:lnTo>
                  <a:pt x="476201" y="799916"/>
                </a:lnTo>
                <a:lnTo>
                  <a:pt x="469027" y="764426"/>
                </a:lnTo>
                <a:lnTo>
                  <a:pt x="449464" y="735447"/>
                </a:lnTo>
                <a:lnTo>
                  <a:pt x="420448" y="715909"/>
                </a:lnTo>
                <a:lnTo>
                  <a:pt x="384918" y="708745"/>
                </a:lnTo>
                <a:close/>
              </a:path>
              <a:path w="1546860" h="1543050">
                <a:moveTo>
                  <a:pt x="396105" y="70325"/>
                </a:moveTo>
                <a:lnTo>
                  <a:pt x="146464" y="70324"/>
                </a:lnTo>
                <a:lnTo>
                  <a:pt x="150670" y="70999"/>
                </a:lnTo>
                <a:lnTo>
                  <a:pt x="154702" y="72285"/>
                </a:lnTo>
                <a:lnTo>
                  <a:pt x="1428385" y="452940"/>
                </a:lnTo>
                <a:lnTo>
                  <a:pt x="1462878" y="476709"/>
                </a:lnTo>
                <a:lnTo>
                  <a:pt x="1476605" y="1337378"/>
                </a:lnTo>
                <a:lnTo>
                  <a:pt x="1544573" y="1337378"/>
                </a:lnTo>
                <a:lnTo>
                  <a:pt x="1546518" y="1329604"/>
                </a:lnTo>
                <a:lnTo>
                  <a:pt x="1546582" y="508215"/>
                </a:lnTo>
                <a:lnTo>
                  <a:pt x="1538943" y="468946"/>
                </a:lnTo>
                <a:lnTo>
                  <a:pt x="1517980" y="432795"/>
                </a:lnTo>
                <a:lnTo>
                  <a:pt x="1486628" y="403447"/>
                </a:lnTo>
                <a:lnTo>
                  <a:pt x="1448063" y="384704"/>
                </a:lnTo>
                <a:lnTo>
                  <a:pt x="396105" y="70325"/>
                </a:lnTo>
                <a:close/>
              </a:path>
              <a:path w="1546860" h="1543050">
                <a:moveTo>
                  <a:pt x="91223" y="807018"/>
                </a:moveTo>
                <a:lnTo>
                  <a:pt x="55284" y="814277"/>
                </a:lnTo>
                <a:lnTo>
                  <a:pt x="55613" y="814277"/>
                </a:lnTo>
                <a:lnTo>
                  <a:pt x="26680" y="833824"/>
                </a:lnTo>
                <a:lnTo>
                  <a:pt x="7168" y="862753"/>
                </a:lnTo>
                <a:lnTo>
                  <a:pt x="0" y="898157"/>
                </a:lnTo>
                <a:lnTo>
                  <a:pt x="13" y="1154959"/>
                </a:lnTo>
                <a:lnTo>
                  <a:pt x="7215" y="1190431"/>
                </a:lnTo>
                <a:lnTo>
                  <a:pt x="26823" y="1219403"/>
                </a:lnTo>
                <a:lnTo>
                  <a:pt x="55821" y="1238939"/>
                </a:lnTo>
                <a:lnTo>
                  <a:pt x="56044" y="1238939"/>
                </a:lnTo>
                <a:lnTo>
                  <a:pt x="91529" y="1246101"/>
                </a:lnTo>
                <a:lnTo>
                  <a:pt x="91236" y="1246101"/>
                </a:lnTo>
                <a:lnTo>
                  <a:pt x="126730" y="1238939"/>
                </a:lnTo>
                <a:lnTo>
                  <a:pt x="155749" y="1219403"/>
                </a:lnTo>
                <a:lnTo>
                  <a:pt x="175327" y="1190431"/>
                </a:lnTo>
                <a:lnTo>
                  <a:pt x="182510" y="1154959"/>
                </a:lnTo>
                <a:lnTo>
                  <a:pt x="182509" y="898157"/>
                </a:lnTo>
                <a:lnTo>
                  <a:pt x="175288" y="862753"/>
                </a:lnTo>
                <a:lnTo>
                  <a:pt x="155724" y="833824"/>
                </a:lnTo>
                <a:lnTo>
                  <a:pt x="126731" y="814277"/>
                </a:lnTo>
                <a:lnTo>
                  <a:pt x="91223" y="807018"/>
                </a:lnTo>
                <a:close/>
              </a:path>
              <a:path w="1546860" h="1543050">
                <a:moveTo>
                  <a:pt x="129961" y="0"/>
                </a:moveTo>
                <a:lnTo>
                  <a:pt x="92018" y="14202"/>
                </a:lnTo>
                <a:lnTo>
                  <a:pt x="65795" y="43379"/>
                </a:lnTo>
                <a:lnTo>
                  <a:pt x="56006" y="84079"/>
                </a:lnTo>
                <a:lnTo>
                  <a:pt x="56006" y="719382"/>
                </a:lnTo>
                <a:lnTo>
                  <a:pt x="64753" y="717859"/>
                </a:lnTo>
                <a:lnTo>
                  <a:pt x="73560" y="716763"/>
                </a:lnTo>
                <a:lnTo>
                  <a:pt x="82410" y="716102"/>
                </a:lnTo>
                <a:lnTo>
                  <a:pt x="90103" y="715909"/>
                </a:lnTo>
                <a:lnTo>
                  <a:pt x="126634" y="715909"/>
                </a:lnTo>
                <a:lnTo>
                  <a:pt x="126634" y="70324"/>
                </a:lnTo>
                <a:lnTo>
                  <a:pt x="396105" y="70325"/>
                </a:lnTo>
                <a:lnTo>
                  <a:pt x="174909" y="4220"/>
                </a:lnTo>
                <a:lnTo>
                  <a:pt x="129961" y="0"/>
                </a:lnTo>
                <a:close/>
              </a:path>
              <a:path w="1546860" h="1543050">
                <a:moveTo>
                  <a:pt x="126634" y="715909"/>
                </a:moveTo>
                <a:lnTo>
                  <a:pt x="92475" y="715909"/>
                </a:lnTo>
                <a:lnTo>
                  <a:pt x="100181" y="716102"/>
                </a:lnTo>
                <a:lnTo>
                  <a:pt x="109047" y="716763"/>
                </a:lnTo>
                <a:lnTo>
                  <a:pt x="117870" y="717859"/>
                </a:lnTo>
                <a:lnTo>
                  <a:pt x="126634" y="719382"/>
                </a:lnTo>
                <a:lnTo>
                  <a:pt x="126634" y="715909"/>
                </a:lnTo>
                <a:close/>
              </a:path>
            </a:pathLst>
          </a:custGeom>
          <a:solidFill>
            <a:srgbClr val="333333"/>
          </a:solidFill>
        </p:spPr>
        <p:txBody>
          <a:bodyPr wrap="square" lIns="0" tIns="0" rIns="0" bIns="0" rtlCol="0"/>
          <a:lstStyle/>
          <a:p>
            <a:endParaRPr/>
          </a:p>
        </p:txBody>
      </p:sp>
      <p:pic>
        <p:nvPicPr>
          <p:cNvPr id="7170" name="Picture 2"/>
          <p:cNvPicPr>
            <a:picLocks noChangeAspect="1" noChangeArrowheads="1"/>
          </p:cNvPicPr>
          <p:nvPr/>
        </p:nvPicPr>
        <p:blipFill>
          <a:blip r:embed="rId2" cstate="print"/>
          <a:srcRect/>
          <a:stretch>
            <a:fillRect/>
          </a:stretch>
        </p:blipFill>
        <p:spPr bwMode="auto">
          <a:xfrm>
            <a:off x="0" y="8343900"/>
            <a:ext cx="18288000" cy="1143000"/>
          </a:xfrm>
          <a:prstGeom prst="rect">
            <a:avLst/>
          </a:prstGeom>
          <a:noFill/>
          <a:ln w="9525">
            <a:noFill/>
            <a:miter lim="800000"/>
            <a:headEnd/>
            <a:tailEnd/>
          </a:ln>
          <a:effectLst/>
        </p:spPr>
      </p:pic>
      <p:pic>
        <p:nvPicPr>
          <p:cNvPr id="7172" name="Picture 4"/>
          <p:cNvPicPr>
            <a:picLocks noChangeAspect="1" noChangeArrowheads="1"/>
          </p:cNvPicPr>
          <p:nvPr/>
        </p:nvPicPr>
        <p:blipFill>
          <a:blip r:embed="rId3" cstate="print"/>
          <a:srcRect/>
          <a:stretch>
            <a:fillRect/>
          </a:stretch>
        </p:blipFill>
        <p:spPr bwMode="auto">
          <a:xfrm>
            <a:off x="0" y="6743700"/>
            <a:ext cx="18288000" cy="11858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z="5400" dirty="0"/>
              <a:t>Data</a:t>
            </a:r>
            <a:r>
              <a:rPr sz="5400" spc="-165" dirty="0"/>
              <a:t> </a:t>
            </a:r>
            <a:r>
              <a:rPr sz="5400" spc="-10" dirty="0"/>
              <a:t>Model</a:t>
            </a:r>
            <a:endParaRPr sz="5400"/>
          </a:p>
        </p:txBody>
      </p:sp>
      <p:sp>
        <p:nvSpPr>
          <p:cNvPr id="4" name="object 4"/>
          <p:cNvSpPr/>
          <p:nvPr/>
        </p:nvSpPr>
        <p:spPr>
          <a:xfrm>
            <a:off x="1057990" y="209550"/>
            <a:ext cx="1237615" cy="895985"/>
          </a:xfrm>
          <a:custGeom>
            <a:avLst/>
            <a:gdLst/>
            <a:ahLst/>
            <a:cxnLst/>
            <a:rect l="l" t="t" r="r" b="b"/>
            <a:pathLst>
              <a:path w="1237614" h="895985">
                <a:moveTo>
                  <a:pt x="777831" y="296825"/>
                </a:moveTo>
                <a:lnTo>
                  <a:pt x="749458" y="300992"/>
                </a:lnTo>
                <a:lnTo>
                  <a:pt x="726258" y="312350"/>
                </a:lnTo>
                <a:lnTo>
                  <a:pt x="710600" y="329189"/>
                </a:lnTo>
                <a:lnTo>
                  <a:pt x="704855" y="349798"/>
                </a:lnTo>
                <a:lnTo>
                  <a:pt x="704970" y="843001"/>
                </a:lnTo>
                <a:lnTo>
                  <a:pt x="710586" y="863193"/>
                </a:lnTo>
                <a:lnTo>
                  <a:pt x="726219" y="880020"/>
                </a:lnTo>
                <a:lnTo>
                  <a:pt x="749414" y="891366"/>
                </a:lnTo>
                <a:lnTo>
                  <a:pt x="777831" y="895526"/>
                </a:lnTo>
                <a:lnTo>
                  <a:pt x="777831" y="895940"/>
                </a:lnTo>
                <a:lnTo>
                  <a:pt x="806249" y="891785"/>
                </a:lnTo>
                <a:lnTo>
                  <a:pt x="829444" y="880448"/>
                </a:lnTo>
                <a:lnTo>
                  <a:pt x="845077" y="863623"/>
                </a:lnTo>
                <a:lnTo>
                  <a:pt x="850808" y="843001"/>
                </a:lnTo>
                <a:lnTo>
                  <a:pt x="850808" y="349798"/>
                </a:lnTo>
                <a:lnTo>
                  <a:pt x="845067" y="329189"/>
                </a:lnTo>
                <a:lnTo>
                  <a:pt x="829418" y="312350"/>
                </a:lnTo>
                <a:lnTo>
                  <a:pt x="806216" y="300992"/>
                </a:lnTo>
                <a:lnTo>
                  <a:pt x="777831" y="296825"/>
                </a:lnTo>
                <a:close/>
              </a:path>
              <a:path w="1237614" h="895985">
                <a:moveTo>
                  <a:pt x="542887" y="355454"/>
                </a:moveTo>
                <a:lnTo>
                  <a:pt x="514503" y="359614"/>
                </a:lnTo>
                <a:lnTo>
                  <a:pt x="491300" y="370960"/>
                </a:lnTo>
                <a:lnTo>
                  <a:pt x="475652" y="387786"/>
                </a:lnTo>
                <a:lnTo>
                  <a:pt x="469910" y="408389"/>
                </a:lnTo>
                <a:lnTo>
                  <a:pt x="469910" y="783891"/>
                </a:lnTo>
                <a:lnTo>
                  <a:pt x="475642" y="804497"/>
                </a:lnTo>
                <a:lnTo>
                  <a:pt x="491275" y="821324"/>
                </a:lnTo>
                <a:lnTo>
                  <a:pt x="514470" y="832670"/>
                </a:lnTo>
                <a:lnTo>
                  <a:pt x="542877" y="836829"/>
                </a:lnTo>
                <a:lnTo>
                  <a:pt x="542387" y="836829"/>
                </a:lnTo>
                <a:lnTo>
                  <a:pt x="570830" y="832670"/>
                </a:lnTo>
                <a:lnTo>
                  <a:pt x="571162" y="832670"/>
                </a:lnTo>
                <a:lnTo>
                  <a:pt x="594376" y="821324"/>
                </a:lnTo>
                <a:lnTo>
                  <a:pt x="597691" y="817829"/>
                </a:lnTo>
                <a:lnTo>
                  <a:pt x="610078" y="804497"/>
                </a:lnTo>
                <a:lnTo>
                  <a:pt x="615843" y="783891"/>
                </a:lnTo>
                <a:lnTo>
                  <a:pt x="615864" y="408389"/>
                </a:lnTo>
                <a:lnTo>
                  <a:pt x="610118" y="387786"/>
                </a:lnTo>
                <a:lnTo>
                  <a:pt x="594461" y="370960"/>
                </a:lnTo>
                <a:lnTo>
                  <a:pt x="571261" y="359614"/>
                </a:lnTo>
                <a:lnTo>
                  <a:pt x="542887" y="355454"/>
                </a:lnTo>
                <a:close/>
              </a:path>
              <a:path w="1237614" h="895985">
                <a:moveTo>
                  <a:pt x="923837" y="724707"/>
                </a:moveTo>
                <a:lnTo>
                  <a:pt x="923837" y="767411"/>
                </a:lnTo>
                <a:lnTo>
                  <a:pt x="1142174" y="814932"/>
                </a:lnTo>
                <a:lnTo>
                  <a:pt x="1168322" y="817829"/>
                </a:lnTo>
                <a:lnTo>
                  <a:pt x="1194135" y="814932"/>
                </a:lnTo>
                <a:lnTo>
                  <a:pt x="1215822" y="805382"/>
                </a:lnTo>
                <a:lnTo>
                  <a:pt x="1230904" y="790674"/>
                </a:lnTo>
                <a:lnTo>
                  <a:pt x="1235694" y="776780"/>
                </a:lnTo>
                <a:lnTo>
                  <a:pt x="1165492" y="776780"/>
                </a:lnTo>
                <a:lnTo>
                  <a:pt x="1162107" y="776382"/>
                </a:lnTo>
                <a:lnTo>
                  <a:pt x="1158910" y="775613"/>
                </a:lnTo>
                <a:lnTo>
                  <a:pt x="923837" y="724707"/>
                </a:lnTo>
                <a:close/>
              </a:path>
              <a:path w="1237614" h="895985">
                <a:moveTo>
                  <a:pt x="336597" y="415928"/>
                </a:moveTo>
                <a:lnTo>
                  <a:pt x="279273" y="415928"/>
                </a:lnTo>
                <a:lnTo>
                  <a:pt x="256300" y="427164"/>
                </a:lnTo>
                <a:lnTo>
                  <a:pt x="240676" y="443996"/>
                </a:lnTo>
                <a:lnTo>
                  <a:pt x="234951" y="464610"/>
                </a:lnTo>
                <a:lnTo>
                  <a:pt x="234951" y="727980"/>
                </a:lnTo>
                <a:lnTo>
                  <a:pt x="256342" y="765427"/>
                </a:lnTo>
                <a:lnTo>
                  <a:pt x="307943" y="780920"/>
                </a:lnTo>
                <a:lnTo>
                  <a:pt x="336241" y="776780"/>
                </a:lnTo>
                <a:lnTo>
                  <a:pt x="337129" y="776382"/>
                </a:lnTo>
                <a:lnTo>
                  <a:pt x="359562" y="765427"/>
                </a:lnTo>
                <a:lnTo>
                  <a:pt x="375225" y="748601"/>
                </a:lnTo>
                <a:lnTo>
                  <a:pt x="380971" y="727980"/>
                </a:lnTo>
                <a:lnTo>
                  <a:pt x="380971" y="464610"/>
                </a:lnTo>
                <a:lnTo>
                  <a:pt x="375232" y="443996"/>
                </a:lnTo>
                <a:lnTo>
                  <a:pt x="359581" y="427164"/>
                </a:lnTo>
                <a:lnTo>
                  <a:pt x="336597" y="415928"/>
                </a:lnTo>
                <a:close/>
              </a:path>
              <a:path w="1237614" h="895985">
                <a:moveTo>
                  <a:pt x="316893" y="40846"/>
                </a:moveTo>
                <a:lnTo>
                  <a:pt x="117174" y="40846"/>
                </a:lnTo>
                <a:lnTo>
                  <a:pt x="120539" y="41238"/>
                </a:lnTo>
                <a:lnTo>
                  <a:pt x="123765" y="41984"/>
                </a:lnTo>
                <a:lnTo>
                  <a:pt x="1142741" y="263078"/>
                </a:lnTo>
                <a:lnTo>
                  <a:pt x="1178406" y="286410"/>
                </a:lnTo>
                <a:lnTo>
                  <a:pt x="1181319" y="776780"/>
                </a:lnTo>
                <a:lnTo>
                  <a:pt x="1235694" y="776780"/>
                </a:lnTo>
                <a:lnTo>
                  <a:pt x="1237250" y="772264"/>
                </a:lnTo>
                <a:lnTo>
                  <a:pt x="1237302" y="295183"/>
                </a:lnTo>
                <a:lnTo>
                  <a:pt x="1231190" y="272374"/>
                </a:lnTo>
                <a:lnTo>
                  <a:pt x="1214419" y="251377"/>
                </a:lnTo>
                <a:lnTo>
                  <a:pt x="1189337" y="234331"/>
                </a:lnTo>
                <a:lnTo>
                  <a:pt x="1158714" y="223526"/>
                </a:lnTo>
                <a:lnTo>
                  <a:pt x="1158858" y="223526"/>
                </a:lnTo>
                <a:lnTo>
                  <a:pt x="316893" y="40846"/>
                </a:lnTo>
                <a:close/>
              </a:path>
              <a:path w="1237614" h="895985">
                <a:moveTo>
                  <a:pt x="72981" y="468735"/>
                </a:moveTo>
                <a:lnTo>
                  <a:pt x="44228" y="472951"/>
                </a:lnTo>
                <a:lnTo>
                  <a:pt x="44492" y="472951"/>
                </a:lnTo>
                <a:lnTo>
                  <a:pt x="21344" y="484304"/>
                </a:lnTo>
                <a:lnTo>
                  <a:pt x="5734" y="501107"/>
                </a:lnTo>
                <a:lnTo>
                  <a:pt x="0" y="521670"/>
                </a:lnTo>
                <a:lnTo>
                  <a:pt x="10" y="670827"/>
                </a:lnTo>
                <a:lnTo>
                  <a:pt x="5772" y="691430"/>
                </a:lnTo>
                <a:lnTo>
                  <a:pt x="21459" y="708258"/>
                </a:lnTo>
                <a:lnTo>
                  <a:pt x="44658" y="719605"/>
                </a:lnTo>
                <a:lnTo>
                  <a:pt x="44834" y="719605"/>
                </a:lnTo>
                <a:lnTo>
                  <a:pt x="72986" y="723765"/>
                </a:lnTo>
                <a:lnTo>
                  <a:pt x="72740" y="723765"/>
                </a:lnTo>
                <a:lnTo>
                  <a:pt x="101387" y="719605"/>
                </a:lnTo>
                <a:lnTo>
                  <a:pt x="124603" y="708258"/>
                </a:lnTo>
                <a:lnTo>
                  <a:pt x="140266" y="691430"/>
                </a:lnTo>
                <a:lnTo>
                  <a:pt x="146012" y="670827"/>
                </a:lnTo>
                <a:lnTo>
                  <a:pt x="146012" y="521670"/>
                </a:lnTo>
                <a:lnTo>
                  <a:pt x="140234" y="501107"/>
                </a:lnTo>
                <a:lnTo>
                  <a:pt x="124583" y="484304"/>
                </a:lnTo>
                <a:lnTo>
                  <a:pt x="101388" y="472951"/>
                </a:lnTo>
                <a:lnTo>
                  <a:pt x="72981" y="468735"/>
                </a:lnTo>
                <a:close/>
              </a:path>
              <a:path w="1237614" h="895985">
                <a:moveTo>
                  <a:pt x="103972" y="0"/>
                </a:moveTo>
                <a:lnTo>
                  <a:pt x="73616" y="8249"/>
                </a:lnTo>
                <a:lnTo>
                  <a:pt x="52637" y="25195"/>
                </a:lnTo>
                <a:lnTo>
                  <a:pt x="44806" y="48835"/>
                </a:lnTo>
                <a:lnTo>
                  <a:pt x="44806" y="417834"/>
                </a:lnTo>
                <a:lnTo>
                  <a:pt x="51804" y="416949"/>
                </a:lnTo>
                <a:lnTo>
                  <a:pt x="58850" y="416313"/>
                </a:lnTo>
                <a:lnTo>
                  <a:pt x="65930" y="415928"/>
                </a:lnTo>
                <a:lnTo>
                  <a:pt x="101310" y="415928"/>
                </a:lnTo>
                <a:lnTo>
                  <a:pt x="101310" y="40846"/>
                </a:lnTo>
                <a:lnTo>
                  <a:pt x="316893" y="40846"/>
                </a:lnTo>
                <a:lnTo>
                  <a:pt x="139931" y="2451"/>
                </a:lnTo>
                <a:lnTo>
                  <a:pt x="103972" y="0"/>
                </a:lnTo>
                <a:close/>
              </a:path>
              <a:path w="1237614" h="895985">
                <a:moveTo>
                  <a:pt x="101310" y="415928"/>
                </a:moveTo>
                <a:lnTo>
                  <a:pt x="80147" y="415928"/>
                </a:lnTo>
                <a:lnTo>
                  <a:pt x="87240" y="416313"/>
                </a:lnTo>
                <a:lnTo>
                  <a:pt x="94299" y="416949"/>
                </a:lnTo>
                <a:lnTo>
                  <a:pt x="101310" y="417834"/>
                </a:lnTo>
                <a:lnTo>
                  <a:pt x="101310" y="415928"/>
                </a:lnTo>
                <a:close/>
              </a:path>
              <a:path w="1237614" h="895985">
                <a:moveTo>
                  <a:pt x="307943" y="411656"/>
                </a:moveTo>
                <a:lnTo>
                  <a:pt x="278712" y="415928"/>
                </a:lnTo>
                <a:lnTo>
                  <a:pt x="337131" y="415928"/>
                </a:lnTo>
                <a:lnTo>
                  <a:pt x="307943" y="411656"/>
                </a:lnTo>
                <a:close/>
              </a:path>
            </a:pathLst>
          </a:custGeom>
          <a:solidFill>
            <a:srgbClr val="333333"/>
          </a:solidFill>
        </p:spPr>
        <p:txBody>
          <a:bodyPr wrap="square" lIns="0" tIns="0" rIns="0" bIns="0" rtlCol="0"/>
          <a:lstStyle/>
          <a:p>
            <a:endParaRPr/>
          </a:p>
        </p:txBody>
      </p:sp>
      <p:pic>
        <p:nvPicPr>
          <p:cNvPr id="1026" name="Picture 2"/>
          <p:cNvPicPr>
            <a:picLocks noChangeAspect="1" noChangeArrowheads="1"/>
          </p:cNvPicPr>
          <p:nvPr/>
        </p:nvPicPr>
        <p:blipFill>
          <a:blip r:embed="rId2" cstate="print"/>
          <a:srcRect/>
          <a:stretch>
            <a:fillRect/>
          </a:stretch>
        </p:blipFill>
        <p:spPr bwMode="auto">
          <a:xfrm>
            <a:off x="0" y="1257300"/>
            <a:ext cx="17474142" cy="90297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1502" rIns="0" bIns="0" rtlCol="0">
            <a:spAutoFit/>
          </a:bodyPr>
          <a:lstStyle/>
          <a:p>
            <a:pPr marL="316865">
              <a:lnSpc>
                <a:spcPct val="100000"/>
              </a:lnSpc>
              <a:spcBef>
                <a:spcPts val="105"/>
              </a:spcBef>
            </a:pPr>
            <a:r>
              <a:rPr dirty="0"/>
              <a:t>Dashboard</a:t>
            </a:r>
            <a:r>
              <a:rPr spc="-215" dirty="0"/>
              <a:t> </a:t>
            </a:r>
            <a:r>
              <a:rPr spc="-10" dirty="0"/>
              <a:t>Visualizations</a:t>
            </a:r>
          </a:p>
        </p:txBody>
      </p:sp>
      <p:sp>
        <p:nvSpPr>
          <p:cNvPr id="3" name="object 3"/>
          <p:cNvSpPr txBox="1"/>
          <p:nvPr/>
        </p:nvSpPr>
        <p:spPr>
          <a:xfrm>
            <a:off x="1066800" y="2400300"/>
            <a:ext cx="15468600" cy="6036909"/>
          </a:xfrm>
          <a:prstGeom prst="rect">
            <a:avLst/>
          </a:prstGeom>
        </p:spPr>
        <p:txBody>
          <a:bodyPr vert="horz" wrap="square" lIns="0" tIns="227965" rIns="0" bIns="0" rtlCol="0">
            <a:spAutoFit/>
          </a:bodyPr>
          <a:lstStyle/>
          <a:p>
            <a:pPr marL="456565" indent="-443865">
              <a:lnSpc>
                <a:spcPct val="100000"/>
              </a:lnSpc>
              <a:spcBef>
                <a:spcPts val="1795"/>
              </a:spcBef>
              <a:buSzPct val="97222"/>
              <a:tabLst>
                <a:tab pos="456565" algn="l"/>
              </a:tabLst>
            </a:pPr>
            <a:r>
              <a:rPr sz="3600" b="1" dirty="0">
                <a:latin typeface="Calibri"/>
                <a:cs typeface="Calibri"/>
              </a:rPr>
              <a:t>Financial</a:t>
            </a:r>
            <a:r>
              <a:rPr sz="3600" b="1" spc="-105" dirty="0">
                <a:latin typeface="Calibri"/>
                <a:cs typeface="Calibri"/>
              </a:rPr>
              <a:t> </a:t>
            </a:r>
            <a:r>
              <a:rPr sz="3600" b="1" spc="-10" dirty="0">
                <a:latin typeface="Calibri"/>
                <a:cs typeface="Calibri"/>
              </a:rPr>
              <a:t>Performance</a:t>
            </a:r>
            <a:r>
              <a:rPr sz="3600" b="1" spc="-130" dirty="0">
                <a:latin typeface="Calibri"/>
                <a:cs typeface="Calibri"/>
              </a:rPr>
              <a:t> </a:t>
            </a:r>
            <a:r>
              <a:rPr sz="3600" b="1" spc="-10" dirty="0" smtClean="0">
                <a:latin typeface="Calibri"/>
                <a:cs typeface="Calibri"/>
              </a:rPr>
              <a:t>Dashboard</a:t>
            </a:r>
            <a:endParaRPr lang="en-US" sz="3600" b="1" spc="-10" dirty="0" smtClean="0">
              <a:latin typeface="Calibri"/>
              <a:cs typeface="Calibri"/>
            </a:endParaRPr>
          </a:p>
          <a:p>
            <a:pPr marL="456565" indent="-443865">
              <a:lnSpc>
                <a:spcPct val="100000"/>
              </a:lnSpc>
              <a:spcBef>
                <a:spcPts val="1795"/>
              </a:spcBef>
              <a:buSzPct val="97222"/>
              <a:tabLst>
                <a:tab pos="456565" algn="l"/>
              </a:tabLst>
            </a:pPr>
            <a:endParaRPr sz="3600" dirty="0">
              <a:latin typeface="Calibri"/>
              <a:cs typeface="Calibri"/>
            </a:endParaRPr>
          </a:p>
          <a:p>
            <a:r>
              <a:rPr lang="en-US" sz="2800" dirty="0" smtClean="0"/>
              <a:t>1.What is the total revenue of each company annually and quarterly? </a:t>
            </a:r>
            <a:r>
              <a:rPr lang="en-US" sz="2800" dirty="0" smtClean="0"/>
              <a:t>–Matrix Chart</a:t>
            </a:r>
            <a:endParaRPr lang="en-US" sz="2800" dirty="0" smtClean="0"/>
          </a:p>
          <a:p>
            <a:r>
              <a:rPr lang="en-US" sz="2800" dirty="0" smtClean="0"/>
              <a:t> </a:t>
            </a:r>
          </a:p>
          <a:p>
            <a:r>
              <a:rPr lang="en-US" sz="2800" dirty="0" smtClean="0"/>
              <a:t>2. Which companies have the highest net income annually? ---AAPL,JPM,MSFT </a:t>
            </a:r>
          </a:p>
          <a:p>
            <a:endParaRPr lang="en-US" sz="2800" dirty="0" smtClean="0"/>
          </a:p>
          <a:p>
            <a:r>
              <a:rPr lang="en-US" sz="2800" dirty="0" smtClean="0"/>
              <a:t>3. What is the trend of total assets </a:t>
            </a:r>
            <a:r>
              <a:rPr lang="en-US" sz="2800" dirty="0" err="1" smtClean="0"/>
              <a:t>vs</a:t>
            </a:r>
            <a:r>
              <a:rPr lang="en-US" sz="2800" dirty="0" smtClean="0"/>
              <a:t> total liabilities for each company? –JPM,HSBC,BAC (FIN)</a:t>
            </a:r>
          </a:p>
          <a:p>
            <a:r>
              <a:rPr lang="en-US" sz="2800" dirty="0" smtClean="0"/>
              <a:t> </a:t>
            </a:r>
          </a:p>
          <a:p>
            <a:r>
              <a:rPr lang="en-US" sz="2800" dirty="0" smtClean="0"/>
              <a:t>4. How has the retained earnings changed over time for top companies? –XOM,JPM,CVX</a:t>
            </a:r>
          </a:p>
          <a:p>
            <a:endParaRPr lang="en-US" sz="2800" dirty="0" smtClean="0"/>
          </a:p>
          <a:p>
            <a:r>
              <a:rPr lang="en-US" sz="2800" dirty="0" smtClean="0"/>
              <a:t>5. What are the companies with consistently increasing cash &amp; equivalents? –WFC,JPM,HSBC</a:t>
            </a:r>
          </a:p>
          <a:p>
            <a:pPr marL="617220" lvl="1" indent="-302260">
              <a:lnSpc>
                <a:spcPct val="100000"/>
              </a:lnSpc>
              <a:spcBef>
                <a:spcPts val="1335"/>
              </a:spcBef>
              <a:tabLst>
                <a:tab pos="617220" algn="l"/>
              </a:tabLst>
            </a:pPr>
            <a:endParaRPr sz="2750" dirty="0">
              <a:latin typeface="Calibri"/>
              <a:cs typeface="Calibri"/>
            </a:endParaRPr>
          </a:p>
        </p:txBody>
      </p:sp>
      <p:sp>
        <p:nvSpPr>
          <p:cNvPr id="4" name="object 4"/>
          <p:cNvSpPr/>
          <p:nvPr/>
        </p:nvSpPr>
        <p:spPr>
          <a:xfrm>
            <a:off x="1041500" y="642358"/>
            <a:ext cx="1546860" cy="1543050"/>
          </a:xfrm>
          <a:custGeom>
            <a:avLst/>
            <a:gdLst/>
            <a:ahLst/>
            <a:cxnLst/>
            <a:rect l="l" t="t" r="r" b="b"/>
            <a:pathLst>
              <a:path w="1546860" h="1543050">
                <a:moveTo>
                  <a:pt x="972261" y="511043"/>
                </a:moveTo>
                <a:lnTo>
                  <a:pt x="936795" y="518216"/>
                </a:lnTo>
                <a:lnTo>
                  <a:pt x="907796" y="537772"/>
                </a:lnTo>
                <a:lnTo>
                  <a:pt x="888224" y="566764"/>
                </a:lnTo>
                <a:lnTo>
                  <a:pt x="881043" y="602246"/>
                </a:lnTo>
                <a:lnTo>
                  <a:pt x="881043" y="1450678"/>
                </a:lnTo>
                <a:lnTo>
                  <a:pt x="888206" y="1486154"/>
                </a:lnTo>
                <a:lnTo>
                  <a:pt x="907747" y="1515126"/>
                </a:lnTo>
                <a:lnTo>
                  <a:pt x="936741" y="1534660"/>
                </a:lnTo>
                <a:lnTo>
                  <a:pt x="972261" y="1541823"/>
                </a:lnTo>
                <a:lnTo>
                  <a:pt x="972261" y="1542536"/>
                </a:lnTo>
                <a:lnTo>
                  <a:pt x="1007781" y="1535382"/>
                </a:lnTo>
                <a:lnTo>
                  <a:pt x="1036775" y="1515864"/>
                </a:lnTo>
                <a:lnTo>
                  <a:pt x="1056316" y="1486895"/>
                </a:lnTo>
                <a:lnTo>
                  <a:pt x="1063480" y="1451391"/>
                </a:lnTo>
                <a:lnTo>
                  <a:pt x="1063479" y="602246"/>
                </a:lnTo>
                <a:lnTo>
                  <a:pt x="1056303" y="566764"/>
                </a:lnTo>
                <a:lnTo>
                  <a:pt x="1036743" y="537772"/>
                </a:lnTo>
                <a:lnTo>
                  <a:pt x="1007740" y="518216"/>
                </a:lnTo>
                <a:lnTo>
                  <a:pt x="972261" y="511043"/>
                </a:lnTo>
                <a:close/>
              </a:path>
              <a:path w="1546860" h="1543050">
                <a:moveTo>
                  <a:pt x="678589" y="611983"/>
                </a:moveTo>
                <a:lnTo>
                  <a:pt x="643110" y="619146"/>
                </a:lnTo>
                <a:lnTo>
                  <a:pt x="614108" y="638680"/>
                </a:lnTo>
                <a:lnTo>
                  <a:pt x="594547" y="667650"/>
                </a:lnTo>
                <a:lnTo>
                  <a:pt x="587371" y="703122"/>
                </a:lnTo>
                <a:lnTo>
                  <a:pt x="587371" y="1349622"/>
                </a:lnTo>
                <a:lnTo>
                  <a:pt x="594535" y="1385098"/>
                </a:lnTo>
                <a:lnTo>
                  <a:pt x="614076" y="1414070"/>
                </a:lnTo>
                <a:lnTo>
                  <a:pt x="643069" y="1433604"/>
                </a:lnTo>
                <a:lnTo>
                  <a:pt x="678564" y="1440762"/>
                </a:lnTo>
                <a:lnTo>
                  <a:pt x="677976" y="1440762"/>
                </a:lnTo>
                <a:lnTo>
                  <a:pt x="713516" y="1433604"/>
                </a:lnTo>
                <a:lnTo>
                  <a:pt x="713932" y="1433604"/>
                </a:lnTo>
                <a:lnTo>
                  <a:pt x="742948" y="1414070"/>
                </a:lnTo>
                <a:lnTo>
                  <a:pt x="767425" y="1361300"/>
                </a:lnTo>
                <a:lnTo>
                  <a:pt x="769808" y="703122"/>
                </a:lnTo>
                <a:lnTo>
                  <a:pt x="762626" y="667650"/>
                </a:lnTo>
                <a:lnTo>
                  <a:pt x="743055" y="638680"/>
                </a:lnTo>
                <a:lnTo>
                  <a:pt x="714055" y="619146"/>
                </a:lnTo>
                <a:lnTo>
                  <a:pt x="678589" y="611983"/>
                </a:lnTo>
                <a:close/>
              </a:path>
              <a:path w="1546860" h="1543050">
                <a:moveTo>
                  <a:pt x="1154762" y="1247724"/>
                </a:moveTo>
                <a:lnTo>
                  <a:pt x="1154762" y="1321249"/>
                </a:lnTo>
                <a:lnTo>
                  <a:pt x="1427676" y="1403065"/>
                </a:lnTo>
                <a:lnTo>
                  <a:pt x="1460360" y="1408052"/>
                </a:lnTo>
                <a:lnTo>
                  <a:pt x="1492625" y="1403065"/>
                </a:lnTo>
                <a:lnTo>
                  <a:pt x="1519733" y="1386623"/>
                </a:lnTo>
                <a:lnTo>
                  <a:pt x="1538586" y="1361301"/>
                </a:lnTo>
                <a:lnTo>
                  <a:pt x="1544573" y="1337378"/>
                </a:lnTo>
                <a:lnTo>
                  <a:pt x="1456822" y="1337378"/>
                </a:lnTo>
                <a:lnTo>
                  <a:pt x="1452592" y="1336694"/>
                </a:lnTo>
                <a:lnTo>
                  <a:pt x="1448595" y="1335370"/>
                </a:lnTo>
                <a:lnTo>
                  <a:pt x="1154762" y="1247724"/>
                </a:lnTo>
                <a:close/>
              </a:path>
              <a:path w="1546860" h="1543050">
                <a:moveTo>
                  <a:pt x="384918" y="708745"/>
                </a:moveTo>
                <a:lnTo>
                  <a:pt x="349367" y="715909"/>
                </a:lnTo>
                <a:lnTo>
                  <a:pt x="320366" y="735447"/>
                </a:lnTo>
                <a:lnTo>
                  <a:pt x="300837" y="764426"/>
                </a:lnTo>
                <a:lnTo>
                  <a:pt x="293680" y="799916"/>
                </a:lnTo>
                <a:lnTo>
                  <a:pt x="293680" y="1253360"/>
                </a:lnTo>
                <a:lnTo>
                  <a:pt x="320418" y="1317832"/>
                </a:lnTo>
                <a:lnTo>
                  <a:pt x="384918" y="1344506"/>
                </a:lnTo>
                <a:lnTo>
                  <a:pt x="420289" y="1337378"/>
                </a:lnTo>
                <a:lnTo>
                  <a:pt x="421399" y="1336693"/>
                </a:lnTo>
                <a:lnTo>
                  <a:pt x="449439" y="1317832"/>
                </a:lnTo>
                <a:lnTo>
                  <a:pt x="469018" y="1288863"/>
                </a:lnTo>
                <a:lnTo>
                  <a:pt x="476201" y="1253360"/>
                </a:lnTo>
                <a:lnTo>
                  <a:pt x="476201" y="799916"/>
                </a:lnTo>
                <a:lnTo>
                  <a:pt x="469027" y="764426"/>
                </a:lnTo>
                <a:lnTo>
                  <a:pt x="449464" y="735447"/>
                </a:lnTo>
                <a:lnTo>
                  <a:pt x="420448" y="715909"/>
                </a:lnTo>
                <a:lnTo>
                  <a:pt x="384918" y="708745"/>
                </a:lnTo>
                <a:close/>
              </a:path>
              <a:path w="1546860" h="1543050">
                <a:moveTo>
                  <a:pt x="396105" y="70325"/>
                </a:moveTo>
                <a:lnTo>
                  <a:pt x="146464" y="70324"/>
                </a:lnTo>
                <a:lnTo>
                  <a:pt x="150670" y="70999"/>
                </a:lnTo>
                <a:lnTo>
                  <a:pt x="154702" y="72285"/>
                </a:lnTo>
                <a:lnTo>
                  <a:pt x="1428385" y="452940"/>
                </a:lnTo>
                <a:lnTo>
                  <a:pt x="1462878" y="476709"/>
                </a:lnTo>
                <a:lnTo>
                  <a:pt x="1476605" y="1337378"/>
                </a:lnTo>
                <a:lnTo>
                  <a:pt x="1544573" y="1337378"/>
                </a:lnTo>
                <a:lnTo>
                  <a:pt x="1546518" y="1329604"/>
                </a:lnTo>
                <a:lnTo>
                  <a:pt x="1546582" y="508215"/>
                </a:lnTo>
                <a:lnTo>
                  <a:pt x="1538943" y="468946"/>
                </a:lnTo>
                <a:lnTo>
                  <a:pt x="1517980" y="432795"/>
                </a:lnTo>
                <a:lnTo>
                  <a:pt x="1486628" y="403447"/>
                </a:lnTo>
                <a:lnTo>
                  <a:pt x="1448063" y="384704"/>
                </a:lnTo>
                <a:lnTo>
                  <a:pt x="396105" y="70325"/>
                </a:lnTo>
                <a:close/>
              </a:path>
              <a:path w="1546860" h="1543050">
                <a:moveTo>
                  <a:pt x="91223" y="807018"/>
                </a:moveTo>
                <a:lnTo>
                  <a:pt x="55284" y="814277"/>
                </a:lnTo>
                <a:lnTo>
                  <a:pt x="55613" y="814277"/>
                </a:lnTo>
                <a:lnTo>
                  <a:pt x="26680" y="833824"/>
                </a:lnTo>
                <a:lnTo>
                  <a:pt x="7168" y="862753"/>
                </a:lnTo>
                <a:lnTo>
                  <a:pt x="0" y="898157"/>
                </a:lnTo>
                <a:lnTo>
                  <a:pt x="13" y="1154959"/>
                </a:lnTo>
                <a:lnTo>
                  <a:pt x="7215" y="1190431"/>
                </a:lnTo>
                <a:lnTo>
                  <a:pt x="26823" y="1219403"/>
                </a:lnTo>
                <a:lnTo>
                  <a:pt x="55821" y="1238939"/>
                </a:lnTo>
                <a:lnTo>
                  <a:pt x="56044" y="1238939"/>
                </a:lnTo>
                <a:lnTo>
                  <a:pt x="91529" y="1246101"/>
                </a:lnTo>
                <a:lnTo>
                  <a:pt x="91236" y="1246101"/>
                </a:lnTo>
                <a:lnTo>
                  <a:pt x="126730" y="1238939"/>
                </a:lnTo>
                <a:lnTo>
                  <a:pt x="155749" y="1219403"/>
                </a:lnTo>
                <a:lnTo>
                  <a:pt x="175327" y="1190431"/>
                </a:lnTo>
                <a:lnTo>
                  <a:pt x="182510" y="1154959"/>
                </a:lnTo>
                <a:lnTo>
                  <a:pt x="182509" y="898157"/>
                </a:lnTo>
                <a:lnTo>
                  <a:pt x="175288" y="862753"/>
                </a:lnTo>
                <a:lnTo>
                  <a:pt x="155724" y="833824"/>
                </a:lnTo>
                <a:lnTo>
                  <a:pt x="126731" y="814277"/>
                </a:lnTo>
                <a:lnTo>
                  <a:pt x="91223" y="807018"/>
                </a:lnTo>
                <a:close/>
              </a:path>
              <a:path w="1546860" h="1543050">
                <a:moveTo>
                  <a:pt x="129961" y="0"/>
                </a:moveTo>
                <a:lnTo>
                  <a:pt x="92018" y="14202"/>
                </a:lnTo>
                <a:lnTo>
                  <a:pt x="65795" y="43379"/>
                </a:lnTo>
                <a:lnTo>
                  <a:pt x="56006" y="84079"/>
                </a:lnTo>
                <a:lnTo>
                  <a:pt x="56006" y="719382"/>
                </a:lnTo>
                <a:lnTo>
                  <a:pt x="64753" y="717859"/>
                </a:lnTo>
                <a:lnTo>
                  <a:pt x="73560" y="716763"/>
                </a:lnTo>
                <a:lnTo>
                  <a:pt x="82410" y="716102"/>
                </a:lnTo>
                <a:lnTo>
                  <a:pt x="90103" y="715909"/>
                </a:lnTo>
                <a:lnTo>
                  <a:pt x="126634" y="715909"/>
                </a:lnTo>
                <a:lnTo>
                  <a:pt x="126634" y="70324"/>
                </a:lnTo>
                <a:lnTo>
                  <a:pt x="396105" y="70325"/>
                </a:lnTo>
                <a:lnTo>
                  <a:pt x="174909" y="4220"/>
                </a:lnTo>
                <a:lnTo>
                  <a:pt x="129961" y="0"/>
                </a:lnTo>
                <a:close/>
              </a:path>
              <a:path w="1546860" h="1543050">
                <a:moveTo>
                  <a:pt x="126634" y="715909"/>
                </a:moveTo>
                <a:lnTo>
                  <a:pt x="92475" y="715909"/>
                </a:lnTo>
                <a:lnTo>
                  <a:pt x="100181" y="716102"/>
                </a:lnTo>
                <a:lnTo>
                  <a:pt x="109047" y="716763"/>
                </a:lnTo>
                <a:lnTo>
                  <a:pt x="117870" y="717859"/>
                </a:lnTo>
                <a:lnTo>
                  <a:pt x="126634" y="719382"/>
                </a:lnTo>
                <a:lnTo>
                  <a:pt x="126634" y="715909"/>
                </a:lnTo>
                <a:close/>
              </a:path>
            </a:pathLst>
          </a:custGeom>
          <a:solidFill>
            <a:srgbClr val="333333"/>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0" y="177836"/>
            <a:ext cx="18288000" cy="993219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1502" rIns="0" bIns="0" rtlCol="0">
            <a:spAutoFit/>
          </a:bodyPr>
          <a:lstStyle/>
          <a:p>
            <a:pPr marL="316865">
              <a:lnSpc>
                <a:spcPct val="100000"/>
              </a:lnSpc>
              <a:spcBef>
                <a:spcPts val="105"/>
              </a:spcBef>
            </a:pPr>
            <a:r>
              <a:rPr dirty="0"/>
              <a:t>Dashboard</a:t>
            </a:r>
            <a:r>
              <a:rPr spc="-215" dirty="0"/>
              <a:t> </a:t>
            </a:r>
            <a:r>
              <a:rPr spc="-10" dirty="0"/>
              <a:t>Visualizations</a:t>
            </a:r>
          </a:p>
        </p:txBody>
      </p:sp>
      <p:sp>
        <p:nvSpPr>
          <p:cNvPr id="3" name="object 3"/>
          <p:cNvSpPr txBox="1"/>
          <p:nvPr/>
        </p:nvSpPr>
        <p:spPr>
          <a:xfrm>
            <a:off x="2133600" y="1654509"/>
            <a:ext cx="14821535" cy="10202152"/>
          </a:xfrm>
          <a:prstGeom prst="rect">
            <a:avLst/>
          </a:prstGeom>
        </p:spPr>
        <p:txBody>
          <a:bodyPr vert="horz" wrap="square" lIns="0" tIns="227965" rIns="0" bIns="0" rtlCol="0">
            <a:spAutoFit/>
          </a:bodyPr>
          <a:lstStyle/>
          <a:p>
            <a:pPr marL="456565" indent="-443865">
              <a:lnSpc>
                <a:spcPct val="100000"/>
              </a:lnSpc>
              <a:spcBef>
                <a:spcPts val="1795"/>
              </a:spcBef>
              <a:buSzPct val="97222"/>
              <a:tabLst>
                <a:tab pos="456565" algn="l"/>
              </a:tabLst>
            </a:pPr>
            <a:r>
              <a:rPr sz="3600" b="1" dirty="0">
                <a:latin typeface="Calibri"/>
                <a:cs typeface="Calibri"/>
              </a:rPr>
              <a:t>Income</a:t>
            </a:r>
            <a:r>
              <a:rPr sz="3600" b="1" spc="-150" dirty="0">
                <a:latin typeface="Calibri"/>
                <a:cs typeface="Calibri"/>
              </a:rPr>
              <a:t> </a:t>
            </a:r>
            <a:r>
              <a:rPr sz="3600" b="1" dirty="0">
                <a:latin typeface="Calibri"/>
                <a:cs typeface="Calibri"/>
              </a:rPr>
              <a:t>Statement</a:t>
            </a:r>
            <a:r>
              <a:rPr sz="3600" b="1" spc="-125" dirty="0">
                <a:latin typeface="Calibri"/>
                <a:cs typeface="Calibri"/>
              </a:rPr>
              <a:t> </a:t>
            </a:r>
            <a:r>
              <a:rPr sz="3600" b="1" dirty="0">
                <a:latin typeface="Calibri"/>
                <a:cs typeface="Calibri"/>
              </a:rPr>
              <a:t>Analysis</a:t>
            </a:r>
            <a:r>
              <a:rPr sz="3600" b="1" spc="-145" dirty="0">
                <a:latin typeface="Calibri"/>
                <a:cs typeface="Calibri"/>
              </a:rPr>
              <a:t> </a:t>
            </a:r>
            <a:r>
              <a:rPr sz="3600" b="1" spc="-10" dirty="0" smtClean="0">
                <a:latin typeface="Calibri"/>
                <a:cs typeface="Calibri"/>
              </a:rPr>
              <a:t>Dashboard</a:t>
            </a:r>
            <a:endParaRPr lang="en-US" sz="3600" b="1" spc="-10" dirty="0" smtClean="0">
              <a:latin typeface="Calibri"/>
              <a:cs typeface="Calibri"/>
            </a:endParaRPr>
          </a:p>
          <a:p>
            <a:pPr marL="456565" indent="-443865">
              <a:lnSpc>
                <a:spcPct val="100000"/>
              </a:lnSpc>
              <a:spcBef>
                <a:spcPts val="1795"/>
              </a:spcBef>
              <a:buSzPct val="97222"/>
              <a:tabLst>
                <a:tab pos="456565" algn="l"/>
              </a:tabLst>
            </a:pPr>
            <a:r>
              <a:rPr lang="en-US" sz="3600" dirty="0" smtClean="0"/>
              <a:t>6.How does gross profit margin vary by company and year?</a:t>
            </a:r>
          </a:p>
          <a:p>
            <a:pPr marL="456565" indent="-443865">
              <a:lnSpc>
                <a:spcPct val="100000"/>
              </a:lnSpc>
              <a:spcBef>
                <a:spcPts val="1795"/>
              </a:spcBef>
              <a:buSzPct val="97222"/>
              <a:tabLst>
                <a:tab pos="456565" algn="l"/>
              </a:tabLst>
            </a:pPr>
            <a:r>
              <a:rPr lang="en-US" sz="3600" dirty="0" smtClean="0"/>
              <a:t>WMT,JPM,AAPL</a:t>
            </a:r>
          </a:p>
          <a:p>
            <a:pPr marL="456565" indent="-443865">
              <a:lnSpc>
                <a:spcPct val="100000"/>
              </a:lnSpc>
              <a:spcBef>
                <a:spcPts val="1795"/>
              </a:spcBef>
              <a:buSzPct val="97222"/>
              <a:tabLst>
                <a:tab pos="456565" algn="l"/>
              </a:tabLst>
            </a:pPr>
            <a:r>
              <a:rPr lang="en-US" sz="3600" dirty="0" smtClean="0"/>
              <a:t> 7. Which companies have the highest cost of revenue?</a:t>
            </a:r>
          </a:p>
          <a:p>
            <a:pPr marL="456565" indent="-443865">
              <a:lnSpc>
                <a:spcPct val="100000"/>
              </a:lnSpc>
              <a:spcBef>
                <a:spcPts val="1795"/>
              </a:spcBef>
              <a:buSzPct val="97222"/>
              <a:tabLst>
                <a:tab pos="456565" algn="l"/>
              </a:tabLst>
            </a:pPr>
            <a:r>
              <a:rPr lang="en-US" sz="3600" dirty="0" smtClean="0"/>
              <a:t>WMT,BP,MCK</a:t>
            </a:r>
          </a:p>
          <a:p>
            <a:pPr marL="456565" indent="-443865">
              <a:lnSpc>
                <a:spcPct val="100000"/>
              </a:lnSpc>
              <a:spcBef>
                <a:spcPts val="1795"/>
              </a:spcBef>
              <a:buSzPct val="97222"/>
              <a:tabLst>
                <a:tab pos="456565" algn="l"/>
              </a:tabLst>
            </a:pPr>
            <a:r>
              <a:rPr lang="en-US" sz="3600" dirty="0" smtClean="0"/>
              <a:t> 8. What is the operating income trend across companies?</a:t>
            </a:r>
          </a:p>
          <a:p>
            <a:pPr marL="456565" indent="-443865">
              <a:lnSpc>
                <a:spcPct val="100000"/>
              </a:lnSpc>
              <a:spcBef>
                <a:spcPts val="1795"/>
              </a:spcBef>
              <a:buSzPct val="97222"/>
              <a:tabLst>
                <a:tab pos="456565" algn="l"/>
              </a:tabLst>
            </a:pPr>
            <a:r>
              <a:rPr lang="en-US" sz="3600" dirty="0" smtClean="0"/>
              <a:t>AAPL,JPM,MSFT</a:t>
            </a:r>
          </a:p>
          <a:p>
            <a:pPr marL="456565" indent="-443865">
              <a:lnSpc>
                <a:spcPct val="100000"/>
              </a:lnSpc>
              <a:spcBef>
                <a:spcPts val="1795"/>
              </a:spcBef>
              <a:buSzPct val="97222"/>
              <a:tabLst>
                <a:tab pos="456565" algn="l"/>
              </a:tabLst>
            </a:pPr>
            <a:r>
              <a:rPr lang="en-US" sz="3600" dirty="0" smtClean="0"/>
              <a:t> 9. Which companies had a loss (negative net income) in any year?</a:t>
            </a:r>
          </a:p>
          <a:p>
            <a:pPr marL="456565" indent="-443865">
              <a:lnSpc>
                <a:spcPct val="100000"/>
              </a:lnSpc>
              <a:spcBef>
                <a:spcPts val="1795"/>
              </a:spcBef>
              <a:buSzPct val="97222"/>
              <a:tabLst>
                <a:tab pos="456565" algn="l"/>
              </a:tabLst>
            </a:pPr>
            <a:r>
              <a:rPr lang="en-US" sz="3600" dirty="0" smtClean="0"/>
              <a:t>C,MO,CVX,GM</a:t>
            </a:r>
          </a:p>
          <a:p>
            <a:pPr marL="456565" indent="-443865">
              <a:lnSpc>
                <a:spcPct val="100000"/>
              </a:lnSpc>
              <a:spcBef>
                <a:spcPts val="1795"/>
              </a:spcBef>
              <a:buSzPct val="97222"/>
              <a:tabLst>
                <a:tab pos="456565" algn="l"/>
              </a:tabLst>
            </a:pPr>
            <a:r>
              <a:rPr lang="en-US" sz="3600" dirty="0" smtClean="0"/>
              <a:t> 10. Compare revenue vs. net income trends.—Line Plot </a:t>
            </a:r>
          </a:p>
          <a:p>
            <a:pPr marL="456565" indent="-443865">
              <a:lnSpc>
                <a:spcPct val="100000"/>
              </a:lnSpc>
              <a:spcBef>
                <a:spcPts val="1795"/>
              </a:spcBef>
              <a:buSzPct val="97222"/>
              <a:tabLst>
                <a:tab pos="456565" algn="l"/>
              </a:tabLst>
            </a:pPr>
            <a:r>
              <a:rPr lang="en-US" sz="3600" dirty="0" smtClean="0"/>
              <a:t>AAPL,JPM,MSFT,GOOGLE,BAC</a:t>
            </a:r>
          </a:p>
          <a:p>
            <a:pPr marL="456565" indent="-443865">
              <a:lnSpc>
                <a:spcPct val="100000"/>
              </a:lnSpc>
              <a:spcBef>
                <a:spcPts val="1795"/>
              </a:spcBef>
              <a:buSzPct val="97222"/>
              <a:tabLst>
                <a:tab pos="456565" algn="l"/>
              </a:tabLst>
            </a:pPr>
            <a:endParaRPr lang="en-US" sz="3600" b="1" spc="-10" dirty="0" smtClean="0">
              <a:latin typeface="Calibri"/>
              <a:cs typeface="Calibri"/>
            </a:endParaRPr>
          </a:p>
          <a:p>
            <a:pPr marL="456565" indent="-443865">
              <a:lnSpc>
                <a:spcPct val="100000"/>
              </a:lnSpc>
              <a:spcBef>
                <a:spcPts val="1795"/>
              </a:spcBef>
              <a:buSzPct val="97222"/>
              <a:tabLst>
                <a:tab pos="456565" algn="l"/>
              </a:tabLst>
            </a:pPr>
            <a:endParaRPr sz="3600" dirty="0">
              <a:latin typeface="Calibri"/>
              <a:cs typeface="Calibri"/>
            </a:endParaRPr>
          </a:p>
        </p:txBody>
      </p:sp>
      <p:sp>
        <p:nvSpPr>
          <p:cNvPr id="4" name="object 4"/>
          <p:cNvSpPr/>
          <p:nvPr/>
        </p:nvSpPr>
        <p:spPr>
          <a:xfrm>
            <a:off x="1041500" y="642358"/>
            <a:ext cx="1546860" cy="1543050"/>
          </a:xfrm>
          <a:custGeom>
            <a:avLst/>
            <a:gdLst/>
            <a:ahLst/>
            <a:cxnLst/>
            <a:rect l="l" t="t" r="r" b="b"/>
            <a:pathLst>
              <a:path w="1546860" h="1543050">
                <a:moveTo>
                  <a:pt x="972261" y="511043"/>
                </a:moveTo>
                <a:lnTo>
                  <a:pt x="936795" y="518216"/>
                </a:lnTo>
                <a:lnTo>
                  <a:pt x="907796" y="537772"/>
                </a:lnTo>
                <a:lnTo>
                  <a:pt x="888224" y="566764"/>
                </a:lnTo>
                <a:lnTo>
                  <a:pt x="881043" y="602246"/>
                </a:lnTo>
                <a:lnTo>
                  <a:pt x="881043" y="1450678"/>
                </a:lnTo>
                <a:lnTo>
                  <a:pt x="888206" y="1486154"/>
                </a:lnTo>
                <a:lnTo>
                  <a:pt x="907747" y="1515126"/>
                </a:lnTo>
                <a:lnTo>
                  <a:pt x="936741" y="1534660"/>
                </a:lnTo>
                <a:lnTo>
                  <a:pt x="972261" y="1541823"/>
                </a:lnTo>
                <a:lnTo>
                  <a:pt x="972261" y="1542536"/>
                </a:lnTo>
                <a:lnTo>
                  <a:pt x="1007781" y="1535382"/>
                </a:lnTo>
                <a:lnTo>
                  <a:pt x="1036775" y="1515864"/>
                </a:lnTo>
                <a:lnTo>
                  <a:pt x="1056316" y="1486895"/>
                </a:lnTo>
                <a:lnTo>
                  <a:pt x="1063480" y="1451391"/>
                </a:lnTo>
                <a:lnTo>
                  <a:pt x="1063479" y="602246"/>
                </a:lnTo>
                <a:lnTo>
                  <a:pt x="1056303" y="566764"/>
                </a:lnTo>
                <a:lnTo>
                  <a:pt x="1036743" y="537772"/>
                </a:lnTo>
                <a:lnTo>
                  <a:pt x="1007740" y="518216"/>
                </a:lnTo>
                <a:lnTo>
                  <a:pt x="972261" y="511043"/>
                </a:lnTo>
                <a:close/>
              </a:path>
              <a:path w="1546860" h="1543050">
                <a:moveTo>
                  <a:pt x="678589" y="611983"/>
                </a:moveTo>
                <a:lnTo>
                  <a:pt x="643110" y="619146"/>
                </a:lnTo>
                <a:lnTo>
                  <a:pt x="614108" y="638680"/>
                </a:lnTo>
                <a:lnTo>
                  <a:pt x="594547" y="667650"/>
                </a:lnTo>
                <a:lnTo>
                  <a:pt x="587371" y="703122"/>
                </a:lnTo>
                <a:lnTo>
                  <a:pt x="587371" y="1349622"/>
                </a:lnTo>
                <a:lnTo>
                  <a:pt x="594535" y="1385098"/>
                </a:lnTo>
                <a:lnTo>
                  <a:pt x="614076" y="1414070"/>
                </a:lnTo>
                <a:lnTo>
                  <a:pt x="643069" y="1433604"/>
                </a:lnTo>
                <a:lnTo>
                  <a:pt x="678564" y="1440762"/>
                </a:lnTo>
                <a:lnTo>
                  <a:pt x="677976" y="1440762"/>
                </a:lnTo>
                <a:lnTo>
                  <a:pt x="713516" y="1433604"/>
                </a:lnTo>
                <a:lnTo>
                  <a:pt x="713932" y="1433604"/>
                </a:lnTo>
                <a:lnTo>
                  <a:pt x="742948" y="1414070"/>
                </a:lnTo>
                <a:lnTo>
                  <a:pt x="767425" y="1361300"/>
                </a:lnTo>
                <a:lnTo>
                  <a:pt x="769808" y="703122"/>
                </a:lnTo>
                <a:lnTo>
                  <a:pt x="762626" y="667650"/>
                </a:lnTo>
                <a:lnTo>
                  <a:pt x="743055" y="638680"/>
                </a:lnTo>
                <a:lnTo>
                  <a:pt x="714055" y="619146"/>
                </a:lnTo>
                <a:lnTo>
                  <a:pt x="678589" y="611983"/>
                </a:lnTo>
                <a:close/>
              </a:path>
              <a:path w="1546860" h="1543050">
                <a:moveTo>
                  <a:pt x="1154762" y="1247724"/>
                </a:moveTo>
                <a:lnTo>
                  <a:pt x="1154762" y="1321249"/>
                </a:lnTo>
                <a:lnTo>
                  <a:pt x="1427676" y="1403065"/>
                </a:lnTo>
                <a:lnTo>
                  <a:pt x="1460360" y="1408052"/>
                </a:lnTo>
                <a:lnTo>
                  <a:pt x="1492625" y="1403065"/>
                </a:lnTo>
                <a:lnTo>
                  <a:pt x="1519733" y="1386623"/>
                </a:lnTo>
                <a:lnTo>
                  <a:pt x="1538586" y="1361301"/>
                </a:lnTo>
                <a:lnTo>
                  <a:pt x="1544573" y="1337378"/>
                </a:lnTo>
                <a:lnTo>
                  <a:pt x="1456822" y="1337378"/>
                </a:lnTo>
                <a:lnTo>
                  <a:pt x="1452592" y="1336694"/>
                </a:lnTo>
                <a:lnTo>
                  <a:pt x="1448595" y="1335370"/>
                </a:lnTo>
                <a:lnTo>
                  <a:pt x="1154762" y="1247724"/>
                </a:lnTo>
                <a:close/>
              </a:path>
              <a:path w="1546860" h="1543050">
                <a:moveTo>
                  <a:pt x="384918" y="708745"/>
                </a:moveTo>
                <a:lnTo>
                  <a:pt x="349367" y="715909"/>
                </a:lnTo>
                <a:lnTo>
                  <a:pt x="320366" y="735447"/>
                </a:lnTo>
                <a:lnTo>
                  <a:pt x="300837" y="764426"/>
                </a:lnTo>
                <a:lnTo>
                  <a:pt x="293680" y="799916"/>
                </a:lnTo>
                <a:lnTo>
                  <a:pt x="293680" y="1253360"/>
                </a:lnTo>
                <a:lnTo>
                  <a:pt x="320418" y="1317832"/>
                </a:lnTo>
                <a:lnTo>
                  <a:pt x="384918" y="1344506"/>
                </a:lnTo>
                <a:lnTo>
                  <a:pt x="420289" y="1337378"/>
                </a:lnTo>
                <a:lnTo>
                  <a:pt x="421399" y="1336693"/>
                </a:lnTo>
                <a:lnTo>
                  <a:pt x="449439" y="1317832"/>
                </a:lnTo>
                <a:lnTo>
                  <a:pt x="469018" y="1288863"/>
                </a:lnTo>
                <a:lnTo>
                  <a:pt x="476201" y="1253360"/>
                </a:lnTo>
                <a:lnTo>
                  <a:pt x="476201" y="799916"/>
                </a:lnTo>
                <a:lnTo>
                  <a:pt x="469027" y="764426"/>
                </a:lnTo>
                <a:lnTo>
                  <a:pt x="449464" y="735447"/>
                </a:lnTo>
                <a:lnTo>
                  <a:pt x="420448" y="715909"/>
                </a:lnTo>
                <a:lnTo>
                  <a:pt x="384918" y="708745"/>
                </a:lnTo>
                <a:close/>
              </a:path>
              <a:path w="1546860" h="1543050">
                <a:moveTo>
                  <a:pt x="396105" y="70325"/>
                </a:moveTo>
                <a:lnTo>
                  <a:pt x="146464" y="70324"/>
                </a:lnTo>
                <a:lnTo>
                  <a:pt x="150670" y="70999"/>
                </a:lnTo>
                <a:lnTo>
                  <a:pt x="154702" y="72285"/>
                </a:lnTo>
                <a:lnTo>
                  <a:pt x="1428385" y="452940"/>
                </a:lnTo>
                <a:lnTo>
                  <a:pt x="1462878" y="476709"/>
                </a:lnTo>
                <a:lnTo>
                  <a:pt x="1476605" y="1337378"/>
                </a:lnTo>
                <a:lnTo>
                  <a:pt x="1544573" y="1337378"/>
                </a:lnTo>
                <a:lnTo>
                  <a:pt x="1546518" y="1329604"/>
                </a:lnTo>
                <a:lnTo>
                  <a:pt x="1546582" y="508215"/>
                </a:lnTo>
                <a:lnTo>
                  <a:pt x="1538943" y="468946"/>
                </a:lnTo>
                <a:lnTo>
                  <a:pt x="1517980" y="432795"/>
                </a:lnTo>
                <a:lnTo>
                  <a:pt x="1486628" y="403447"/>
                </a:lnTo>
                <a:lnTo>
                  <a:pt x="1448063" y="384704"/>
                </a:lnTo>
                <a:lnTo>
                  <a:pt x="396105" y="70325"/>
                </a:lnTo>
                <a:close/>
              </a:path>
              <a:path w="1546860" h="1543050">
                <a:moveTo>
                  <a:pt x="91223" y="807018"/>
                </a:moveTo>
                <a:lnTo>
                  <a:pt x="55284" y="814277"/>
                </a:lnTo>
                <a:lnTo>
                  <a:pt x="55613" y="814277"/>
                </a:lnTo>
                <a:lnTo>
                  <a:pt x="26680" y="833824"/>
                </a:lnTo>
                <a:lnTo>
                  <a:pt x="7168" y="862753"/>
                </a:lnTo>
                <a:lnTo>
                  <a:pt x="0" y="898157"/>
                </a:lnTo>
                <a:lnTo>
                  <a:pt x="13" y="1154959"/>
                </a:lnTo>
                <a:lnTo>
                  <a:pt x="7215" y="1190431"/>
                </a:lnTo>
                <a:lnTo>
                  <a:pt x="26823" y="1219403"/>
                </a:lnTo>
                <a:lnTo>
                  <a:pt x="55821" y="1238939"/>
                </a:lnTo>
                <a:lnTo>
                  <a:pt x="56044" y="1238939"/>
                </a:lnTo>
                <a:lnTo>
                  <a:pt x="91529" y="1246101"/>
                </a:lnTo>
                <a:lnTo>
                  <a:pt x="91236" y="1246101"/>
                </a:lnTo>
                <a:lnTo>
                  <a:pt x="126730" y="1238939"/>
                </a:lnTo>
                <a:lnTo>
                  <a:pt x="155749" y="1219403"/>
                </a:lnTo>
                <a:lnTo>
                  <a:pt x="175327" y="1190431"/>
                </a:lnTo>
                <a:lnTo>
                  <a:pt x="182510" y="1154959"/>
                </a:lnTo>
                <a:lnTo>
                  <a:pt x="182509" y="898157"/>
                </a:lnTo>
                <a:lnTo>
                  <a:pt x="175288" y="862753"/>
                </a:lnTo>
                <a:lnTo>
                  <a:pt x="155724" y="833824"/>
                </a:lnTo>
                <a:lnTo>
                  <a:pt x="126731" y="814277"/>
                </a:lnTo>
                <a:lnTo>
                  <a:pt x="91223" y="807018"/>
                </a:lnTo>
                <a:close/>
              </a:path>
              <a:path w="1546860" h="1543050">
                <a:moveTo>
                  <a:pt x="129961" y="0"/>
                </a:moveTo>
                <a:lnTo>
                  <a:pt x="92018" y="14202"/>
                </a:lnTo>
                <a:lnTo>
                  <a:pt x="65795" y="43379"/>
                </a:lnTo>
                <a:lnTo>
                  <a:pt x="56006" y="84079"/>
                </a:lnTo>
                <a:lnTo>
                  <a:pt x="56006" y="719382"/>
                </a:lnTo>
                <a:lnTo>
                  <a:pt x="64753" y="717859"/>
                </a:lnTo>
                <a:lnTo>
                  <a:pt x="73560" y="716763"/>
                </a:lnTo>
                <a:lnTo>
                  <a:pt x="82410" y="716102"/>
                </a:lnTo>
                <a:lnTo>
                  <a:pt x="90103" y="715909"/>
                </a:lnTo>
                <a:lnTo>
                  <a:pt x="126634" y="715909"/>
                </a:lnTo>
                <a:lnTo>
                  <a:pt x="126634" y="70324"/>
                </a:lnTo>
                <a:lnTo>
                  <a:pt x="396105" y="70325"/>
                </a:lnTo>
                <a:lnTo>
                  <a:pt x="174909" y="4220"/>
                </a:lnTo>
                <a:lnTo>
                  <a:pt x="129961" y="0"/>
                </a:lnTo>
                <a:close/>
              </a:path>
              <a:path w="1546860" h="1543050">
                <a:moveTo>
                  <a:pt x="126634" y="715909"/>
                </a:moveTo>
                <a:lnTo>
                  <a:pt x="92475" y="715909"/>
                </a:lnTo>
                <a:lnTo>
                  <a:pt x="100181" y="716102"/>
                </a:lnTo>
                <a:lnTo>
                  <a:pt x="109047" y="716763"/>
                </a:lnTo>
                <a:lnTo>
                  <a:pt x="117870" y="717859"/>
                </a:lnTo>
                <a:lnTo>
                  <a:pt x="126634" y="719382"/>
                </a:lnTo>
                <a:lnTo>
                  <a:pt x="126634" y="715909"/>
                </a:lnTo>
                <a:close/>
              </a:path>
            </a:pathLst>
          </a:custGeom>
          <a:solidFill>
            <a:srgbClr val="333333"/>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p:nvPr/>
        </p:nvSpPr>
        <p:spPr>
          <a:xfrm>
            <a:off x="271986" y="178761"/>
            <a:ext cx="233045" cy="513715"/>
          </a:xfrm>
          <a:prstGeom prst="rect">
            <a:avLst/>
          </a:prstGeom>
        </p:spPr>
        <p:txBody>
          <a:bodyPr vert="horz" wrap="square" lIns="0" tIns="12700" rIns="0" bIns="0" rtlCol="0">
            <a:spAutoFit/>
          </a:bodyPr>
          <a:lstStyle/>
          <a:p>
            <a:pPr marL="12700">
              <a:lnSpc>
                <a:spcPct val="100000"/>
              </a:lnSpc>
              <a:spcBef>
                <a:spcPts val="100"/>
              </a:spcBef>
            </a:pPr>
            <a:r>
              <a:rPr sz="3200" spc="-50" dirty="0">
                <a:solidFill>
                  <a:srgbClr val="EDEDED"/>
                </a:solidFill>
                <a:latin typeface="Lucida Sans Unicode"/>
                <a:cs typeface="Lucida Sans Unicode"/>
              </a:rPr>
              <a:t>ś</a:t>
            </a:r>
            <a:endParaRPr sz="3200">
              <a:latin typeface="Lucida Sans Unicode"/>
              <a:cs typeface="Lucida Sans Unicode"/>
            </a:endParaRPr>
          </a:p>
        </p:txBody>
      </p:sp>
      <p:sp>
        <p:nvSpPr>
          <p:cNvPr id="13" name="object 13"/>
          <p:cNvSpPr txBox="1">
            <a:spLocks noGrp="1"/>
          </p:cNvSpPr>
          <p:nvPr>
            <p:ph type="title"/>
          </p:nvPr>
        </p:nvSpPr>
        <p:spPr>
          <a:xfrm>
            <a:off x="1727075" y="178761"/>
            <a:ext cx="7378700" cy="513715"/>
          </a:xfrm>
          <a:prstGeom prst="rect">
            <a:avLst/>
          </a:prstGeom>
        </p:spPr>
        <p:txBody>
          <a:bodyPr vert="horz" wrap="square" lIns="0" tIns="12700" rIns="0" bIns="0" rtlCol="0">
            <a:spAutoFit/>
          </a:bodyPr>
          <a:lstStyle/>
          <a:p>
            <a:pPr marL="12700">
              <a:lnSpc>
                <a:spcPct val="100000"/>
              </a:lnSpc>
              <a:spcBef>
                <a:spcPts val="100"/>
              </a:spcBef>
            </a:pPr>
            <a:r>
              <a:rPr sz="3200" b="0" spc="140" dirty="0">
                <a:solidFill>
                  <a:srgbClr val="FFFFFF"/>
                </a:solidFill>
                <a:latin typeface="Lucida Sans Unicode"/>
                <a:cs typeface="Lucida Sans Unicode"/>
              </a:rPr>
              <a:t>încome</a:t>
            </a:r>
            <a:r>
              <a:rPr sz="3200" b="0" spc="-70" dirty="0">
                <a:solidFill>
                  <a:srgbClr val="FFFFFF"/>
                </a:solidFill>
                <a:latin typeface="Lucida Sans Unicode"/>
                <a:cs typeface="Lucida Sans Unicode"/>
              </a:rPr>
              <a:t> </a:t>
            </a:r>
            <a:r>
              <a:rPr sz="3200" b="0" spc="185" dirty="0">
                <a:solidFill>
                  <a:srgbClr val="FFFFFF"/>
                </a:solidFill>
                <a:latin typeface="Lucida Sans Unicode"/>
                <a:cs typeface="Lucida Sans Unicode"/>
              </a:rPr>
              <a:t>Statement</a:t>
            </a:r>
            <a:r>
              <a:rPr sz="3200" b="0" spc="220" dirty="0">
                <a:solidFill>
                  <a:srgbClr val="FFFFFF"/>
                </a:solidFill>
                <a:latin typeface="Lucida Sans Unicode"/>
                <a:cs typeface="Lucida Sans Unicode"/>
              </a:rPr>
              <a:t> </a:t>
            </a:r>
            <a:r>
              <a:rPr sz="3200" b="0" spc="90" dirty="0">
                <a:solidFill>
                  <a:srgbClr val="FFFFFF"/>
                </a:solidFill>
                <a:latin typeface="Lucida Sans Unicode"/>
                <a:cs typeface="Lucida Sans Unicode"/>
              </a:rPr>
              <a:t>Analysis</a:t>
            </a:r>
            <a:r>
              <a:rPr sz="3200" b="0" spc="135" dirty="0">
                <a:solidFill>
                  <a:srgbClr val="FFFFFF"/>
                </a:solidFill>
                <a:latin typeface="Lucida Sans Unicode"/>
                <a:cs typeface="Lucida Sans Unicode"/>
              </a:rPr>
              <a:t> </a:t>
            </a:r>
            <a:r>
              <a:rPr sz="3200" b="0" spc="105" dirty="0">
                <a:solidFill>
                  <a:srgbClr val="FFFFFF"/>
                </a:solidFill>
                <a:latin typeface="Lucida Sans Unicode"/>
                <a:cs typeface="Lucida Sans Unicode"/>
              </a:rPr>
              <a:t>Design</a:t>
            </a:r>
            <a:endParaRPr sz="3200">
              <a:latin typeface="Lucida Sans Unicode"/>
              <a:cs typeface="Lucida Sans Unicode"/>
            </a:endParaRPr>
          </a:p>
        </p:txBody>
      </p:sp>
      <p:sp>
        <p:nvSpPr>
          <p:cNvPr id="14" name="object 14"/>
          <p:cNvSpPr txBox="1"/>
          <p:nvPr/>
        </p:nvSpPr>
        <p:spPr>
          <a:xfrm>
            <a:off x="11403553" y="178761"/>
            <a:ext cx="57150" cy="513715"/>
          </a:xfrm>
          <a:prstGeom prst="rect">
            <a:avLst/>
          </a:prstGeom>
        </p:spPr>
        <p:txBody>
          <a:bodyPr vert="horz" wrap="square" lIns="0" tIns="12700" rIns="0" bIns="0" rtlCol="0">
            <a:spAutoFit/>
          </a:bodyPr>
          <a:lstStyle/>
          <a:p>
            <a:pPr marL="12700">
              <a:lnSpc>
                <a:spcPct val="100000"/>
              </a:lnSpc>
              <a:spcBef>
                <a:spcPts val="100"/>
              </a:spcBef>
            </a:pPr>
            <a:r>
              <a:rPr sz="3200" spc="-545" dirty="0">
                <a:solidFill>
                  <a:srgbClr val="FFFFFF"/>
                </a:solidFill>
                <a:latin typeface="Lucida Sans Unicode"/>
                <a:cs typeface="Lucida Sans Unicode"/>
              </a:rPr>
              <a:t>'</a:t>
            </a:r>
            <a:endParaRPr sz="3200">
              <a:latin typeface="Lucida Sans Unicode"/>
              <a:cs typeface="Lucida Sans Unicode"/>
            </a:endParaRPr>
          </a:p>
        </p:txBody>
      </p:sp>
      <p:sp>
        <p:nvSpPr>
          <p:cNvPr id="15" name="object 15"/>
          <p:cNvSpPr txBox="1"/>
          <p:nvPr/>
        </p:nvSpPr>
        <p:spPr>
          <a:xfrm>
            <a:off x="12277418" y="178761"/>
            <a:ext cx="129539" cy="513715"/>
          </a:xfrm>
          <a:prstGeom prst="rect">
            <a:avLst/>
          </a:prstGeom>
        </p:spPr>
        <p:txBody>
          <a:bodyPr vert="horz" wrap="square" lIns="0" tIns="12700" rIns="0" bIns="0" rtlCol="0">
            <a:spAutoFit/>
          </a:bodyPr>
          <a:lstStyle/>
          <a:p>
            <a:pPr marL="12700">
              <a:lnSpc>
                <a:spcPct val="100000"/>
              </a:lnSpc>
              <a:spcBef>
                <a:spcPts val="100"/>
              </a:spcBef>
            </a:pPr>
            <a:r>
              <a:rPr sz="3200" spc="-50" dirty="0">
                <a:solidFill>
                  <a:srgbClr val="FFFFFF"/>
                </a:solidFill>
                <a:latin typeface="Lucida Sans Unicode"/>
                <a:cs typeface="Lucida Sans Unicode"/>
              </a:rPr>
              <a:t>°</a:t>
            </a:r>
            <a:endParaRPr sz="3200">
              <a:latin typeface="Lucida Sans Unicode"/>
              <a:cs typeface="Lucida Sans Unicode"/>
            </a:endParaRPr>
          </a:p>
        </p:txBody>
      </p:sp>
      <p:sp>
        <p:nvSpPr>
          <p:cNvPr id="18" name="object 18"/>
          <p:cNvSpPr txBox="1"/>
          <p:nvPr/>
        </p:nvSpPr>
        <p:spPr>
          <a:xfrm>
            <a:off x="6973865" y="3857735"/>
            <a:ext cx="1446530" cy="327025"/>
          </a:xfrm>
          <a:prstGeom prst="rect">
            <a:avLst/>
          </a:prstGeom>
        </p:spPr>
        <p:txBody>
          <a:bodyPr vert="horz" wrap="square" lIns="0" tIns="15875" rIns="0" bIns="0" rtlCol="0">
            <a:spAutoFit/>
          </a:bodyPr>
          <a:lstStyle/>
          <a:p>
            <a:pPr marL="12700">
              <a:lnSpc>
                <a:spcPct val="100000"/>
              </a:lnSpc>
              <a:spcBef>
                <a:spcPts val="125"/>
              </a:spcBef>
            </a:pPr>
            <a:r>
              <a:rPr sz="1950" spc="-25" dirty="0">
                <a:solidFill>
                  <a:srgbClr val="FFFFFF"/>
                </a:solidFill>
                <a:latin typeface="Lucida Sans Unicode"/>
                <a:cs typeface="Lucida Sans Unicode"/>
              </a:rPr>
              <a:t>OpeuT</a:t>
            </a:r>
            <a:r>
              <a:rPr sz="1950" spc="-385" dirty="0">
                <a:solidFill>
                  <a:srgbClr val="FFFFFF"/>
                </a:solidFill>
                <a:latin typeface="Lucida Sans Unicode"/>
                <a:cs typeface="Lucida Sans Unicode"/>
              </a:rPr>
              <a:t> </a:t>
            </a:r>
            <a:r>
              <a:rPr sz="1950" dirty="0">
                <a:solidFill>
                  <a:srgbClr val="FFFFFF"/>
                </a:solidFill>
                <a:latin typeface="Lucida Sans Unicode"/>
                <a:cs typeface="Lucida Sans Unicode"/>
              </a:rPr>
              <a:t>ing</a:t>
            </a:r>
            <a:r>
              <a:rPr sz="1950" spc="-15" dirty="0">
                <a:solidFill>
                  <a:srgbClr val="FFFFFF"/>
                </a:solidFill>
                <a:latin typeface="Lucida Sans Unicode"/>
                <a:cs typeface="Lucida Sans Unicode"/>
              </a:rPr>
              <a:t> </a:t>
            </a:r>
            <a:r>
              <a:rPr sz="1950" spc="-1070" dirty="0">
                <a:solidFill>
                  <a:srgbClr val="FFFFFF"/>
                </a:solidFill>
                <a:latin typeface="Lucida Sans Unicode"/>
                <a:cs typeface="Lucida Sans Unicode"/>
              </a:rPr>
              <a:t>Tmo</a:t>
            </a:r>
            <a:endParaRPr sz="1950">
              <a:latin typeface="Lucida Sans Unicode"/>
              <a:cs typeface="Lucida Sans Unicode"/>
            </a:endParaRPr>
          </a:p>
        </p:txBody>
      </p:sp>
      <p:sp>
        <p:nvSpPr>
          <p:cNvPr id="23" name="object 23"/>
          <p:cNvSpPr txBox="1"/>
          <p:nvPr/>
        </p:nvSpPr>
        <p:spPr>
          <a:xfrm>
            <a:off x="3239094" y="7031914"/>
            <a:ext cx="3806825" cy="327025"/>
          </a:xfrm>
          <a:prstGeom prst="rect">
            <a:avLst/>
          </a:prstGeom>
        </p:spPr>
        <p:txBody>
          <a:bodyPr vert="horz" wrap="square" lIns="0" tIns="15875" rIns="0" bIns="0" rtlCol="0">
            <a:spAutoFit/>
          </a:bodyPr>
          <a:lstStyle/>
          <a:p>
            <a:pPr marL="12700">
              <a:lnSpc>
                <a:spcPct val="100000"/>
              </a:lnSpc>
              <a:spcBef>
                <a:spcPts val="125"/>
              </a:spcBef>
            </a:pPr>
            <a:r>
              <a:rPr sz="1950" dirty="0">
                <a:solidFill>
                  <a:srgbClr val="FFFFFF"/>
                </a:solidFill>
                <a:latin typeface="Lucida Sans Unicode"/>
                <a:cs typeface="Lucida Sans Unicode"/>
              </a:rPr>
              <a:t>Revenue</a:t>
            </a:r>
            <a:r>
              <a:rPr sz="1950" spc="275" dirty="0">
                <a:solidFill>
                  <a:srgbClr val="FFFFFF"/>
                </a:solidFill>
                <a:latin typeface="Lucida Sans Unicode"/>
                <a:cs typeface="Lucida Sans Unicode"/>
              </a:rPr>
              <a:t> </a:t>
            </a:r>
            <a:r>
              <a:rPr sz="1950" dirty="0">
                <a:solidFill>
                  <a:srgbClr val="FFFFFF"/>
                </a:solidFill>
                <a:latin typeface="Lucida Sans Unicode"/>
                <a:cs typeface="Lucida Sans Unicode"/>
              </a:rPr>
              <a:t>vs</a:t>
            </a:r>
            <a:r>
              <a:rPr sz="1950" spc="60" dirty="0">
                <a:solidFill>
                  <a:srgbClr val="FFFFFF"/>
                </a:solidFill>
                <a:latin typeface="Lucida Sans Unicode"/>
                <a:cs typeface="Lucida Sans Unicode"/>
              </a:rPr>
              <a:t> </a:t>
            </a:r>
            <a:r>
              <a:rPr sz="1950" dirty="0">
                <a:solidFill>
                  <a:srgbClr val="FFFFFF"/>
                </a:solidFill>
                <a:latin typeface="Lucida Sans Unicode"/>
                <a:cs typeface="Lucida Sans Unicode"/>
              </a:rPr>
              <a:t>Net</a:t>
            </a:r>
            <a:r>
              <a:rPr sz="1950" spc="50" dirty="0">
                <a:solidFill>
                  <a:srgbClr val="FFFFFF"/>
                </a:solidFill>
                <a:latin typeface="Lucida Sans Unicode"/>
                <a:cs typeface="Lucida Sans Unicode"/>
              </a:rPr>
              <a:t> </a:t>
            </a:r>
            <a:r>
              <a:rPr sz="1950" dirty="0">
                <a:solidFill>
                  <a:srgbClr val="FFFFFF"/>
                </a:solidFill>
                <a:latin typeface="Lucida Sans Unicode"/>
                <a:cs typeface="Lucida Sans Unicode"/>
              </a:rPr>
              <a:t>Income</a:t>
            </a:r>
            <a:r>
              <a:rPr sz="1950" spc="125" dirty="0">
                <a:solidFill>
                  <a:srgbClr val="FFFFFF"/>
                </a:solidFill>
                <a:latin typeface="Lucida Sans Unicode"/>
                <a:cs typeface="Lucida Sans Unicode"/>
              </a:rPr>
              <a:t> </a:t>
            </a:r>
            <a:r>
              <a:rPr sz="1950" spc="-10" dirty="0">
                <a:solidFill>
                  <a:srgbClr val="FFFFFF"/>
                </a:solidFill>
                <a:latin typeface="Lucida Sans Unicode"/>
                <a:cs typeface="Lucida Sans Unicode"/>
              </a:rPr>
              <a:t>Trends</a:t>
            </a:r>
            <a:endParaRPr sz="1950">
              <a:latin typeface="Lucida Sans Unicode"/>
              <a:cs typeface="Lucida Sans Unicode"/>
            </a:endParaRPr>
          </a:p>
        </p:txBody>
      </p:sp>
      <p:pic>
        <p:nvPicPr>
          <p:cNvPr id="3074" name="Picture 2"/>
          <p:cNvPicPr>
            <a:picLocks noChangeAspect="1" noChangeArrowheads="1"/>
          </p:cNvPicPr>
          <p:nvPr/>
        </p:nvPicPr>
        <p:blipFill>
          <a:blip r:embed="rId2" cstate="print"/>
          <a:srcRect/>
          <a:stretch>
            <a:fillRect/>
          </a:stretch>
        </p:blipFill>
        <p:spPr bwMode="auto">
          <a:xfrm>
            <a:off x="-378992" y="0"/>
            <a:ext cx="18666991" cy="1008314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1502" rIns="0" bIns="0" rtlCol="0">
            <a:spAutoFit/>
          </a:bodyPr>
          <a:lstStyle/>
          <a:p>
            <a:pPr marL="316865">
              <a:lnSpc>
                <a:spcPct val="100000"/>
              </a:lnSpc>
              <a:spcBef>
                <a:spcPts val="105"/>
              </a:spcBef>
            </a:pPr>
            <a:r>
              <a:rPr dirty="0"/>
              <a:t>Dashboard</a:t>
            </a:r>
            <a:r>
              <a:rPr spc="-215" dirty="0"/>
              <a:t> </a:t>
            </a:r>
            <a:r>
              <a:rPr spc="-10" dirty="0"/>
              <a:t>Visualizations</a:t>
            </a:r>
          </a:p>
        </p:txBody>
      </p:sp>
      <p:sp>
        <p:nvSpPr>
          <p:cNvPr id="3" name="object 3"/>
          <p:cNvSpPr txBox="1"/>
          <p:nvPr/>
        </p:nvSpPr>
        <p:spPr>
          <a:xfrm>
            <a:off x="1599564" y="2321596"/>
            <a:ext cx="15568294" cy="7024359"/>
          </a:xfrm>
          <a:prstGeom prst="rect">
            <a:avLst/>
          </a:prstGeom>
        </p:spPr>
        <p:txBody>
          <a:bodyPr vert="horz" wrap="square" lIns="0" tIns="227965" rIns="0" bIns="0" rtlCol="0">
            <a:spAutoFit/>
          </a:bodyPr>
          <a:lstStyle/>
          <a:p>
            <a:pPr marL="456565" indent="-443865">
              <a:lnSpc>
                <a:spcPct val="100000"/>
              </a:lnSpc>
              <a:spcBef>
                <a:spcPts val="1795"/>
              </a:spcBef>
              <a:buSzPct val="97222"/>
              <a:buFont typeface="Times New Roman"/>
              <a:buAutoNum type="arabicPeriod" startAt="3"/>
              <a:tabLst>
                <a:tab pos="456565" algn="l"/>
              </a:tabLst>
            </a:pPr>
            <a:r>
              <a:rPr sz="3600" b="1" dirty="0">
                <a:latin typeface="Calibri"/>
                <a:cs typeface="Calibri"/>
              </a:rPr>
              <a:t>Cash</a:t>
            </a:r>
            <a:r>
              <a:rPr sz="3600" b="1" spc="-75" dirty="0">
                <a:latin typeface="Calibri"/>
                <a:cs typeface="Calibri"/>
              </a:rPr>
              <a:t> </a:t>
            </a:r>
            <a:r>
              <a:rPr sz="3600" b="1" dirty="0">
                <a:latin typeface="Calibri"/>
                <a:cs typeface="Calibri"/>
              </a:rPr>
              <a:t>Flow</a:t>
            </a:r>
            <a:r>
              <a:rPr sz="3600" b="1" spc="-65" dirty="0">
                <a:latin typeface="Calibri"/>
                <a:cs typeface="Calibri"/>
              </a:rPr>
              <a:t> </a:t>
            </a:r>
            <a:r>
              <a:rPr sz="3600" b="1" dirty="0">
                <a:latin typeface="Calibri"/>
                <a:cs typeface="Calibri"/>
              </a:rPr>
              <a:t>Analysis</a:t>
            </a:r>
            <a:r>
              <a:rPr sz="3600" b="1" spc="-85" dirty="0">
                <a:latin typeface="Calibri"/>
                <a:cs typeface="Calibri"/>
              </a:rPr>
              <a:t> </a:t>
            </a:r>
            <a:r>
              <a:rPr sz="3600" b="1" spc="-10" dirty="0">
                <a:latin typeface="Calibri"/>
                <a:cs typeface="Calibri"/>
              </a:rPr>
              <a:t>Dashboard</a:t>
            </a:r>
            <a:endParaRPr sz="3600" dirty="0">
              <a:latin typeface="Calibri"/>
              <a:cs typeface="Calibri"/>
            </a:endParaRPr>
          </a:p>
          <a:p>
            <a:pPr marL="617220" lvl="1" indent="-302260">
              <a:lnSpc>
                <a:spcPct val="100000"/>
              </a:lnSpc>
              <a:spcBef>
                <a:spcPts val="1335"/>
              </a:spcBef>
              <a:tabLst>
                <a:tab pos="617220" algn="l"/>
              </a:tabLst>
            </a:pPr>
            <a:r>
              <a:rPr lang="en-US" sz="2750" dirty="0" smtClean="0">
                <a:latin typeface="Times New Roman"/>
                <a:cs typeface="Times New Roman"/>
              </a:rPr>
              <a:t>11</a:t>
            </a:r>
            <a:r>
              <a:rPr lang="en-US" sz="2800" dirty="0" smtClean="0"/>
              <a:t>. What are the top companies by cash flow from operations? –AAPL,ALPHABET,GOOGLE,MSFT</a:t>
            </a:r>
          </a:p>
          <a:p>
            <a:pPr marL="617220" lvl="1" indent="-302260">
              <a:lnSpc>
                <a:spcPct val="100000"/>
              </a:lnSpc>
              <a:spcBef>
                <a:spcPts val="1335"/>
              </a:spcBef>
              <a:tabLst>
                <a:tab pos="617220" algn="l"/>
              </a:tabLst>
            </a:pPr>
            <a:r>
              <a:rPr lang="en-US" sz="2800" dirty="0" smtClean="0"/>
              <a:t>12. How do capital expenditures trend over time for each company? </a:t>
            </a:r>
          </a:p>
          <a:p>
            <a:pPr marL="617220" lvl="1" indent="-302260">
              <a:lnSpc>
                <a:spcPct val="100000"/>
              </a:lnSpc>
              <a:spcBef>
                <a:spcPts val="1335"/>
              </a:spcBef>
              <a:tabLst>
                <a:tab pos="617220" algn="l"/>
              </a:tabLst>
            </a:pPr>
            <a:r>
              <a:rPr lang="en-US" sz="2800" dirty="0" smtClean="0"/>
              <a:t>MINDA AUTOMOTIVES</a:t>
            </a:r>
          </a:p>
          <a:p>
            <a:pPr marL="617220" lvl="1" indent="-302260">
              <a:lnSpc>
                <a:spcPct val="100000"/>
              </a:lnSpc>
              <a:spcBef>
                <a:spcPts val="1335"/>
              </a:spcBef>
              <a:tabLst>
                <a:tab pos="617220" algn="l"/>
              </a:tabLst>
            </a:pPr>
            <a:r>
              <a:rPr lang="en-US" sz="2800" dirty="0" smtClean="0"/>
              <a:t>13. Which companies have a negative free cash flow? </a:t>
            </a:r>
          </a:p>
          <a:p>
            <a:pPr marL="617220" lvl="1" indent="-302260">
              <a:lnSpc>
                <a:spcPct val="100000"/>
              </a:lnSpc>
              <a:spcBef>
                <a:spcPts val="1335"/>
              </a:spcBef>
              <a:tabLst>
                <a:tab pos="617220" algn="l"/>
              </a:tabLst>
            </a:pPr>
            <a:r>
              <a:rPr lang="en-US" sz="2800" dirty="0" smtClean="0"/>
              <a:t>FBC,UBS,HSBC,ADM(Mostly Finance Co.)</a:t>
            </a:r>
          </a:p>
          <a:p>
            <a:pPr marL="617220" lvl="1" indent="-302260">
              <a:lnSpc>
                <a:spcPct val="100000"/>
              </a:lnSpc>
              <a:spcBef>
                <a:spcPts val="1335"/>
              </a:spcBef>
              <a:tabLst>
                <a:tab pos="617220" algn="l"/>
              </a:tabLst>
            </a:pPr>
            <a:r>
              <a:rPr lang="en-US" sz="2800" dirty="0" smtClean="0"/>
              <a:t>14. How do operating, investing, and financing cash flows differ across companies and over time? </a:t>
            </a:r>
          </a:p>
          <a:p>
            <a:pPr marL="617220" lvl="1" indent="-302260">
              <a:lnSpc>
                <a:spcPct val="100000"/>
              </a:lnSpc>
              <a:spcBef>
                <a:spcPts val="1335"/>
              </a:spcBef>
              <a:tabLst>
                <a:tab pos="617220" algn="l"/>
              </a:tabLst>
            </a:pPr>
            <a:r>
              <a:rPr lang="en-US" sz="2800" dirty="0" smtClean="0"/>
              <a:t>GE,AAPL,ORCL(Line Plot)</a:t>
            </a:r>
          </a:p>
          <a:p>
            <a:pPr marL="617220" lvl="1" indent="-302260">
              <a:lnSpc>
                <a:spcPct val="100000"/>
              </a:lnSpc>
              <a:spcBef>
                <a:spcPts val="1335"/>
              </a:spcBef>
              <a:tabLst>
                <a:tab pos="617220" algn="l"/>
              </a:tabLst>
            </a:pPr>
            <a:r>
              <a:rPr lang="en-US" sz="2800" dirty="0" smtClean="0"/>
              <a:t>15. Highlight companies with increasing cash flow from financing.</a:t>
            </a:r>
          </a:p>
          <a:p>
            <a:pPr marL="617220" lvl="1" indent="-302260">
              <a:lnSpc>
                <a:spcPct val="100000"/>
              </a:lnSpc>
              <a:spcBef>
                <a:spcPts val="1335"/>
              </a:spcBef>
              <a:tabLst>
                <a:tab pos="617220" algn="l"/>
              </a:tabLst>
            </a:pPr>
            <a:r>
              <a:rPr lang="en-US" sz="2800" dirty="0" smtClean="0"/>
              <a:t>C,JPM,BAC,HSBC(Mostly financial orgs) </a:t>
            </a:r>
            <a:endParaRPr sz="2750" dirty="0">
              <a:latin typeface="Calibri"/>
              <a:cs typeface="Calibri"/>
            </a:endParaRPr>
          </a:p>
        </p:txBody>
      </p:sp>
      <p:sp>
        <p:nvSpPr>
          <p:cNvPr id="4" name="object 4"/>
          <p:cNvSpPr/>
          <p:nvPr/>
        </p:nvSpPr>
        <p:spPr>
          <a:xfrm>
            <a:off x="1041500" y="642358"/>
            <a:ext cx="1546860" cy="1543050"/>
          </a:xfrm>
          <a:custGeom>
            <a:avLst/>
            <a:gdLst/>
            <a:ahLst/>
            <a:cxnLst/>
            <a:rect l="l" t="t" r="r" b="b"/>
            <a:pathLst>
              <a:path w="1546860" h="1543050">
                <a:moveTo>
                  <a:pt x="972261" y="511043"/>
                </a:moveTo>
                <a:lnTo>
                  <a:pt x="936795" y="518216"/>
                </a:lnTo>
                <a:lnTo>
                  <a:pt x="907796" y="537772"/>
                </a:lnTo>
                <a:lnTo>
                  <a:pt x="888224" y="566764"/>
                </a:lnTo>
                <a:lnTo>
                  <a:pt x="881043" y="602246"/>
                </a:lnTo>
                <a:lnTo>
                  <a:pt x="881043" y="1450678"/>
                </a:lnTo>
                <a:lnTo>
                  <a:pt x="888206" y="1486154"/>
                </a:lnTo>
                <a:lnTo>
                  <a:pt x="907747" y="1515126"/>
                </a:lnTo>
                <a:lnTo>
                  <a:pt x="936741" y="1534660"/>
                </a:lnTo>
                <a:lnTo>
                  <a:pt x="972261" y="1541823"/>
                </a:lnTo>
                <a:lnTo>
                  <a:pt x="972261" y="1542536"/>
                </a:lnTo>
                <a:lnTo>
                  <a:pt x="1007781" y="1535382"/>
                </a:lnTo>
                <a:lnTo>
                  <a:pt x="1036775" y="1515864"/>
                </a:lnTo>
                <a:lnTo>
                  <a:pt x="1056316" y="1486895"/>
                </a:lnTo>
                <a:lnTo>
                  <a:pt x="1063480" y="1451391"/>
                </a:lnTo>
                <a:lnTo>
                  <a:pt x="1063479" y="602246"/>
                </a:lnTo>
                <a:lnTo>
                  <a:pt x="1056303" y="566764"/>
                </a:lnTo>
                <a:lnTo>
                  <a:pt x="1036743" y="537772"/>
                </a:lnTo>
                <a:lnTo>
                  <a:pt x="1007740" y="518216"/>
                </a:lnTo>
                <a:lnTo>
                  <a:pt x="972261" y="511043"/>
                </a:lnTo>
                <a:close/>
              </a:path>
              <a:path w="1546860" h="1543050">
                <a:moveTo>
                  <a:pt x="678589" y="611983"/>
                </a:moveTo>
                <a:lnTo>
                  <a:pt x="643110" y="619146"/>
                </a:lnTo>
                <a:lnTo>
                  <a:pt x="614108" y="638680"/>
                </a:lnTo>
                <a:lnTo>
                  <a:pt x="594547" y="667650"/>
                </a:lnTo>
                <a:lnTo>
                  <a:pt x="587371" y="703122"/>
                </a:lnTo>
                <a:lnTo>
                  <a:pt x="587371" y="1349622"/>
                </a:lnTo>
                <a:lnTo>
                  <a:pt x="594535" y="1385098"/>
                </a:lnTo>
                <a:lnTo>
                  <a:pt x="614076" y="1414070"/>
                </a:lnTo>
                <a:lnTo>
                  <a:pt x="643069" y="1433604"/>
                </a:lnTo>
                <a:lnTo>
                  <a:pt x="678564" y="1440762"/>
                </a:lnTo>
                <a:lnTo>
                  <a:pt x="677976" y="1440762"/>
                </a:lnTo>
                <a:lnTo>
                  <a:pt x="713516" y="1433604"/>
                </a:lnTo>
                <a:lnTo>
                  <a:pt x="713932" y="1433604"/>
                </a:lnTo>
                <a:lnTo>
                  <a:pt x="742948" y="1414070"/>
                </a:lnTo>
                <a:lnTo>
                  <a:pt x="767425" y="1361300"/>
                </a:lnTo>
                <a:lnTo>
                  <a:pt x="769808" y="703122"/>
                </a:lnTo>
                <a:lnTo>
                  <a:pt x="762626" y="667650"/>
                </a:lnTo>
                <a:lnTo>
                  <a:pt x="743055" y="638680"/>
                </a:lnTo>
                <a:lnTo>
                  <a:pt x="714055" y="619146"/>
                </a:lnTo>
                <a:lnTo>
                  <a:pt x="678589" y="611983"/>
                </a:lnTo>
                <a:close/>
              </a:path>
              <a:path w="1546860" h="1543050">
                <a:moveTo>
                  <a:pt x="1154762" y="1247724"/>
                </a:moveTo>
                <a:lnTo>
                  <a:pt x="1154762" y="1321249"/>
                </a:lnTo>
                <a:lnTo>
                  <a:pt x="1427676" y="1403065"/>
                </a:lnTo>
                <a:lnTo>
                  <a:pt x="1460360" y="1408052"/>
                </a:lnTo>
                <a:lnTo>
                  <a:pt x="1492625" y="1403065"/>
                </a:lnTo>
                <a:lnTo>
                  <a:pt x="1519733" y="1386623"/>
                </a:lnTo>
                <a:lnTo>
                  <a:pt x="1538586" y="1361301"/>
                </a:lnTo>
                <a:lnTo>
                  <a:pt x="1544573" y="1337378"/>
                </a:lnTo>
                <a:lnTo>
                  <a:pt x="1456822" y="1337378"/>
                </a:lnTo>
                <a:lnTo>
                  <a:pt x="1452592" y="1336694"/>
                </a:lnTo>
                <a:lnTo>
                  <a:pt x="1448595" y="1335370"/>
                </a:lnTo>
                <a:lnTo>
                  <a:pt x="1154762" y="1247724"/>
                </a:lnTo>
                <a:close/>
              </a:path>
              <a:path w="1546860" h="1543050">
                <a:moveTo>
                  <a:pt x="384918" y="708745"/>
                </a:moveTo>
                <a:lnTo>
                  <a:pt x="349367" y="715909"/>
                </a:lnTo>
                <a:lnTo>
                  <a:pt x="320366" y="735447"/>
                </a:lnTo>
                <a:lnTo>
                  <a:pt x="300837" y="764426"/>
                </a:lnTo>
                <a:lnTo>
                  <a:pt x="293680" y="799916"/>
                </a:lnTo>
                <a:lnTo>
                  <a:pt x="293680" y="1253360"/>
                </a:lnTo>
                <a:lnTo>
                  <a:pt x="320418" y="1317832"/>
                </a:lnTo>
                <a:lnTo>
                  <a:pt x="384918" y="1344506"/>
                </a:lnTo>
                <a:lnTo>
                  <a:pt x="420289" y="1337378"/>
                </a:lnTo>
                <a:lnTo>
                  <a:pt x="421399" y="1336693"/>
                </a:lnTo>
                <a:lnTo>
                  <a:pt x="449439" y="1317832"/>
                </a:lnTo>
                <a:lnTo>
                  <a:pt x="469018" y="1288863"/>
                </a:lnTo>
                <a:lnTo>
                  <a:pt x="476201" y="1253360"/>
                </a:lnTo>
                <a:lnTo>
                  <a:pt x="476201" y="799916"/>
                </a:lnTo>
                <a:lnTo>
                  <a:pt x="469027" y="764426"/>
                </a:lnTo>
                <a:lnTo>
                  <a:pt x="449464" y="735447"/>
                </a:lnTo>
                <a:lnTo>
                  <a:pt x="420448" y="715909"/>
                </a:lnTo>
                <a:lnTo>
                  <a:pt x="384918" y="708745"/>
                </a:lnTo>
                <a:close/>
              </a:path>
              <a:path w="1546860" h="1543050">
                <a:moveTo>
                  <a:pt x="396105" y="70325"/>
                </a:moveTo>
                <a:lnTo>
                  <a:pt x="146464" y="70324"/>
                </a:lnTo>
                <a:lnTo>
                  <a:pt x="150670" y="70999"/>
                </a:lnTo>
                <a:lnTo>
                  <a:pt x="154702" y="72285"/>
                </a:lnTo>
                <a:lnTo>
                  <a:pt x="1428385" y="452940"/>
                </a:lnTo>
                <a:lnTo>
                  <a:pt x="1462878" y="476709"/>
                </a:lnTo>
                <a:lnTo>
                  <a:pt x="1476605" y="1337378"/>
                </a:lnTo>
                <a:lnTo>
                  <a:pt x="1544573" y="1337378"/>
                </a:lnTo>
                <a:lnTo>
                  <a:pt x="1546518" y="1329604"/>
                </a:lnTo>
                <a:lnTo>
                  <a:pt x="1546582" y="508215"/>
                </a:lnTo>
                <a:lnTo>
                  <a:pt x="1538943" y="468946"/>
                </a:lnTo>
                <a:lnTo>
                  <a:pt x="1517980" y="432795"/>
                </a:lnTo>
                <a:lnTo>
                  <a:pt x="1486628" y="403447"/>
                </a:lnTo>
                <a:lnTo>
                  <a:pt x="1448063" y="384704"/>
                </a:lnTo>
                <a:lnTo>
                  <a:pt x="396105" y="70325"/>
                </a:lnTo>
                <a:close/>
              </a:path>
              <a:path w="1546860" h="1543050">
                <a:moveTo>
                  <a:pt x="91223" y="807018"/>
                </a:moveTo>
                <a:lnTo>
                  <a:pt x="55284" y="814277"/>
                </a:lnTo>
                <a:lnTo>
                  <a:pt x="55613" y="814277"/>
                </a:lnTo>
                <a:lnTo>
                  <a:pt x="26680" y="833824"/>
                </a:lnTo>
                <a:lnTo>
                  <a:pt x="7168" y="862753"/>
                </a:lnTo>
                <a:lnTo>
                  <a:pt x="0" y="898157"/>
                </a:lnTo>
                <a:lnTo>
                  <a:pt x="13" y="1154959"/>
                </a:lnTo>
                <a:lnTo>
                  <a:pt x="7215" y="1190431"/>
                </a:lnTo>
                <a:lnTo>
                  <a:pt x="26823" y="1219403"/>
                </a:lnTo>
                <a:lnTo>
                  <a:pt x="55821" y="1238939"/>
                </a:lnTo>
                <a:lnTo>
                  <a:pt x="56044" y="1238939"/>
                </a:lnTo>
                <a:lnTo>
                  <a:pt x="91529" y="1246101"/>
                </a:lnTo>
                <a:lnTo>
                  <a:pt x="91236" y="1246101"/>
                </a:lnTo>
                <a:lnTo>
                  <a:pt x="126730" y="1238939"/>
                </a:lnTo>
                <a:lnTo>
                  <a:pt x="155749" y="1219403"/>
                </a:lnTo>
                <a:lnTo>
                  <a:pt x="175327" y="1190431"/>
                </a:lnTo>
                <a:lnTo>
                  <a:pt x="182510" y="1154959"/>
                </a:lnTo>
                <a:lnTo>
                  <a:pt x="182509" y="898157"/>
                </a:lnTo>
                <a:lnTo>
                  <a:pt x="175288" y="862753"/>
                </a:lnTo>
                <a:lnTo>
                  <a:pt x="155724" y="833824"/>
                </a:lnTo>
                <a:lnTo>
                  <a:pt x="126731" y="814277"/>
                </a:lnTo>
                <a:lnTo>
                  <a:pt x="91223" y="807018"/>
                </a:lnTo>
                <a:close/>
              </a:path>
              <a:path w="1546860" h="1543050">
                <a:moveTo>
                  <a:pt x="129961" y="0"/>
                </a:moveTo>
                <a:lnTo>
                  <a:pt x="92018" y="14202"/>
                </a:lnTo>
                <a:lnTo>
                  <a:pt x="65795" y="43379"/>
                </a:lnTo>
                <a:lnTo>
                  <a:pt x="56006" y="84079"/>
                </a:lnTo>
                <a:lnTo>
                  <a:pt x="56006" y="719382"/>
                </a:lnTo>
                <a:lnTo>
                  <a:pt x="64753" y="717859"/>
                </a:lnTo>
                <a:lnTo>
                  <a:pt x="73560" y="716763"/>
                </a:lnTo>
                <a:lnTo>
                  <a:pt x="82410" y="716102"/>
                </a:lnTo>
                <a:lnTo>
                  <a:pt x="90103" y="715909"/>
                </a:lnTo>
                <a:lnTo>
                  <a:pt x="126634" y="715909"/>
                </a:lnTo>
                <a:lnTo>
                  <a:pt x="126634" y="70324"/>
                </a:lnTo>
                <a:lnTo>
                  <a:pt x="396105" y="70325"/>
                </a:lnTo>
                <a:lnTo>
                  <a:pt x="174909" y="4220"/>
                </a:lnTo>
                <a:lnTo>
                  <a:pt x="129961" y="0"/>
                </a:lnTo>
                <a:close/>
              </a:path>
              <a:path w="1546860" h="1543050">
                <a:moveTo>
                  <a:pt x="126634" y="715909"/>
                </a:moveTo>
                <a:lnTo>
                  <a:pt x="92475" y="715909"/>
                </a:lnTo>
                <a:lnTo>
                  <a:pt x="100181" y="716102"/>
                </a:lnTo>
                <a:lnTo>
                  <a:pt x="109047" y="716763"/>
                </a:lnTo>
                <a:lnTo>
                  <a:pt x="117870" y="717859"/>
                </a:lnTo>
                <a:lnTo>
                  <a:pt x="126634" y="719382"/>
                </a:lnTo>
                <a:lnTo>
                  <a:pt x="126634" y="715909"/>
                </a:lnTo>
                <a:close/>
              </a:path>
            </a:pathLst>
          </a:custGeom>
          <a:solidFill>
            <a:srgbClr val="333333"/>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0" y="-53582"/>
            <a:ext cx="18287999" cy="1039506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1502" rIns="0" bIns="0" rtlCol="0">
            <a:spAutoFit/>
          </a:bodyPr>
          <a:lstStyle/>
          <a:p>
            <a:pPr marL="316865">
              <a:lnSpc>
                <a:spcPct val="100000"/>
              </a:lnSpc>
              <a:spcBef>
                <a:spcPts val="105"/>
              </a:spcBef>
            </a:pPr>
            <a:r>
              <a:rPr dirty="0"/>
              <a:t>Dashboard</a:t>
            </a:r>
            <a:r>
              <a:rPr spc="-215" dirty="0"/>
              <a:t> </a:t>
            </a:r>
            <a:r>
              <a:rPr spc="-10" dirty="0"/>
              <a:t>Visualizations</a:t>
            </a:r>
          </a:p>
        </p:txBody>
      </p:sp>
      <p:sp>
        <p:nvSpPr>
          <p:cNvPr id="3" name="object 3"/>
          <p:cNvSpPr txBox="1"/>
          <p:nvPr/>
        </p:nvSpPr>
        <p:spPr>
          <a:xfrm>
            <a:off x="1599564" y="2321596"/>
            <a:ext cx="15737840" cy="5367239"/>
          </a:xfrm>
          <a:prstGeom prst="rect">
            <a:avLst/>
          </a:prstGeom>
        </p:spPr>
        <p:txBody>
          <a:bodyPr vert="horz" wrap="square" lIns="0" tIns="227965" rIns="0" bIns="0" rtlCol="0">
            <a:spAutoFit/>
          </a:bodyPr>
          <a:lstStyle/>
          <a:p>
            <a:pPr marL="456565" indent="-443865">
              <a:lnSpc>
                <a:spcPct val="100000"/>
              </a:lnSpc>
              <a:spcBef>
                <a:spcPts val="1795"/>
              </a:spcBef>
              <a:buSzPct val="97222"/>
              <a:buFont typeface="Times New Roman"/>
              <a:buAutoNum type="arabicPeriod" startAt="4"/>
              <a:tabLst>
                <a:tab pos="456565" algn="l"/>
              </a:tabLst>
            </a:pPr>
            <a:r>
              <a:rPr sz="3600" b="1" dirty="0">
                <a:latin typeface="Calibri"/>
                <a:cs typeface="Calibri"/>
              </a:rPr>
              <a:t>Comparative</a:t>
            </a:r>
            <a:r>
              <a:rPr sz="3600" b="1" spc="-90" dirty="0">
                <a:latin typeface="Calibri"/>
                <a:cs typeface="Calibri"/>
              </a:rPr>
              <a:t> </a:t>
            </a:r>
            <a:r>
              <a:rPr sz="3600" b="1" dirty="0">
                <a:latin typeface="Calibri"/>
                <a:cs typeface="Calibri"/>
              </a:rPr>
              <a:t>&amp;</a:t>
            </a:r>
            <a:r>
              <a:rPr sz="3600" b="1" spc="-130" dirty="0">
                <a:latin typeface="Calibri"/>
                <a:cs typeface="Calibri"/>
              </a:rPr>
              <a:t> </a:t>
            </a:r>
            <a:r>
              <a:rPr sz="3600" b="1" dirty="0">
                <a:latin typeface="Calibri"/>
                <a:cs typeface="Calibri"/>
              </a:rPr>
              <a:t>KPI</a:t>
            </a:r>
            <a:r>
              <a:rPr sz="3600" b="1" spc="-65" dirty="0">
                <a:latin typeface="Calibri"/>
                <a:cs typeface="Calibri"/>
              </a:rPr>
              <a:t> </a:t>
            </a:r>
            <a:r>
              <a:rPr sz="3600" b="1" dirty="0">
                <a:latin typeface="Calibri"/>
                <a:cs typeface="Calibri"/>
              </a:rPr>
              <a:t>Analysis</a:t>
            </a:r>
            <a:r>
              <a:rPr sz="3600" b="1" spc="-80" dirty="0">
                <a:latin typeface="Calibri"/>
                <a:cs typeface="Calibri"/>
              </a:rPr>
              <a:t> </a:t>
            </a:r>
            <a:r>
              <a:rPr sz="3600" b="1" spc="-10" dirty="0">
                <a:latin typeface="Calibri"/>
                <a:cs typeface="Calibri"/>
              </a:rPr>
              <a:t>Dashboard</a:t>
            </a:r>
            <a:endParaRPr sz="3600" dirty="0">
              <a:latin typeface="Calibri"/>
              <a:cs typeface="Calibri"/>
            </a:endParaRPr>
          </a:p>
          <a:p>
            <a:pPr marL="617220" lvl="1" indent="-302260">
              <a:lnSpc>
                <a:spcPct val="100000"/>
              </a:lnSpc>
              <a:spcBef>
                <a:spcPts val="1335"/>
              </a:spcBef>
              <a:buFont typeface="Arial MT"/>
              <a:buChar char="•"/>
              <a:tabLst>
                <a:tab pos="617220" algn="l"/>
              </a:tabLst>
            </a:pPr>
            <a:r>
              <a:rPr sz="2750" b="1" dirty="0">
                <a:latin typeface="Times New Roman"/>
                <a:cs typeface="Times New Roman"/>
              </a:rPr>
              <a:t>Visuals</a:t>
            </a:r>
            <a:r>
              <a:rPr sz="2750" b="1" spc="5" dirty="0">
                <a:latin typeface="Times New Roman"/>
                <a:cs typeface="Times New Roman"/>
              </a:rPr>
              <a:t> </a:t>
            </a:r>
            <a:r>
              <a:rPr sz="2750" b="1" spc="-20" dirty="0">
                <a:latin typeface="Times New Roman"/>
                <a:cs typeface="Times New Roman"/>
              </a:rPr>
              <a:t>Used:</a:t>
            </a:r>
            <a:endParaRPr sz="2750" dirty="0">
              <a:latin typeface="Times New Roman"/>
              <a:cs typeface="Times New Roman"/>
            </a:endParaRPr>
          </a:p>
          <a:p>
            <a:pPr marL="617220" lvl="1" indent="-302260">
              <a:lnSpc>
                <a:spcPct val="100000"/>
              </a:lnSpc>
              <a:spcBef>
                <a:spcPts val="1205"/>
              </a:spcBef>
              <a:buFont typeface="Arial MT"/>
              <a:buChar char="•"/>
              <a:tabLst>
                <a:tab pos="617220" algn="l"/>
              </a:tabLst>
            </a:pPr>
            <a:r>
              <a:rPr sz="2750" b="1" dirty="0">
                <a:latin typeface="Calibri"/>
                <a:cs typeface="Calibri"/>
              </a:rPr>
              <a:t>Line</a:t>
            </a:r>
            <a:r>
              <a:rPr sz="2750" b="1" spc="90" dirty="0">
                <a:latin typeface="Calibri"/>
                <a:cs typeface="Calibri"/>
              </a:rPr>
              <a:t> </a:t>
            </a:r>
            <a:r>
              <a:rPr sz="2750" b="1" dirty="0">
                <a:latin typeface="Calibri"/>
                <a:cs typeface="Calibri"/>
              </a:rPr>
              <a:t>Chart</a:t>
            </a:r>
            <a:r>
              <a:rPr sz="2750" b="1" spc="150" dirty="0">
                <a:latin typeface="Calibri"/>
                <a:cs typeface="Calibri"/>
              </a:rPr>
              <a:t> </a:t>
            </a:r>
            <a:r>
              <a:rPr sz="2750" b="1" dirty="0">
                <a:latin typeface="Calibri"/>
                <a:cs typeface="Calibri"/>
              </a:rPr>
              <a:t>→</a:t>
            </a:r>
            <a:r>
              <a:rPr sz="2750" b="1" spc="90" dirty="0">
                <a:latin typeface="Calibri"/>
                <a:cs typeface="Calibri"/>
              </a:rPr>
              <a:t> </a:t>
            </a:r>
            <a:r>
              <a:rPr sz="2750" b="1" dirty="0">
                <a:latin typeface="Calibri"/>
                <a:cs typeface="Calibri"/>
              </a:rPr>
              <a:t>Growth</a:t>
            </a:r>
            <a:r>
              <a:rPr sz="2750" b="1" spc="145" dirty="0">
                <a:latin typeface="Calibri"/>
                <a:cs typeface="Calibri"/>
              </a:rPr>
              <a:t> </a:t>
            </a:r>
            <a:r>
              <a:rPr sz="2750" b="1" dirty="0">
                <a:latin typeface="Calibri"/>
                <a:cs typeface="Calibri"/>
              </a:rPr>
              <a:t>Consistency</a:t>
            </a:r>
            <a:r>
              <a:rPr sz="2750" b="1" spc="95" dirty="0">
                <a:latin typeface="Calibri"/>
                <a:cs typeface="Calibri"/>
              </a:rPr>
              <a:t> </a:t>
            </a:r>
            <a:r>
              <a:rPr sz="2750" b="1" dirty="0">
                <a:latin typeface="Calibri"/>
                <a:cs typeface="Calibri"/>
              </a:rPr>
              <a:t>Analysis</a:t>
            </a:r>
            <a:r>
              <a:rPr sz="2750" b="1" spc="65" dirty="0">
                <a:latin typeface="Calibri"/>
                <a:cs typeface="Calibri"/>
              </a:rPr>
              <a:t> </a:t>
            </a:r>
            <a:r>
              <a:rPr sz="2750" b="1" dirty="0">
                <a:latin typeface="Calibri"/>
                <a:cs typeface="Calibri"/>
              </a:rPr>
              <a:t>(Revenue,</a:t>
            </a:r>
            <a:r>
              <a:rPr sz="2750" b="1" spc="95" dirty="0">
                <a:latin typeface="Calibri"/>
                <a:cs typeface="Calibri"/>
              </a:rPr>
              <a:t> </a:t>
            </a:r>
            <a:r>
              <a:rPr sz="2750" b="1" dirty="0">
                <a:latin typeface="Calibri"/>
                <a:cs typeface="Calibri"/>
              </a:rPr>
              <a:t>Income,</a:t>
            </a:r>
            <a:r>
              <a:rPr sz="2750" b="1" spc="95" dirty="0">
                <a:latin typeface="Calibri"/>
                <a:cs typeface="Calibri"/>
              </a:rPr>
              <a:t> </a:t>
            </a:r>
            <a:r>
              <a:rPr sz="2750" b="1" dirty="0">
                <a:latin typeface="Calibri"/>
                <a:cs typeface="Calibri"/>
              </a:rPr>
              <a:t>and</a:t>
            </a:r>
            <a:r>
              <a:rPr sz="2750" b="1" spc="60" dirty="0">
                <a:latin typeface="Calibri"/>
                <a:cs typeface="Calibri"/>
              </a:rPr>
              <a:t> </a:t>
            </a:r>
            <a:r>
              <a:rPr sz="2750" b="1" spc="-10" dirty="0">
                <a:latin typeface="Calibri"/>
                <a:cs typeface="Calibri"/>
              </a:rPr>
              <a:t>Assets)</a:t>
            </a:r>
            <a:endParaRPr sz="2750" dirty="0">
              <a:latin typeface="Calibri"/>
              <a:cs typeface="Calibri"/>
            </a:endParaRPr>
          </a:p>
          <a:p>
            <a:pPr marL="617220" lvl="1" indent="-302260">
              <a:lnSpc>
                <a:spcPct val="100000"/>
              </a:lnSpc>
              <a:spcBef>
                <a:spcPts val="1205"/>
              </a:spcBef>
              <a:buFont typeface="Arial MT"/>
              <a:buChar char="•"/>
              <a:tabLst>
                <a:tab pos="617220" algn="l"/>
              </a:tabLst>
            </a:pPr>
            <a:r>
              <a:rPr sz="2750" b="1" dirty="0">
                <a:latin typeface="Calibri"/>
                <a:cs typeface="Calibri"/>
              </a:rPr>
              <a:t>Bar</a:t>
            </a:r>
            <a:r>
              <a:rPr sz="2750" b="1" spc="-5" dirty="0">
                <a:latin typeface="Calibri"/>
                <a:cs typeface="Calibri"/>
              </a:rPr>
              <a:t> </a:t>
            </a:r>
            <a:r>
              <a:rPr sz="2750" b="1" dirty="0">
                <a:latin typeface="Calibri"/>
                <a:cs typeface="Calibri"/>
              </a:rPr>
              <a:t>Chart</a:t>
            </a:r>
            <a:r>
              <a:rPr sz="2750" b="1" spc="105" dirty="0">
                <a:latin typeface="Calibri"/>
                <a:cs typeface="Calibri"/>
              </a:rPr>
              <a:t> </a:t>
            </a:r>
            <a:r>
              <a:rPr sz="2750" b="1" dirty="0">
                <a:latin typeface="Calibri"/>
                <a:cs typeface="Calibri"/>
              </a:rPr>
              <a:t>→</a:t>
            </a:r>
            <a:r>
              <a:rPr sz="2750" b="1" spc="55" dirty="0">
                <a:latin typeface="Calibri"/>
                <a:cs typeface="Calibri"/>
              </a:rPr>
              <a:t> </a:t>
            </a:r>
            <a:r>
              <a:rPr sz="2750" b="1" dirty="0">
                <a:latin typeface="Calibri"/>
                <a:cs typeface="Calibri"/>
              </a:rPr>
              <a:t>Net</a:t>
            </a:r>
            <a:r>
              <a:rPr sz="2750" b="1" spc="105" dirty="0">
                <a:latin typeface="Calibri"/>
                <a:cs typeface="Calibri"/>
              </a:rPr>
              <a:t> </a:t>
            </a:r>
            <a:r>
              <a:rPr sz="2750" b="1" dirty="0">
                <a:latin typeface="Calibri"/>
                <a:cs typeface="Calibri"/>
              </a:rPr>
              <a:t>Income</a:t>
            </a:r>
            <a:r>
              <a:rPr sz="2750" b="1" spc="120" dirty="0">
                <a:latin typeface="Calibri"/>
                <a:cs typeface="Calibri"/>
              </a:rPr>
              <a:t> </a:t>
            </a:r>
            <a:r>
              <a:rPr sz="2750" b="1" dirty="0">
                <a:latin typeface="Calibri"/>
                <a:cs typeface="Calibri"/>
              </a:rPr>
              <a:t>Leaders</a:t>
            </a:r>
            <a:r>
              <a:rPr sz="2750" b="1" spc="30" dirty="0">
                <a:latin typeface="Calibri"/>
                <a:cs typeface="Calibri"/>
              </a:rPr>
              <a:t> </a:t>
            </a:r>
            <a:r>
              <a:rPr sz="2750" b="1" dirty="0">
                <a:latin typeface="Calibri"/>
                <a:cs typeface="Calibri"/>
              </a:rPr>
              <a:t>by</a:t>
            </a:r>
            <a:r>
              <a:rPr sz="2750" b="1" spc="45" dirty="0">
                <a:latin typeface="Calibri"/>
                <a:cs typeface="Calibri"/>
              </a:rPr>
              <a:t> </a:t>
            </a:r>
            <a:r>
              <a:rPr sz="2750" b="1" dirty="0">
                <a:latin typeface="Calibri"/>
                <a:cs typeface="Calibri"/>
              </a:rPr>
              <a:t>YearArea</a:t>
            </a:r>
            <a:r>
              <a:rPr sz="2750" b="1" spc="114" dirty="0">
                <a:latin typeface="Calibri"/>
                <a:cs typeface="Calibri"/>
              </a:rPr>
              <a:t> </a:t>
            </a:r>
            <a:r>
              <a:rPr sz="2750" b="1" dirty="0">
                <a:latin typeface="Calibri"/>
                <a:cs typeface="Calibri"/>
              </a:rPr>
              <a:t>Chart</a:t>
            </a:r>
            <a:r>
              <a:rPr sz="2750" b="1" spc="20" dirty="0">
                <a:latin typeface="Calibri"/>
                <a:cs typeface="Calibri"/>
              </a:rPr>
              <a:t> </a:t>
            </a:r>
            <a:r>
              <a:rPr sz="2750" b="1" dirty="0">
                <a:latin typeface="Calibri"/>
                <a:cs typeface="Calibri"/>
              </a:rPr>
              <a:t>→</a:t>
            </a:r>
            <a:r>
              <a:rPr sz="2750" b="1" spc="120" dirty="0">
                <a:latin typeface="Calibri"/>
                <a:cs typeface="Calibri"/>
              </a:rPr>
              <a:t> </a:t>
            </a:r>
            <a:r>
              <a:rPr sz="2750" b="1" dirty="0">
                <a:latin typeface="Calibri"/>
                <a:cs typeface="Calibri"/>
              </a:rPr>
              <a:t>Capital</a:t>
            </a:r>
            <a:r>
              <a:rPr sz="2750" b="1" spc="80" dirty="0">
                <a:latin typeface="Calibri"/>
                <a:cs typeface="Calibri"/>
              </a:rPr>
              <a:t> </a:t>
            </a:r>
            <a:r>
              <a:rPr sz="2750" b="1" dirty="0">
                <a:latin typeface="Calibri"/>
                <a:cs typeface="Calibri"/>
              </a:rPr>
              <a:t>Expenditure</a:t>
            </a:r>
            <a:r>
              <a:rPr sz="2750" b="1" spc="40" dirty="0">
                <a:latin typeface="Calibri"/>
                <a:cs typeface="Calibri"/>
              </a:rPr>
              <a:t> </a:t>
            </a:r>
            <a:r>
              <a:rPr sz="2750" b="1" spc="-10" dirty="0">
                <a:latin typeface="Calibri"/>
                <a:cs typeface="Calibri"/>
              </a:rPr>
              <a:t>Trend</a:t>
            </a:r>
            <a:endParaRPr sz="2750" dirty="0">
              <a:latin typeface="Calibri"/>
              <a:cs typeface="Calibri"/>
            </a:endParaRPr>
          </a:p>
          <a:p>
            <a:pPr marL="617220" lvl="1" indent="-302260">
              <a:lnSpc>
                <a:spcPct val="100000"/>
              </a:lnSpc>
              <a:spcBef>
                <a:spcPts val="1205"/>
              </a:spcBef>
              <a:buFont typeface="Arial MT"/>
              <a:buChar char="•"/>
              <a:tabLst>
                <a:tab pos="617220" algn="l"/>
              </a:tabLst>
            </a:pPr>
            <a:r>
              <a:rPr sz="2750" b="1" dirty="0">
                <a:latin typeface="Calibri"/>
                <a:cs typeface="Calibri"/>
              </a:rPr>
              <a:t>Gauge</a:t>
            </a:r>
            <a:r>
              <a:rPr sz="2750" b="1" spc="85" dirty="0">
                <a:latin typeface="Calibri"/>
                <a:cs typeface="Calibri"/>
              </a:rPr>
              <a:t> </a:t>
            </a:r>
            <a:r>
              <a:rPr sz="2750" b="1" dirty="0">
                <a:latin typeface="Calibri"/>
                <a:cs typeface="Calibri"/>
              </a:rPr>
              <a:t>→</a:t>
            </a:r>
            <a:r>
              <a:rPr sz="2750" b="1" spc="90" dirty="0">
                <a:latin typeface="Calibri"/>
                <a:cs typeface="Calibri"/>
              </a:rPr>
              <a:t> </a:t>
            </a:r>
            <a:r>
              <a:rPr sz="2750" b="1" dirty="0">
                <a:latin typeface="Calibri"/>
                <a:cs typeface="Calibri"/>
              </a:rPr>
              <a:t>Gross</a:t>
            </a:r>
            <a:r>
              <a:rPr sz="2750" b="1" spc="75" dirty="0">
                <a:latin typeface="Calibri"/>
                <a:cs typeface="Calibri"/>
              </a:rPr>
              <a:t> </a:t>
            </a:r>
            <a:r>
              <a:rPr sz="2750" b="1" dirty="0">
                <a:latin typeface="Calibri"/>
                <a:cs typeface="Calibri"/>
              </a:rPr>
              <a:t>Profit</a:t>
            </a:r>
            <a:r>
              <a:rPr sz="2750" b="1" spc="65" dirty="0">
                <a:latin typeface="Calibri"/>
                <a:cs typeface="Calibri"/>
              </a:rPr>
              <a:t> </a:t>
            </a:r>
            <a:r>
              <a:rPr sz="2750" b="1" dirty="0">
                <a:latin typeface="Calibri"/>
                <a:cs typeface="Calibri"/>
              </a:rPr>
              <a:t>Margin</a:t>
            </a:r>
            <a:r>
              <a:rPr sz="2750" b="1" spc="135" dirty="0">
                <a:latin typeface="Calibri"/>
                <a:cs typeface="Calibri"/>
              </a:rPr>
              <a:t> </a:t>
            </a:r>
            <a:r>
              <a:rPr sz="2750" b="1" spc="-50" dirty="0">
                <a:latin typeface="Calibri"/>
                <a:cs typeface="Calibri"/>
              </a:rPr>
              <a:t>%</a:t>
            </a:r>
            <a:endParaRPr sz="2750" dirty="0">
              <a:latin typeface="Calibri"/>
              <a:cs typeface="Calibri"/>
            </a:endParaRPr>
          </a:p>
          <a:p>
            <a:pPr marL="617220" lvl="1" indent="-302260">
              <a:lnSpc>
                <a:spcPct val="100000"/>
              </a:lnSpc>
              <a:spcBef>
                <a:spcPts val="1205"/>
              </a:spcBef>
              <a:buFont typeface="Arial MT"/>
              <a:buChar char="•"/>
              <a:tabLst>
                <a:tab pos="617220" algn="l"/>
              </a:tabLst>
            </a:pPr>
            <a:r>
              <a:rPr sz="2750" b="1" dirty="0">
                <a:latin typeface="Calibri"/>
                <a:cs typeface="Calibri"/>
              </a:rPr>
              <a:t>Column</a:t>
            </a:r>
            <a:r>
              <a:rPr sz="2750" b="1" spc="110" dirty="0">
                <a:latin typeface="Calibri"/>
                <a:cs typeface="Calibri"/>
              </a:rPr>
              <a:t> </a:t>
            </a:r>
            <a:r>
              <a:rPr sz="2750" b="1" dirty="0">
                <a:latin typeface="Calibri"/>
                <a:cs typeface="Calibri"/>
              </a:rPr>
              <a:t>Chart</a:t>
            </a:r>
            <a:r>
              <a:rPr sz="2750" b="1" spc="35" dirty="0">
                <a:latin typeface="Calibri"/>
                <a:cs typeface="Calibri"/>
              </a:rPr>
              <a:t> </a:t>
            </a:r>
            <a:r>
              <a:rPr sz="2750" b="1" dirty="0">
                <a:latin typeface="Calibri"/>
                <a:cs typeface="Calibri"/>
              </a:rPr>
              <a:t>→</a:t>
            </a:r>
            <a:r>
              <a:rPr sz="2750" b="1" spc="65" dirty="0">
                <a:latin typeface="Calibri"/>
                <a:cs typeface="Calibri"/>
              </a:rPr>
              <a:t> </a:t>
            </a:r>
            <a:r>
              <a:rPr sz="2750" b="1" dirty="0">
                <a:latin typeface="Calibri"/>
                <a:cs typeface="Calibri"/>
              </a:rPr>
              <a:t>Revenue</a:t>
            </a:r>
            <a:r>
              <a:rPr sz="2750" b="1" spc="55" dirty="0">
                <a:latin typeface="Calibri"/>
                <a:cs typeface="Calibri"/>
              </a:rPr>
              <a:t> </a:t>
            </a:r>
            <a:r>
              <a:rPr sz="2750" b="1" dirty="0">
                <a:latin typeface="Calibri"/>
                <a:cs typeface="Calibri"/>
              </a:rPr>
              <a:t>Growth</a:t>
            </a:r>
            <a:r>
              <a:rPr sz="2750" b="1" spc="35" dirty="0">
                <a:latin typeface="Calibri"/>
                <a:cs typeface="Calibri"/>
              </a:rPr>
              <a:t> </a:t>
            </a:r>
            <a:r>
              <a:rPr sz="2750" b="1" spc="-10" dirty="0">
                <a:latin typeface="Calibri"/>
                <a:cs typeface="Calibri"/>
              </a:rPr>
              <a:t>YoY</a:t>
            </a:r>
            <a:r>
              <a:rPr sz="2750" b="1" spc="95" dirty="0">
                <a:latin typeface="Calibri"/>
                <a:cs typeface="Calibri"/>
              </a:rPr>
              <a:t> </a:t>
            </a:r>
            <a:r>
              <a:rPr sz="2750" b="1" dirty="0">
                <a:latin typeface="Calibri"/>
                <a:cs typeface="Calibri"/>
              </a:rPr>
              <a:t>by</a:t>
            </a:r>
            <a:r>
              <a:rPr sz="2750" b="1" spc="65" dirty="0">
                <a:latin typeface="Calibri"/>
                <a:cs typeface="Calibri"/>
              </a:rPr>
              <a:t> </a:t>
            </a:r>
            <a:r>
              <a:rPr sz="2750" b="1" spc="-20" dirty="0" smtClean="0">
                <a:latin typeface="Calibri"/>
                <a:cs typeface="Calibri"/>
              </a:rPr>
              <a:t>Year</a:t>
            </a:r>
            <a:endParaRPr sz="2750" dirty="0">
              <a:latin typeface="Calibri"/>
              <a:cs typeface="Calibri"/>
            </a:endParaRPr>
          </a:p>
          <a:p>
            <a:pPr marL="617220" lvl="1" indent="-302260">
              <a:lnSpc>
                <a:spcPct val="100000"/>
              </a:lnSpc>
              <a:spcBef>
                <a:spcPts val="1205"/>
              </a:spcBef>
              <a:buFont typeface="Arial MT"/>
              <a:buChar char="•"/>
              <a:tabLst>
                <a:tab pos="617220" algn="l"/>
              </a:tabLst>
            </a:pPr>
            <a:r>
              <a:rPr sz="2750" b="1" dirty="0">
                <a:latin typeface="Times New Roman"/>
                <a:cs typeface="Times New Roman"/>
              </a:rPr>
              <a:t>Cards</a:t>
            </a:r>
            <a:r>
              <a:rPr sz="2750" b="1" spc="30" dirty="0">
                <a:latin typeface="Times New Roman"/>
                <a:cs typeface="Times New Roman"/>
              </a:rPr>
              <a:t> </a:t>
            </a:r>
            <a:r>
              <a:rPr sz="2750" b="1" dirty="0">
                <a:latin typeface="Times New Roman"/>
                <a:cs typeface="Times New Roman"/>
              </a:rPr>
              <a:t>→</a:t>
            </a:r>
            <a:r>
              <a:rPr sz="2750" b="1" spc="30" dirty="0">
                <a:latin typeface="Times New Roman"/>
                <a:cs typeface="Times New Roman"/>
              </a:rPr>
              <a:t> </a:t>
            </a:r>
            <a:r>
              <a:rPr sz="2750" b="1" spc="-20" dirty="0">
                <a:latin typeface="Calibri"/>
                <a:cs typeface="Calibri"/>
              </a:rPr>
              <a:t>Total</a:t>
            </a:r>
            <a:r>
              <a:rPr sz="2750" b="1" spc="40" dirty="0">
                <a:latin typeface="Calibri"/>
                <a:cs typeface="Calibri"/>
              </a:rPr>
              <a:t> </a:t>
            </a:r>
            <a:r>
              <a:rPr sz="2750" b="1" dirty="0">
                <a:latin typeface="Calibri"/>
                <a:cs typeface="Calibri"/>
              </a:rPr>
              <a:t>Revenue,</a:t>
            </a:r>
            <a:r>
              <a:rPr sz="2750" b="1" spc="5" dirty="0">
                <a:latin typeface="Calibri"/>
                <a:cs typeface="Calibri"/>
              </a:rPr>
              <a:t> </a:t>
            </a:r>
            <a:r>
              <a:rPr sz="2750" b="1" dirty="0">
                <a:latin typeface="Calibri"/>
                <a:cs typeface="Calibri"/>
              </a:rPr>
              <a:t>Net</a:t>
            </a:r>
            <a:r>
              <a:rPr sz="2750" b="1" spc="-15" dirty="0">
                <a:latin typeface="Calibri"/>
                <a:cs typeface="Calibri"/>
              </a:rPr>
              <a:t> </a:t>
            </a:r>
            <a:r>
              <a:rPr sz="2750" b="1" dirty="0">
                <a:latin typeface="Calibri"/>
                <a:cs typeface="Calibri"/>
              </a:rPr>
              <a:t>Income,</a:t>
            </a:r>
            <a:r>
              <a:rPr sz="2750" b="1" spc="10" dirty="0">
                <a:latin typeface="Calibri"/>
                <a:cs typeface="Calibri"/>
              </a:rPr>
              <a:t> </a:t>
            </a:r>
            <a:r>
              <a:rPr sz="2750" b="1" spc="-20" dirty="0">
                <a:latin typeface="Calibri"/>
                <a:cs typeface="Calibri"/>
              </a:rPr>
              <a:t>Total</a:t>
            </a:r>
            <a:r>
              <a:rPr sz="2750" b="1" spc="40" dirty="0">
                <a:latin typeface="Calibri"/>
                <a:cs typeface="Calibri"/>
              </a:rPr>
              <a:t> </a:t>
            </a:r>
            <a:r>
              <a:rPr sz="2750" b="1" dirty="0">
                <a:latin typeface="Calibri"/>
                <a:cs typeface="Calibri"/>
              </a:rPr>
              <a:t>Assets,</a:t>
            </a:r>
            <a:r>
              <a:rPr sz="2750" b="1" spc="5" dirty="0">
                <a:latin typeface="Calibri"/>
                <a:cs typeface="Calibri"/>
              </a:rPr>
              <a:t> </a:t>
            </a:r>
            <a:r>
              <a:rPr sz="2750" b="1" dirty="0">
                <a:latin typeface="Calibri"/>
                <a:cs typeface="Calibri"/>
              </a:rPr>
              <a:t>Revenue</a:t>
            </a:r>
            <a:r>
              <a:rPr sz="2750" b="1" spc="5" dirty="0">
                <a:latin typeface="Calibri"/>
                <a:cs typeface="Calibri"/>
              </a:rPr>
              <a:t> </a:t>
            </a:r>
            <a:r>
              <a:rPr sz="2750" b="1" dirty="0">
                <a:latin typeface="Calibri"/>
                <a:cs typeface="Calibri"/>
              </a:rPr>
              <a:t>Growth</a:t>
            </a:r>
            <a:r>
              <a:rPr sz="2750" b="1" spc="55" dirty="0">
                <a:latin typeface="Calibri"/>
                <a:cs typeface="Calibri"/>
              </a:rPr>
              <a:t> </a:t>
            </a:r>
            <a:r>
              <a:rPr sz="2750" b="1" spc="-120" dirty="0">
                <a:latin typeface="Calibri"/>
                <a:cs typeface="Calibri"/>
              </a:rPr>
              <a:t>YoY,</a:t>
            </a:r>
            <a:r>
              <a:rPr sz="2750" b="1" spc="5" dirty="0">
                <a:latin typeface="Calibri"/>
                <a:cs typeface="Calibri"/>
              </a:rPr>
              <a:t> </a:t>
            </a:r>
            <a:r>
              <a:rPr sz="2750" b="1" dirty="0">
                <a:latin typeface="Calibri"/>
                <a:cs typeface="Calibri"/>
              </a:rPr>
              <a:t>Net</a:t>
            </a:r>
            <a:r>
              <a:rPr sz="2750" b="1" spc="60" dirty="0">
                <a:latin typeface="Calibri"/>
                <a:cs typeface="Calibri"/>
              </a:rPr>
              <a:t> </a:t>
            </a:r>
            <a:r>
              <a:rPr sz="2750" b="1" dirty="0">
                <a:latin typeface="Calibri"/>
                <a:cs typeface="Calibri"/>
              </a:rPr>
              <a:t>Income </a:t>
            </a:r>
            <a:r>
              <a:rPr sz="2750" b="1" spc="-10" dirty="0">
                <a:latin typeface="Calibri"/>
                <a:cs typeface="Calibri"/>
              </a:rPr>
              <a:t>YoY</a:t>
            </a:r>
            <a:r>
              <a:rPr sz="2750" b="1" spc="35" dirty="0">
                <a:latin typeface="Calibri"/>
                <a:cs typeface="Calibri"/>
              </a:rPr>
              <a:t> </a:t>
            </a:r>
            <a:r>
              <a:rPr sz="2750" b="1" spc="-50" dirty="0">
                <a:latin typeface="Calibri"/>
                <a:cs typeface="Calibri"/>
              </a:rPr>
              <a:t>%</a:t>
            </a:r>
            <a:endParaRPr sz="2750" dirty="0">
              <a:latin typeface="Calibri"/>
              <a:cs typeface="Calibri"/>
            </a:endParaRPr>
          </a:p>
          <a:p>
            <a:pPr marL="617220" marR="5080" lvl="1" indent="-302260">
              <a:lnSpc>
                <a:spcPct val="136500"/>
              </a:lnSpc>
              <a:buFont typeface="Arial MT"/>
              <a:buChar char="•"/>
              <a:tabLst>
                <a:tab pos="638810" algn="l"/>
              </a:tabLst>
            </a:pPr>
            <a:r>
              <a:rPr sz="2750" b="1" dirty="0">
                <a:latin typeface="Times New Roman"/>
                <a:cs typeface="Times New Roman"/>
              </a:rPr>
              <a:t>Purpose:</a:t>
            </a:r>
            <a:r>
              <a:rPr sz="2750" b="1" spc="30" dirty="0">
                <a:latin typeface="Times New Roman"/>
                <a:cs typeface="Times New Roman"/>
              </a:rPr>
              <a:t> </a:t>
            </a:r>
            <a:r>
              <a:rPr sz="2750" b="1" spc="-30" dirty="0">
                <a:latin typeface="Calibri"/>
                <a:cs typeface="Calibri"/>
              </a:rPr>
              <a:t>To</a:t>
            </a:r>
            <a:r>
              <a:rPr sz="2750" b="1" spc="100" dirty="0">
                <a:latin typeface="Calibri"/>
                <a:cs typeface="Calibri"/>
              </a:rPr>
              <a:t> </a:t>
            </a:r>
            <a:r>
              <a:rPr sz="2750" b="1" dirty="0">
                <a:latin typeface="Calibri"/>
                <a:cs typeface="Calibri"/>
              </a:rPr>
              <a:t>compare</a:t>
            </a:r>
            <a:r>
              <a:rPr sz="2750" b="1" spc="35" dirty="0">
                <a:latin typeface="Calibri"/>
                <a:cs typeface="Calibri"/>
              </a:rPr>
              <a:t> </a:t>
            </a:r>
            <a:r>
              <a:rPr sz="2750" b="1" dirty="0">
                <a:latin typeface="Calibri"/>
                <a:cs typeface="Calibri"/>
              </a:rPr>
              <a:t>financial</a:t>
            </a:r>
            <a:r>
              <a:rPr sz="2750" b="1" spc="85" dirty="0">
                <a:latin typeface="Calibri"/>
                <a:cs typeface="Calibri"/>
              </a:rPr>
              <a:t> </a:t>
            </a:r>
            <a:r>
              <a:rPr sz="2750" b="1" dirty="0">
                <a:latin typeface="Calibri"/>
                <a:cs typeface="Calibri"/>
              </a:rPr>
              <a:t>performance</a:t>
            </a:r>
            <a:r>
              <a:rPr sz="2750" b="1" spc="35" dirty="0">
                <a:latin typeface="Calibri"/>
                <a:cs typeface="Calibri"/>
              </a:rPr>
              <a:t> </a:t>
            </a:r>
            <a:r>
              <a:rPr sz="2750" b="1" dirty="0">
                <a:latin typeface="Calibri"/>
                <a:cs typeface="Calibri"/>
              </a:rPr>
              <a:t>across</a:t>
            </a:r>
            <a:r>
              <a:rPr sz="2750" b="1" spc="105" dirty="0">
                <a:latin typeface="Calibri"/>
                <a:cs typeface="Calibri"/>
              </a:rPr>
              <a:t> </a:t>
            </a:r>
            <a:r>
              <a:rPr sz="2750" b="1" dirty="0">
                <a:latin typeface="Calibri"/>
                <a:cs typeface="Calibri"/>
              </a:rPr>
              <a:t>multiple</a:t>
            </a:r>
            <a:r>
              <a:rPr sz="2750" b="1" spc="105" dirty="0">
                <a:latin typeface="Calibri"/>
                <a:cs typeface="Calibri"/>
              </a:rPr>
              <a:t> </a:t>
            </a:r>
            <a:r>
              <a:rPr sz="2750" b="1" dirty="0">
                <a:latin typeface="Calibri"/>
                <a:cs typeface="Calibri"/>
              </a:rPr>
              <a:t>years</a:t>
            </a:r>
            <a:r>
              <a:rPr sz="2750" b="1" spc="105" dirty="0">
                <a:latin typeface="Calibri"/>
                <a:cs typeface="Calibri"/>
              </a:rPr>
              <a:t> </a:t>
            </a:r>
            <a:r>
              <a:rPr sz="2750" b="1" dirty="0">
                <a:latin typeface="Calibri"/>
                <a:cs typeface="Calibri"/>
              </a:rPr>
              <a:t>and</a:t>
            </a:r>
            <a:r>
              <a:rPr sz="2750" b="1" spc="95" dirty="0">
                <a:latin typeface="Calibri"/>
                <a:cs typeface="Calibri"/>
              </a:rPr>
              <a:t> </a:t>
            </a:r>
            <a:r>
              <a:rPr sz="2750" b="1" dirty="0">
                <a:latin typeface="Calibri"/>
                <a:cs typeface="Calibri"/>
              </a:rPr>
              <a:t>companies,</a:t>
            </a:r>
            <a:r>
              <a:rPr sz="2750" b="1" spc="45" dirty="0">
                <a:latin typeface="Calibri"/>
                <a:cs typeface="Calibri"/>
              </a:rPr>
              <a:t> </a:t>
            </a:r>
            <a:r>
              <a:rPr sz="2750" b="1" dirty="0">
                <a:latin typeface="Calibri"/>
                <a:cs typeface="Calibri"/>
              </a:rPr>
              <a:t>tracking</a:t>
            </a:r>
            <a:r>
              <a:rPr sz="2750" b="1" spc="45" dirty="0">
                <a:latin typeface="Calibri"/>
                <a:cs typeface="Calibri"/>
              </a:rPr>
              <a:t> </a:t>
            </a:r>
            <a:r>
              <a:rPr sz="2750" b="1" spc="-10" dirty="0">
                <a:latin typeface="Calibri"/>
                <a:cs typeface="Calibri"/>
              </a:rPr>
              <a:t>consistency 	</a:t>
            </a:r>
            <a:r>
              <a:rPr sz="2750" b="1" dirty="0">
                <a:latin typeface="Calibri"/>
                <a:cs typeface="Calibri"/>
              </a:rPr>
              <a:t>in</a:t>
            </a:r>
            <a:r>
              <a:rPr sz="2750" b="1" spc="80" dirty="0">
                <a:latin typeface="Calibri"/>
                <a:cs typeface="Calibri"/>
              </a:rPr>
              <a:t> </a:t>
            </a:r>
            <a:r>
              <a:rPr sz="2750" b="1" dirty="0">
                <a:latin typeface="Calibri"/>
                <a:cs typeface="Calibri"/>
              </a:rPr>
              <a:t>growth</a:t>
            </a:r>
            <a:r>
              <a:rPr sz="2750" b="1" spc="95" dirty="0">
                <a:latin typeface="Calibri"/>
                <a:cs typeface="Calibri"/>
              </a:rPr>
              <a:t> </a:t>
            </a:r>
            <a:r>
              <a:rPr sz="2750" b="1" dirty="0">
                <a:latin typeface="Calibri"/>
                <a:cs typeface="Calibri"/>
              </a:rPr>
              <a:t>and</a:t>
            </a:r>
            <a:r>
              <a:rPr sz="2750" b="1" spc="100" dirty="0">
                <a:latin typeface="Calibri"/>
                <a:cs typeface="Calibri"/>
              </a:rPr>
              <a:t> </a:t>
            </a:r>
            <a:r>
              <a:rPr sz="2750" b="1" spc="-10" dirty="0">
                <a:latin typeface="Calibri"/>
                <a:cs typeface="Calibri"/>
              </a:rPr>
              <a:t>profitability.</a:t>
            </a:r>
            <a:endParaRPr sz="2750" dirty="0">
              <a:latin typeface="Calibri"/>
              <a:cs typeface="Calibri"/>
            </a:endParaRPr>
          </a:p>
        </p:txBody>
      </p:sp>
      <p:sp>
        <p:nvSpPr>
          <p:cNvPr id="4" name="object 4"/>
          <p:cNvSpPr/>
          <p:nvPr/>
        </p:nvSpPr>
        <p:spPr>
          <a:xfrm>
            <a:off x="1041500" y="642358"/>
            <a:ext cx="1546860" cy="1543050"/>
          </a:xfrm>
          <a:custGeom>
            <a:avLst/>
            <a:gdLst/>
            <a:ahLst/>
            <a:cxnLst/>
            <a:rect l="l" t="t" r="r" b="b"/>
            <a:pathLst>
              <a:path w="1546860" h="1543050">
                <a:moveTo>
                  <a:pt x="972261" y="511043"/>
                </a:moveTo>
                <a:lnTo>
                  <a:pt x="936795" y="518216"/>
                </a:lnTo>
                <a:lnTo>
                  <a:pt x="907796" y="537772"/>
                </a:lnTo>
                <a:lnTo>
                  <a:pt x="888224" y="566764"/>
                </a:lnTo>
                <a:lnTo>
                  <a:pt x="881043" y="602246"/>
                </a:lnTo>
                <a:lnTo>
                  <a:pt x="881043" y="1450678"/>
                </a:lnTo>
                <a:lnTo>
                  <a:pt x="888206" y="1486154"/>
                </a:lnTo>
                <a:lnTo>
                  <a:pt x="907747" y="1515126"/>
                </a:lnTo>
                <a:lnTo>
                  <a:pt x="936741" y="1534660"/>
                </a:lnTo>
                <a:lnTo>
                  <a:pt x="972261" y="1541823"/>
                </a:lnTo>
                <a:lnTo>
                  <a:pt x="972261" y="1542536"/>
                </a:lnTo>
                <a:lnTo>
                  <a:pt x="1007781" y="1535382"/>
                </a:lnTo>
                <a:lnTo>
                  <a:pt x="1036775" y="1515864"/>
                </a:lnTo>
                <a:lnTo>
                  <a:pt x="1056316" y="1486895"/>
                </a:lnTo>
                <a:lnTo>
                  <a:pt x="1063480" y="1451391"/>
                </a:lnTo>
                <a:lnTo>
                  <a:pt x="1063479" y="602246"/>
                </a:lnTo>
                <a:lnTo>
                  <a:pt x="1056303" y="566764"/>
                </a:lnTo>
                <a:lnTo>
                  <a:pt x="1036743" y="537772"/>
                </a:lnTo>
                <a:lnTo>
                  <a:pt x="1007740" y="518216"/>
                </a:lnTo>
                <a:lnTo>
                  <a:pt x="972261" y="511043"/>
                </a:lnTo>
                <a:close/>
              </a:path>
              <a:path w="1546860" h="1543050">
                <a:moveTo>
                  <a:pt x="678589" y="611983"/>
                </a:moveTo>
                <a:lnTo>
                  <a:pt x="643110" y="619146"/>
                </a:lnTo>
                <a:lnTo>
                  <a:pt x="614108" y="638680"/>
                </a:lnTo>
                <a:lnTo>
                  <a:pt x="594547" y="667650"/>
                </a:lnTo>
                <a:lnTo>
                  <a:pt x="587371" y="703122"/>
                </a:lnTo>
                <a:lnTo>
                  <a:pt x="587371" y="1349622"/>
                </a:lnTo>
                <a:lnTo>
                  <a:pt x="594535" y="1385098"/>
                </a:lnTo>
                <a:lnTo>
                  <a:pt x="614076" y="1414070"/>
                </a:lnTo>
                <a:lnTo>
                  <a:pt x="643069" y="1433604"/>
                </a:lnTo>
                <a:lnTo>
                  <a:pt x="678564" y="1440762"/>
                </a:lnTo>
                <a:lnTo>
                  <a:pt x="677976" y="1440762"/>
                </a:lnTo>
                <a:lnTo>
                  <a:pt x="713516" y="1433604"/>
                </a:lnTo>
                <a:lnTo>
                  <a:pt x="713932" y="1433604"/>
                </a:lnTo>
                <a:lnTo>
                  <a:pt x="742948" y="1414070"/>
                </a:lnTo>
                <a:lnTo>
                  <a:pt x="767425" y="1361300"/>
                </a:lnTo>
                <a:lnTo>
                  <a:pt x="769808" y="703122"/>
                </a:lnTo>
                <a:lnTo>
                  <a:pt x="762626" y="667650"/>
                </a:lnTo>
                <a:lnTo>
                  <a:pt x="743055" y="638680"/>
                </a:lnTo>
                <a:lnTo>
                  <a:pt x="714055" y="619146"/>
                </a:lnTo>
                <a:lnTo>
                  <a:pt x="678589" y="611983"/>
                </a:lnTo>
                <a:close/>
              </a:path>
              <a:path w="1546860" h="1543050">
                <a:moveTo>
                  <a:pt x="1154762" y="1247724"/>
                </a:moveTo>
                <a:lnTo>
                  <a:pt x="1154762" y="1321249"/>
                </a:lnTo>
                <a:lnTo>
                  <a:pt x="1427676" y="1403065"/>
                </a:lnTo>
                <a:lnTo>
                  <a:pt x="1460360" y="1408052"/>
                </a:lnTo>
                <a:lnTo>
                  <a:pt x="1492625" y="1403065"/>
                </a:lnTo>
                <a:lnTo>
                  <a:pt x="1519733" y="1386623"/>
                </a:lnTo>
                <a:lnTo>
                  <a:pt x="1538586" y="1361301"/>
                </a:lnTo>
                <a:lnTo>
                  <a:pt x="1544573" y="1337378"/>
                </a:lnTo>
                <a:lnTo>
                  <a:pt x="1456822" y="1337378"/>
                </a:lnTo>
                <a:lnTo>
                  <a:pt x="1452592" y="1336694"/>
                </a:lnTo>
                <a:lnTo>
                  <a:pt x="1448595" y="1335370"/>
                </a:lnTo>
                <a:lnTo>
                  <a:pt x="1154762" y="1247724"/>
                </a:lnTo>
                <a:close/>
              </a:path>
              <a:path w="1546860" h="1543050">
                <a:moveTo>
                  <a:pt x="384918" y="708745"/>
                </a:moveTo>
                <a:lnTo>
                  <a:pt x="349367" y="715909"/>
                </a:lnTo>
                <a:lnTo>
                  <a:pt x="320366" y="735447"/>
                </a:lnTo>
                <a:lnTo>
                  <a:pt x="300837" y="764426"/>
                </a:lnTo>
                <a:lnTo>
                  <a:pt x="293680" y="799916"/>
                </a:lnTo>
                <a:lnTo>
                  <a:pt x="293680" y="1253360"/>
                </a:lnTo>
                <a:lnTo>
                  <a:pt x="320418" y="1317832"/>
                </a:lnTo>
                <a:lnTo>
                  <a:pt x="384918" y="1344506"/>
                </a:lnTo>
                <a:lnTo>
                  <a:pt x="420289" y="1337378"/>
                </a:lnTo>
                <a:lnTo>
                  <a:pt x="421399" y="1336693"/>
                </a:lnTo>
                <a:lnTo>
                  <a:pt x="449439" y="1317832"/>
                </a:lnTo>
                <a:lnTo>
                  <a:pt x="469018" y="1288863"/>
                </a:lnTo>
                <a:lnTo>
                  <a:pt x="476201" y="1253360"/>
                </a:lnTo>
                <a:lnTo>
                  <a:pt x="476201" y="799916"/>
                </a:lnTo>
                <a:lnTo>
                  <a:pt x="469027" y="764426"/>
                </a:lnTo>
                <a:lnTo>
                  <a:pt x="449464" y="735447"/>
                </a:lnTo>
                <a:lnTo>
                  <a:pt x="420448" y="715909"/>
                </a:lnTo>
                <a:lnTo>
                  <a:pt x="384918" y="708745"/>
                </a:lnTo>
                <a:close/>
              </a:path>
              <a:path w="1546860" h="1543050">
                <a:moveTo>
                  <a:pt x="396105" y="70325"/>
                </a:moveTo>
                <a:lnTo>
                  <a:pt x="146464" y="70324"/>
                </a:lnTo>
                <a:lnTo>
                  <a:pt x="150670" y="70999"/>
                </a:lnTo>
                <a:lnTo>
                  <a:pt x="154702" y="72285"/>
                </a:lnTo>
                <a:lnTo>
                  <a:pt x="1428385" y="452940"/>
                </a:lnTo>
                <a:lnTo>
                  <a:pt x="1462878" y="476709"/>
                </a:lnTo>
                <a:lnTo>
                  <a:pt x="1476605" y="1337378"/>
                </a:lnTo>
                <a:lnTo>
                  <a:pt x="1544573" y="1337378"/>
                </a:lnTo>
                <a:lnTo>
                  <a:pt x="1546518" y="1329604"/>
                </a:lnTo>
                <a:lnTo>
                  <a:pt x="1546582" y="508215"/>
                </a:lnTo>
                <a:lnTo>
                  <a:pt x="1538943" y="468946"/>
                </a:lnTo>
                <a:lnTo>
                  <a:pt x="1517980" y="432795"/>
                </a:lnTo>
                <a:lnTo>
                  <a:pt x="1486628" y="403447"/>
                </a:lnTo>
                <a:lnTo>
                  <a:pt x="1448063" y="384704"/>
                </a:lnTo>
                <a:lnTo>
                  <a:pt x="396105" y="70325"/>
                </a:lnTo>
                <a:close/>
              </a:path>
              <a:path w="1546860" h="1543050">
                <a:moveTo>
                  <a:pt x="91223" y="807018"/>
                </a:moveTo>
                <a:lnTo>
                  <a:pt x="55284" y="814277"/>
                </a:lnTo>
                <a:lnTo>
                  <a:pt x="55613" y="814277"/>
                </a:lnTo>
                <a:lnTo>
                  <a:pt x="26680" y="833824"/>
                </a:lnTo>
                <a:lnTo>
                  <a:pt x="7168" y="862753"/>
                </a:lnTo>
                <a:lnTo>
                  <a:pt x="0" y="898157"/>
                </a:lnTo>
                <a:lnTo>
                  <a:pt x="13" y="1154959"/>
                </a:lnTo>
                <a:lnTo>
                  <a:pt x="7215" y="1190431"/>
                </a:lnTo>
                <a:lnTo>
                  <a:pt x="26823" y="1219403"/>
                </a:lnTo>
                <a:lnTo>
                  <a:pt x="55821" y="1238939"/>
                </a:lnTo>
                <a:lnTo>
                  <a:pt x="56044" y="1238939"/>
                </a:lnTo>
                <a:lnTo>
                  <a:pt x="91529" y="1246101"/>
                </a:lnTo>
                <a:lnTo>
                  <a:pt x="91236" y="1246101"/>
                </a:lnTo>
                <a:lnTo>
                  <a:pt x="126730" y="1238939"/>
                </a:lnTo>
                <a:lnTo>
                  <a:pt x="155749" y="1219403"/>
                </a:lnTo>
                <a:lnTo>
                  <a:pt x="175327" y="1190431"/>
                </a:lnTo>
                <a:lnTo>
                  <a:pt x="182510" y="1154959"/>
                </a:lnTo>
                <a:lnTo>
                  <a:pt x="182509" y="898157"/>
                </a:lnTo>
                <a:lnTo>
                  <a:pt x="175288" y="862753"/>
                </a:lnTo>
                <a:lnTo>
                  <a:pt x="155724" y="833824"/>
                </a:lnTo>
                <a:lnTo>
                  <a:pt x="126731" y="814277"/>
                </a:lnTo>
                <a:lnTo>
                  <a:pt x="91223" y="807018"/>
                </a:lnTo>
                <a:close/>
              </a:path>
              <a:path w="1546860" h="1543050">
                <a:moveTo>
                  <a:pt x="129961" y="0"/>
                </a:moveTo>
                <a:lnTo>
                  <a:pt x="92018" y="14202"/>
                </a:lnTo>
                <a:lnTo>
                  <a:pt x="65795" y="43379"/>
                </a:lnTo>
                <a:lnTo>
                  <a:pt x="56006" y="84079"/>
                </a:lnTo>
                <a:lnTo>
                  <a:pt x="56006" y="719382"/>
                </a:lnTo>
                <a:lnTo>
                  <a:pt x="64753" y="717859"/>
                </a:lnTo>
                <a:lnTo>
                  <a:pt x="73560" y="716763"/>
                </a:lnTo>
                <a:lnTo>
                  <a:pt x="82410" y="716102"/>
                </a:lnTo>
                <a:lnTo>
                  <a:pt x="90103" y="715909"/>
                </a:lnTo>
                <a:lnTo>
                  <a:pt x="126634" y="715909"/>
                </a:lnTo>
                <a:lnTo>
                  <a:pt x="126634" y="70324"/>
                </a:lnTo>
                <a:lnTo>
                  <a:pt x="396105" y="70325"/>
                </a:lnTo>
                <a:lnTo>
                  <a:pt x="174909" y="4220"/>
                </a:lnTo>
                <a:lnTo>
                  <a:pt x="129961" y="0"/>
                </a:lnTo>
                <a:close/>
              </a:path>
              <a:path w="1546860" h="1543050">
                <a:moveTo>
                  <a:pt x="126634" y="715909"/>
                </a:moveTo>
                <a:lnTo>
                  <a:pt x="92475" y="715909"/>
                </a:lnTo>
                <a:lnTo>
                  <a:pt x="100181" y="716102"/>
                </a:lnTo>
                <a:lnTo>
                  <a:pt x="109047" y="716763"/>
                </a:lnTo>
                <a:lnTo>
                  <a:pt x="117870" y="717859"/>
                </a:lnTo>
                <a:lnTo>
                  <a:pt x="126634" y="719382"/>
                </a:lnTo>
                <a:lnTo>
                  <a:pt x="126634" y="715909"/>
                </a:lnTo>
                <a:close/>
              </a:path>
            </a:pathLst>
          </a:custGeom>
          <a:solidFill>
            <a:srgbClr val="333333"/>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96170" y="266700"/>
            <a:ext cx="18191830" cy="980629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0" y="0"/>
            <a:ext cx="18288000" cy="1004220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1502" rIns="0" bIns="0" rtlCol="0">
            <a:spAutoFit/>
          </a:bodyPr>
          <a:lstStyle/>
          <a:p>
            <a:pPr marL="316865">
              <a:lnSpc>
                <a:spcPct val="100000"/>
              </a:lnSpc>
              <a:spcBef>
                <a:spcPts val="105"/>
              </a:spcBef>
            </a:pPr>
            <a:r>
              <a:rPr dirty="0"/>
              <a:t>Applications</a:t>
            </a:r>
            <a:r>
              <a:rPr spc="-140" dirty="0"/>
              <a:t> </a:t>
            </a:r>
            <a:r>
              <a:rPr dirty="0"/>
              <a:t>&amp;</a:t>
            </a:r>
            <a:r>
              <a:rPr spc="-135" dirty="0"/>
              <a:t> </a:t>
            </a:r>
            <a:r>
              <a:rPr spc="-10" dirty="0"/>
              <a:t>Recommendations</a:t>
            </a:r>
          </a:p>
        </p:txBody>
      </p:sp>
      <p:sp>
        <p:nvSpPr>
          <p:cNvPr id="3" name="object 3"/>
          <p:cNvSpPr txBox="1"/>
          <p:nvPr/>
        </p:nvSpPr>
        <p:spPr>
          <a:xfrm>
            <a:off x="1599564" y="2333184"/>
            <a:ext cx="16022319" cy="6386195"/>
          </a:xfrm>
          <a:prstGeom prst="rect">
            <a:avLst/>
          </a:prstGeom>
        </p:spPr>
        <p:txBody>
          <a:bodyPr vert="horz" wrap="square" lIns="0" tIns="229235" rIns="0" bIns="0" rtlCol="0">
            <a:spAutoFit/>
          </a:bodyPr>
          <a:lstStyle/>
          <a:p>
            <a:pPr marL="12700">
              <a:lnSpc>
                <a:spcPct val="100000"/>
              </a:lnSpc>
              <a:spcBef>
                <a:spcPts val="1805"/>
              </a:spcBef>
            </a:pPr>
            <a:r>
              <a:rPr sz="3500" b="1" spc="-10" dirty="0">
                <a:latin typeface="Times New Roman"/>
                <a:cs typeface="Times New Roman"/>
              </a:rPr>
              <a:t>Applications</a:t>
            </a:r>
            <a:endParaRPr sz="3500">
              <a:latin typeface="Times New Roman"/>
              <a:cs typeface="Times New Roman"/>
            </a:endParaRPr>
          </a:p>
          <a:p>
            <a:pPr marL="720090" marR="340360" indent="-405765">
              <a:lnSpc>
                <a:spcPct val="136400"/>
              </a:lnSpc>
              <a:spcBef>
                <a:spcPts val="155"/>
              </a:spcBef>
              <a:buChar char="•"/>
              <a:tabLst>
                <a:tab pos="720090" algn="l"/>
                <a:tab pos="772160" algn="l"/>
              </a:tabLst>
            </a:pPr>
            <a:r>
              <a:rPr sz="2750" dirty="0">
                <a:latin typeface="Arial MT"/>
                <a:cs typeface="Arial MT"/>
              </a:rPr>
              <a:t>	</a:t>
            </a:r>
            <a:r>
              <a:rPr sz="2750" dirty="0">
                <a:latin typeface="Calibri"/>
                <a:cs typeface="Calibri"/>
              </a:rPr>
              <a:t>Helps</a:t>
            </a:r>
            <a:r>
              <a:rPr sz="2750" spc="40" dirty="0">
                <a:latin typeface="Calibri"/>
                <a:cs typeface="Calibri"/>
              </a:rPr>
              <a:t> </a:t>
            </a:r>
            <a:r>
              <a:rPr sz="2750" dirty="0">
                <a:latin typeface="Calibri"/>
                <a:cs typeface="Calibri"/>
              </a:rPr>
              <a:t>management</a:t>
            </a:r>
            <a:r>
              <a:rPr sz="2750" spc="50" dirty="0">
                <a:latin typeface="Calibri"/>
                <a:cs typeface="Calibri"/>
              </a:rPr>
              <a:t> </a:t>
            </a:r>
            <a:r>
              <a:rPr sz="2750" dirty="0">
                <a:latin typeface="Calibri"/>
                <a:cs typeface="Calibri"/>
              </a:rPr>
              <a:t>evaluate</a:t>
            </a:r>
            <a:r>
              <a:rPr sz="2750" spc="40" dirty="0">
                <a:latin typeface="Calibri"/>
                <a:cs typeface="Calibri"/>
              </a:rPr>
              <a:t> </a:t>
            </a:r>
            <a:r>
              <a:rPr sz="2750" dirty="0">
                <a:latin typeface="Calibri"/>
                <a:cs typeface="Calibri"/>
              </a:rPr>
              <a:t>company</a:t>
            </a:r>
            <a:r>
              <a:rPr sz="2750" spc="100" dirty="0">
                <a:latin typeface="Calibri"/>
                <a:cs typeface="Calibri"/>
              </a:rPr>
              <a:t> </a:t>
            </a:r>
            <a:r>
              <a:rPr sz="2750" dirty="0">
                <a:latin typeface="Calibri"/>
                <a:cs typeface="Calibri"/>
              </a:rPr>
              <a:t>performance</a:t>
            </a:r>
            <a:r>
              <a:rPr sz="2750" spc="45" dirty="0">
                <a:latin typeface="Calibri"/>
                <a:cs typeface="Calibri"/>
              </a:rPr>
              <a:t> </a:t>
            </a:r>
            <a:r>
              <a:rPr sz="2750" dirty="0">
                <a:latin typeface="Calibri"/>
                <a:cs typeface="Calibri"/>
              </a:rPr>
              <a:t>across</a:t>
            </a:r>
            <a:r>
              <a:rPr sz="2750" spc="114" dirty="0">
                <a:latin typeface="Calibri"/>
                <a:cs typeface="Calibri"/>
              </a:rPr>
              <a:t> </a:t>
            </a:r>
            <a:r>
              <a:rPr sz="2750" dirty="0">
                <a:latin typeface="Calibri"/>
                <a:cs typeface="Calibri"/>
              </a:rPr>
              <a:t>Revenue,</a:t>
            </a:r>
            <a:r>
              <a:rPr sz="2750" spc="60" dirty="0">
                <a:latin typeface="Calibri"/>
                <a:cs typeface="Calibri"/>
              </a:rPr>
              <a:t> </a:t>
            </a:r>
            <a:r>
              <a:rPr sz="2750" spc="-10" dirty="0">
                <a:latin typeface="Calibri"/>
                <a:cs typeface="Calibri"/>
              </a:rPr>
              <a:t>Profitability,</a:t>
            </a:r>
            <a:r>
              <a:rPr sz="2750" spc="60" dirty="0">
                <a:latin typeface="Calibri"/>
                <a:cs typeface="Calibri"/>
              </a:rPr>
              <a:t> </a:t>
            </a:r>
            <a:r>
              <a:rPr sz="2750" dirty="0">
                <a:latin typeface="Calibri"/>
                <a:cs typeface="Calibri"/>
              </a:rPr>
              <a:t>Assets,</a:t>
            </a:r>
            <a:r>
              <a:rPr sz="2750" spc="-15" dirty="0">
                <a:latin typeface="Calibri"/>
                <a:cs typeface="Calibri"/>
              </a:rPr>
              <a:t> </a:t>
            </a:r>
            <a:r>
              <a:rPr sz="2750" dirty="0">
                <a:latin typeface="Calibri"/>
                <a:cs typeface="Calibri"/>
              </a:rPr>
              <a:t>and</a:t>
            </a:r>
            <a:r>
              <a:rPr sz="2750" spc="45" dirty="0">
                <a:latin typeface="Calibri"/>
                <a:cs typeface="Calibri"/>
              </a:rPr>
              <a:t> </a:t>
            </a:r>
            <a:r>
              <a:rPr sz="2750" dirty="0">
                <a:latin typeface="Calibri"/>
                <a:cs typeface="Calibri"/>
              </a:rPr>
              <a:t>Cash</a:t>
            </a:r>
            <a:r>
              <a:rPr sz="2750" spc="114" dirty="0">
                <a:latin typeface="Calibri"/>
                <a:cs typeface="Calibri"/>
              </a:rPr>
              <a:t> </a:t>
            </a:r>
            <a:r>
              <a:rPr sz="2750" spc="-20" dirty="0">
                <a:latin typeface="Calibri"/>
                <a:cs typeface="Calibri"/>
              </a:rPr>
              <a:t>Flow </a:t>
            </a:r>
            <a:r>
              <a:rPr sz="2750" dirty="0">
                <a:latin typeface="Calibri"/>
                <a:cs typeface="Calibri"/>
              </a:rPr>
              <a:t>for</a:t>
            </a:r>
            <a:r>
              <a:rPr sz="2750" spc="-10" dirty="0">
                <a:latin typeface="Calibri"/>
                <a:cs typeface="Calibri"/>
              </a:rPr>
              <a:t> </a:t>
            </a:r>
            <a:r>
              <a:rPr sz="2750" dirty="0">
                <a:latin typeface="Calibri"/>
                <a:cs typeface="Calibri"/>
              </a:rPr>
              <a:t>better</a:t>
            </a:r>
            <a:r>
              <a:rPr sz="2750" spc="-10" dirty="0">
                <a:latin typeface="Calibri"/>
                <a:cs typeface="Calibri"/>
              </a:rPr>
              <a:t> </a:t>
            </a:r>
            <a:r>
              <a:rPr sz="2750" dirty="0">
                <a:latin typeface="Calibri"/>
                <a:cs typeface="Calibri"/>
              </a:rPr>
              <a:t>strategic</a:t>
            </a:r>
            <a:r>
              <a:rPr sz="2750" spc="-55" dirty="0">
                <a:latin typeface="Calibri"/>
                <a:cs typeface="Calibri"/>
              </a:rPr>
              <a:t> </a:t>
            </a:r>
            <a:r>
              <a:rPr sz="2750" spc="-10" dirty="0">
                <a:latin typeface="Calibri"/>
                <a:cs typeface="Calibri"/>
              </a:rPr>
              <a:t>planning.</a:t>
            </a:r>
            <a:endParaRPr sz="2750">
              <a:latin typeface="Calibri"/>
              <a:cs typeface="Calibri"/>
            </a:endParaRPr>
          </a:p>
          <a:p>
            <a:pPr marL="720090" marR="5080" indent="-405765">
              <a:lnSpc>
                <a:spcPct val="136500"/>
              </a:lnSpc>
              <a:buChar char="•"/>
              <a:tabLst>
                <a:tab pos="720090" algn="l"/>
                <a:tab pos="772160" algn="l"/>
              </a:tabLst>
            </a:pPr>
            <a:r>
              <a:rPr sz="2750" dirty="0">
                <a:latin typeface="Arial MT"/>
                <a:cs typeface="Arial MT"/>
              </a:rPr>
              <a:t>	</a:t>
            </a:r>
            <a:r>
              <a:rPr sz="2750" dirty="0">
                <a:latin typeface="Calibri"/>
                <a:cs typeface="Calibri"/>
              </a:rPr>
              <a:t>Enables</a:t>
            </a:r>
            <a:r>
              <a:rPr sz="2750" spc="155" dirty="0">
                <a:latin typeface="Calibri"/>
                <a:cs typeface="Calibri"/>
              </a:rPr>
              <a:t> </a:t>
            </a:r>
            <a:r>
              <a:rPr sz="2750" dirty="0">
                <a:latin typeface="Calibri"/>
                <a:cs typeface="Calibri"/>
              </a:rPr>
              <a:t>comparison</a:t>
            </a:r>
            <a:r>
              <a:rPr sz="2750" spc="75" dirty="0">
                <a:latin typeface="Calibri"/>
                <a:cs typeface="Calibri"/>
              </a:rPr>
              <a:t> </a:t>
            </a:r>
            <a:r>
              <a:rPr sz="2750" dirty="0">
                <a:latin typeface="Calibri"/>
                <a:cs typeface="Calibri"/>
              </a:rPr>
              <a:t>between</a:t>
            </a:r>
            <a:r>
              <a:rPr sz="2750" spc="80" dirty="0">
                <a:latin typeface="Calibri"/>
                <a:cs typeface="Calibri"/>
              </a:rPr>
              <a:t> </a:t>
            </a:r>
            <a:r>
              <a:rPr sz="2750" dirty="0">
                <a:latin typeface="Calibri"/>
                <a:cs typeface="Calibri"/>
              </a:rPr>
              <a:t>companies</a:t>
            </a:r>
            <a:r>
              <a:rPr sz="2750" spc="70" dirty="0">
                <a:latin typeface="Calibri"/>
                <a:cs typeface="Calibri"/>
              </a:rPr>
              <a:t> </a:t>
            </a:r>
            <a:r>
              <a:rPr sz="2750" dirty="0">
                <a:latin typeface="Calibri"/>
                <a:cs typeface="Calibri"/>
              </a:rPr>
              <a:t>to</a:t>
            </a:r>
            <a:r>
              <a:rPr sz="2750" spc="145" dirty="0">
                <a:latin typeface="Calibri"/>
                <a:cs typeface="Calibri"/>
              </a:rPr>
              <a:t> </a:t>
            </a:r>
            <a:r>
              <a:rPr sz="2750" dirty="0">
                <a:latin typeface="Calibri"/>
                <a:cs typeface="Calibri"/>
              </a:rPr>
              <a:t>identify</a:t>
            </a:r>
            <a:r>
              <a:rPr sz="2750" spc="215" dirty="0">
                <a:latin typeface="Calibri"/>
                <a:cs typeface="Calibri"/>
              </a:rPr>
              <a:t> </a:t>
            </a:r>
            <a:r>
              <a:rPr sz="2750" b="1" dirty="0">
                <a:latin typeface="Calibri"/>
                <a:cs typeface="Calibri"/>
              </a:rPr>
              <a:t>industry</a:t>
            </a:r>
            <a:r>
              <a:rPr sz="2750" b="1" spc="65" dirty="0">
                <a:latin typeface="Calibri"/>
                <a:cs typeface="Calibri"/>
              </a:rPr>
              <a:t> </a:t>
            </a:r>
            <a:r>
              <a:rPr sz="2750" b="1" dirty="0">
                <a:latin typeface="Calibri"/>
                <a:cs typeface="Calibri"/>
              </a:rPr>
              <a:t>leaders</a:t>
            </a:r>
            <a:r>
              <a:rPr sz="2750" b="1" spc="160" dirty="0">
                <a:latin typeface="Calibri"/>
                <a:cs typeface="Calibri"/>
              </a:rPr>
              <a:t> </a:t>
            </a:r>
            <a:r>
              <a:rPr sz="2750" dirty="0">
                <a:latin typeface="Calibri"/>
                <a:cs typeface="Calibri"/>
              </a:rPr>
              <a:t>and</a:t>
            </a:r>
            <a:r>
              <a:rPr sz="2750" spc="60" dirty="0">
                <a:latin typeface="Calibri"/>
                <a:cs typeface="Calibri"/>
              </a:rPr>
              <a:t> </a:t>
            </a:r>
            <a:r>
              <a:rPr sz="2750" b="1" dirty="0">
                <a:latin typeface="Calibri"/>
                <a:cs typeface="Calibri"/>
              </a:rPr>
              <a:t>underperformers</a:t>
            </a:r>
            <a:r>
              <a:rPr sz="2750" b="1" spc="114" dirty="0">
                <a:latin typeface="Calibri"/>
                <a:cs typeface="Calibri"/>
              </a:rPr>
              <a:t> </a:t>
            </a:r>
            <a:r>
              <a:rPr sz="2750" dirty="0">
                <a:latin typeface="Calibri"/>
                <a:cs typeface="Calibri"/>
              </a:rPr>
              <a:t>using</a:t>
            </a:r>
            <a:r>
              <a:rPr sz="2750" spc="85" dirty="0">
                <a:latin typeface="Calibri"/>
                <a:cs typeface="Calibri"/>
              </a:rPr>
              <a:t> </a:t>
            </a:r>
            <a:r>
              <a:rPr sz="2750" dirty="0">
                <a:latin typeface="Calibri"/>
                <a:cs typeface="Calibri"/>
              </a:rPr>
              <a:t>KPIs</a:t>
            </a:r>
            <a:r>
              <a:rPr sz="2750" spc="75" dirty="0">
                <a:latin typeface="Calibri"/>
                <a:cs typeface="Calibri"/>
              </a:rPr>
              <a:t> </a:t>
            </a:r>
            <a:r>
              <a:rPr sz="2750" spc="-20" dirty="0">
                <a:latin typeface="Calibri"/>
                <a:cs typeface="Calibri"/>
              </a:rPr>
              <a:t>like </a:t>
            </a:r>
            <a:r>
              <a:rPr sz="2750" dirty="0">
                <a:latin typeface="Calibri"/>
                <a:cs typeface="Calibri"/>
              </a:rPr>
              <a:t>Net</a:t>
            </a:r>
            <a:r>
              <a:rPr sz="2750" spc="10" dirty="0">
                <a:latin typeface="Calibri"/>
                <a:cs typeface="Calibri"/>
              </a:rPr>
              <a:t> </a:t>
            </a:r>
            <a:r>
              <a:rPr sz="2750" dirty="0">
                <a:latin typeface="Calibri"/>
                <a:cs typeface="Calibri"/>
              </a:rPr>
              <a:t>Income,</a:t>
            </a:r>
            <a:r>
              <a:rPr sz="2750" spc="35" dirty="0">
                <a:latin typeface="Calibri"/>
                <a:cs typeface="Calibri"/>
              </a:rPr>
              <a:t> </a:t>
            </a:r>
            <a:r>
              <a:rPr sz="2750" dirty="0">
                <a:latin typeface="Calibri"/>
                <a:cs typeface="Calibri"/>
              </a:rPr>
              <a:t>Free</a:t>
            </a:r>
            <a:r>
              <a:rPr sz="2750" spc="15" dirty="0">
                <a:latin typeface="Calibri"/>
                <a:cs typeface="Calibri"/>
              </a:rPr>
              <a:t> </a:t>
            </a:r>
            <a:r>
              <a:rPr sz="2750" dirty="0">
                <a:latin typeface="Calibri"/>
                <a:cs typeface="Calibri"/>
              </a:rPr>
              <a:t>Cash</a:t>
            </a:r>
            <a:r>
              <a:rPr sz="2750" spc="85" dirty="0">
                <a:latin typeface="Calibri"/>
                <a:cs typeface="Calibri"/>
              </a:rPr>
              <a:t> </a:t>
            </a:r>
            <a:r>
              <a:rPr sz="2750" spc="-10" dirty="0">
                <a:latin typeface="Calibri"/>
                <a:cs typeface="Calibri"/>
              </a:rPr>
              <a:t>Flow,</a:t>
            </a:r>
            <a:r>
              <a:rPr sz="2750" spc="35" dirty="0">
                <a:latin typeface="Calibri"/>
                <a:cs typeface="Calibri"/>
              </a:rPr>
              <a:t> </a:t>
            </a:r>
            <a:r>
              <a:rPr sz="2750" dirty="0">
                <a:latin typeface="Calibri"/>
                <a:cs typeface="Calibri"/>
              </a:rPr>
              <a:t>and</a:t>
            </a:r>
            <a:r>
              <a:rPr sz="2750" spc="85" dirty="0">
                <a:latin typeface="Calibri"/>
                <a:cs typeface="Calibri"/>
              </a:rPr>
              <a:t> </a:t>
            </a:r>
            <a:r>
              <a:rPr sz="2750" dirty="0">
                <a:latin typeface="Calibri"/>
                <a:cs typeface="Calibri"/>
              </a:rPr>
              <a:t>Debt</a:t>
            </a:r>
            <a:r>
              <a:rPr sz="2750" spc="25" dirty="0">
                <a:latin typeface="Calibri"/>
                <a:cs typeface="Calibri"/>
              </a:rPr>
              <a:t> </a:t>
            </a:r>
            <a:r>
              <a:rPr sz="2750" spc="-10" dirty="0">
                <a:latin typeface="Calibri"/>
                <a:cs typeface="Calibri"/>
              </a:rPr>
              <a:t>Ratios.</a:t>
            </a:r>
            <a:endParaRPr sz="2750">
              <a:latin typeface="Calibri"/>
              <a:cs typeface="Calibri"/>
            </a:endParaRPr>
          </a:p>
          <a:p>
            <a:pPr marL="772160" indent="-457200">
              <a:lnSpc>
                <a:spcPct val="100000"/>
              </a:lnSpc>
              <a:spcBef>
                <a:spcPts val="1205"/>
              </a:spcBef>
              <a:buFont typeface="Arial MT"/>
              <a:buChar char="•"/>
              <a:tabLst>
                <a:tab pos="772160" algn="l"/>
              </a:tabLst>
            </a:pPr>
            <a:r>
              <a:rPr sz="2750" dirty="0">
                <a:latin typeface="Calibri"/>
                <a:cs typeface="Calibri"/>
              </a:rPr>
              <a:t>Assists</a:t>
            </a:r>
            <a:r>
              <a:rPr sz="2750" spc="40" dirty="0">
                <a:latin typeface="Calibri"/>
                <a:cs typeface="Calibri"/>
              </a:rPr>
              <a:t> </a:t>
            </a:r>
            <a:r>
              <a:rPr sz="2750" dirty="0">
                <a:latin typeface="Calibri"/>
                <a:cs typeface="Calibri"/>
              </a:rPr>
              <a:t>investors</a:t>
            </a:r>
            <a:r>
              <a:rPr sz="2750" spc="120" dirty="0">
                <a:latin typeface="Calibri"/>
                <a:cs typeface="Calibri"/>
              </a:rPr>
              <a:t> </a:t>
            </a:r>
            <a:r>
              <a:rPr sz="2750" dirty="0">
                <a:latin typeface="Calibri"/>
                <a:cs typeface="Calibri"/>
              </a:rPr>
              <a:t>and</a:t>
            </a:r>
            <a:r>
              <a:rPr sz="2750" spc="45" dirty="0">
                <a:latin typeface="Calibri"/>
                <a:cs typeface="Calibri"/>
              </a:rPr>
              <a:t> </a:t>
            </a:r>
            <a:r>
              <a:rPr sz="2750" dirty="0">
                <a:latin typeface="Calibri"/>
                <a:cs typeface="Calibri"/>
              </a:rPr>
              <a:t>analysts</a:t>
            </a:r>
            <a:r>
              <a:rPr sz="2750" spc="40" dirty="0">
                <a:latin typeface="Calibri"/>
                <a:cs typeface="Calibri"/>
              </a:rPr>
              <a:t> </a:t>
            </a:r>
            <a:r>
              <a:rPr sz="2750" dirty="0">
                <a:latin typeface="Calibri"/>
                <a:cs typeface="Calibri"/>
              </a:rPr>
              <a:t>in</a:t>
            </a:r>
            <a:r>
              <a:rPr sz="2750" spc="45" dirty="0">
                <a:latin typeface="Calibri"/>
                <a:cs typeface="Calibri"/>
              </a:rPr>
              <a:t> </a:t>
            </a:r>
            <a:r>
              <a:rPr sz="2750" dirty="0">
                <a:latin typeface="Calibri"/>
                <a:cs typeface="Calibri"/>
              </a:rPr>
              <a:t>tracking</a:t>
            </a:r>
            <a:r>
              <a:rPr sz="2750" spc="114" dirty="0">
                <a:latin typeface="Calibri"/>
                <a:cs typeface="Calibri"/>
              </a:rPr>
              <a:t> </a:t>
            </a:r>
            <a:r>
              <a:rPr sz="2750" b="1" dirty="0">
                <a:latin typeface="Calibri"/>
                <a:cs typeface="Calibri"/>
              </a:rPr>
              <a:t>financial</a:t>
            </a:r>
            <a:r>
              <a:rPr sz="2750" b="1" spc="70" dirty="0">
                <a:latin typeface="Calibri"/>
                <a:cs typeface="Calibri"/>
              </a:rPr>
              <a:t> </a:t>
            </a:r>
            <a:r>
              <a:rPr sz="2750" b="1" dirty="0">
                <a:latin typeface="Calibri"/>
                <a:cs typeface="Calibri"/>
              </a:rPr>
              <a:t>consistency</a:t>
            </a:r>
            <a:r>
              <a:rPr sz="2750" dirty="0">
                <a:latin typeface="Calibri"/>
                <a:cs typeface="Calibri"/>
              </a:rPr>
              <a:t>,</a:t>
            </a:r>
            <a:r>
              <a:rPr sz="2750" spc="50" dirty="0">
                <a:latin typeface="Calibri"/>
                <a:cs typeface="Calibri"/>
              </a:rPr>
              <a:t> </a:t>
            </a:r>
            <a:r>
              <a:rPr sz="2750" b="1" dirty="0">
                <a:latin typeface="Calibri"/>
                <a:cs typeface="Calibri"/>
              </a:rPr>
              <a:t>growth</a:t>
            </a:r>
            <a:r>
              <a:rPr sz="2750" b="1" spc="90" dirty="0">
                <a:latin typeface="Calibri"/>
                <a:cs typeface="Calibri"/>
              </a:rPr>
              <a:t> </a:t>
            </a:r>
            <a:r>
              <a:rPr sz="2750" b="1" dirty="0">
                <a:latin typeface="Calibri"/>
                <a:cs typeface="Calibri"/>
              </a:rPr>
              <a:t>potential</a:t>
            </a:r>
            <a:r>
              <a:rPr sz="2750" dirty="0">
                <a:latin typeface="Calibri"/>
                <a:cs typeface="Calibri"/>
              </a:rPr>
              <a:t>,</a:t>
            </a:r>
            <a:r>
              <a:rPr sz="2750" spc="60" dirty="0">
                <a:latin typeface="Calibri"/>
                <a:cs typeface="Calibri"/>
              </a:rPr>
              <a:t> </a:t>
            </a:r>
            <a:r>
              <a:rPr sz="2750" dirty="0">
                <a:latin typeface="Calibri"/>
                <a:cs typeface="Calibri"/>
              </a:rPr>
              <a:t>and</a:t>
            </a:r>
            <a:r>
              <a:rPr sz="2750" spc="100" dirty="0">
                <a:latin typeface="Calibri"/>
                <a:cs typeface="Calibri"/>
              </a:rPr>
              <a:t> </a:t>
            </a:r>
            <a:r>
              <a:rPr sz="2750" b="1" dirty="0">
                <a:latin typeface="Calibri"/>
                <a:cs typeface="Calibri"/>
              </a:rPr>
              <a:t>risk</a:t>
            </a:r>
            <a:r>
              <a:rPr sz="2750" b="1" spc="90" dirty="0">
                <a:latin typeface="Calibri"/>
                <a:cs typeface="Calibri"/>
              </a:rPr>
              <a:t> </a:t>
            </a:r>
            <a:r>
              <a:rPr sz="2750" b="1" dirty="0">
                <a:latin typeface="Calibri"/>
                <a:cs typeface="Calibri"/>
              </a:rPr>
              <a:t>levels</a:t>
            </a:r>
            <a:r>
              <a:rPr sz="2750" b="1" spc="65" dirty="0">
                <a:latin typeface="Calibri"/>
                <a:cs typeface="Calibri"/>
              </a:rPr>
              <a:t> </a:t>
            </a:r>
            <a:r>
              <a:rPr sz="2750" spc="-10" dirty="0">
                <a:latin typeface="Calibri"/>
                <a:cs typeface="Calibri"/>
              </a:rPr>
              <a:t>before</a:t>
            </a:r>
            <a:endParaRPr sz="2750">
              <a:latin typeface="Calibri"/>
              <a:cs typeface="Calibri"/>
            </a:endParaRPr>
          </a:p>
          <a:p>
            <a:pPr marL="801370">
              <a:lnSpc>
                <a:spcPts val="2865"/>
              </a:lnSpc>
              <a:spcBef>
                <a:spcPts val="1200"/>
              </a:spcBef>
            </a:pPr>
            <a:r>
              <a:rPr sz="2750" dirty="0">
                <a:latin typeface="Calibri"/>
                <a:cs typeface="Calibri"/>
              </a:rPr>
              <a:t>making</a:t>
            </a:r>
            <a:r>
              <a:rPr sz="2750" spc="65" dirty="0">
                <a:latin typeface="Calibri"/>
                <a:cs typeface="Calibri"/>
              </a:rPr>
              <a:t> </a:t>
            </a:r>
            <a:r>
              <a:rPr sz="2750" dirty="0">
                <a:latin typeface="Calibri"/>
                <a:cs typeface="Calibri"/>
              </a:rPr>
              <a:t>portfolio</a:t>
            </a:r>
            <a:r>
              <a:rPr sz="2750" spc="55" dirty="0">
                <a:latin typeface="Calibri"/>
                <a:cs typeface="Calibri"/>
              </a:rPr>
              <a:t> </a:t>
            </a:r>
            <a:r>
              <a:rPr sz="2750" spc="-10" dirty="0">
                <a:latin typeface="Calibri"/>
                <a:cs typeface="Calibri"/>
              </a:rPr>
              <a:t>decisions.</a:t>
            </a:r>
            <a:endParaRPr sz="2750">
              <a:latin typeface="Calibri"/>
              <a:cs typeface="Calibri"/>
            </a:endParaRPr>
          </a:p>
          <a:p>
            <a:pPr marL="34925">
              <a:lnSpc>
                <a:spcPts val="3765"/>
              </a:lnSpc>
            </a:pPr>
            <a:r>
              <a:rPr sz="3500" b="1" spc="-10" dirty="0">
                <a:latin typeface="Times New Roman"/>
                <a:cs typeface="Times New Roman"/>
              </a:rPr>
              <a:t>Recommendations</a:t>
            </a:r>
            <a:endParaRPr sz="3500">
              <a:latin typeface="Times New Roman"/>
              <a:cs typeface="Times New Roman"/>
            </a:endParaRPr>
          </a:p>
          <a:p>
            <a:pPr marL="639445" indent="-301625">
              <a:lnSpc>
                <a:spcPct val="100000"/>
              </a:lnSpc>
              <a:spcBef>
                <a:spcPts val="1355"/>
              </a:spcBef>
              <a:buFont typeface="Arial MT"/>
              <a:buChar char="•"/>
              <a:tabLst>
                <a:tab pos="639445" algn="l"/>
              </a:tabLst>
            </a:pPr>
            <a:r>
              <a:rPr sz="2750" dirty="0">
                <a:latin typeface="Calibri"/>
                <a:cs typeface="Calibri"/>
              </a:rPr>
              <a:t>Focus</a:t>
            </a:r>
            <a:r>
              <a:rPr sz="2750" spc="65" dirty="0">
                <a:latin typeface="Calibri"/>
                <a:cs typeface="Calibri"/>
              </a:rPr>
              <a:t> </a:t>
            </a:r>
            <a:r>
              <a:rPr sz="2750" dirty="0">
                <a:latin typeface="Calibri"/>
                <a:cs typeface="Calibri"/>
              </a:rPr>
              <a:t>on</a:t>
            </a:r>
            <a:r>
              <a:rPr sz="2750" spc="75" dirty="0">
                <a:latin typeface="Calibri"/>
                <a:cs typeface="Calibri"/>
              </a:rPr>
              <a:t> </a:t>
            </a:r>
            <a:r>
              <a:rPr sz="2750" dirty="0">
                <a:latin typeface="Calibri"/>
                <a:cs typeface="Calibri"/>
              </a:rPr>
              <a:t>improving</a:t>
            </a:r>
            <a:r>
              <a:rPr sz="2750" spc="60" dirty="0">
                <a:latin typeface="Calibri"/>
                <a:cs typeface="Calibri"/>
              </a:rPr>
              <a:t> </a:t>
            </a:r>
            <a:r>
              <a:rPr sz="2750" b="1" dirty="0">
                <a:latin typeface="Calibri"/>
                <a:cs typeface="Calibri"/>
              </a:rPr>
              <a:t>profit</a:t>
            </a:r>
            <a:r>
              <a:rPr sz="2750" b="1" spc="35" dirty="0">
                <a:latin typeface="Calibri"/>
                <a:cs typeface="Calibri"/>
              </a:rPr>
              <a:t> </a:t>
            </a:r>
            <a:r>
              <a:rPr sz="2750" b="1" dirty="0">
                <a:latin typeface="Calibri"/>
                <a:cs typeface="Calibri"/>
              </a:rPr>
              <a:t>margins</a:t>
            </a:r>
            <a:r>
              <a:rPr sz="2750" b="1" spc="105" dirty="0">
                <a:latin typeface="Calibri"/>
                <a:cs typeface="Calibri"/>
              </a:rPr>
              <a:t> </a:t>
            </a:r>
            <a:r>
              <a:rPr sz="2750" dirty="0">
                <a:latin typeface="Calibri"/>
                <a:cs typeface="Calibri"/>
              </a:rPr>
              <a:t>and</a:t>
            </a:r>
            <a:r>
              <a:rPr sz="2750" spc="50" dirty="0">
                <a:latin typeface="Calibri"/>
                <a:cs typeface="Calibri"/>
              </a:rPr>
              <a:t> </a:t>
            </a:r>
            <a:r>
              <a:rPr sz="2750" b="1" dirty="0">
                <a:latin typeface="Calibri"/>
                <a:cs typeface="Calibri"/>
              </a:rPr>
              <a:t>cash</a:t>
            </a:r>
            <a:r>
              <a:rPr sz="2750" b="1" spc="50" dirty="0">
                <a:latin typeface="Calibri"/>
                <a:cs typeface="Calibri"/>
              </a:rPr>
              <a:t> </a:t>
            </a:r>
            <a:r>
              <a:rPr sz="2750" b="1" dirty="0">
                <a:latin typeface="Calibri"/>
                <a:cs typeface="Calibri"/>
              </a:rPr>
              <a:t>flow</a:t>
            </a:r>
            <a:r>
              <a:rPr sz="2750" b="1" spc="150" dirty="0">
                <a:latin typeface="Calibri"/>
                <a:cs typeface="Calibri"/>
              </a:rPr>
              <a:t> </a:t>
            </a:r>
            <a:r>
              <a:rPr sz="2750" b="1" spc="-10" dirty="0">
                <a:latin typeface="Calibri"/>
                <a:cs typeface="Calibri"/>
              </a:rPr>
              <a:t>efficiency</a:t>
            </a:r>
            <a:r>
              <a:rPr sz="2750" spc="-10" dirty="0">
                <a:latin typeface="Calibri"/>
                <a:cs typeface="Calibri"/>
              </a:rPr>
              <a:t>.</a:t>
            </a:r>
            <a:endParaRPr sz="2750">
              <a:latin typeface="Calibri"/>
              <a:cs typeface="Calibri"/>
            </a:endParaRPr>
          </a:p>
          <a:p>
            <a:pPr marL="639445" indent="-301625">
              <a:lnSpc>
                <a:spcPct val="100000"/>
              </a:lnSpc>
              <a:spcBef>
                <a:spcPts val="1205"/>
              </a:spcBef>
              <a:buFont typeface="Arial MT"/>
              <a:buChar char="•"/>
              <a:tabLst>
                <a:tab pos="639445" algn="l"/>
              </a:tabLst>
            </a:pPr>
            <a:r>
              <a:rPr sz="2750" dirty="0">
                <a:latin typeface="Calibri"/>
                <a:cs typeface="Calibri"/>
              </a:rPr>
              <a:t>Reduce</a:t>
            </a:r>
            <a:r>
              <a:rPr sz="2750" spc="100" dirty="0">
                <a:latin typeface="Calibri"/>
                <a:cs typeface="Calibri"/>
              </a:rPr>
              <a:t> </a:t>
            </a:r>
            <a:r>
              <a:rPr sz="2750" b="1" dirty="0">
                <a:latin typeface="Calibri"/>
                <a:cs typeface="Calibri"/>
              </a:rPr>
              <a:t>debt</a:t>
            </a:r>
            <a:r>
              <a:rPr sz="2750" b="1" spc="40" dirty="0">
                <a:latin typeface="Calibri"/>
                <a:cs typeface="Calibri"/>
              </a:rPr>
              <a:t> </a:t>
            </a:r>
            <a:r>
              <a:rPr sz="2750" b="1" dirty="0">
                <a:latin typeface="Calibri"/>
                <a:cs typeface="Calibri"/>
              </a:rPr>
              <a:t>dependence</a:t>
            </a:r>
            <a:r>
              <a:rPr sz="2750" b="1" spc="160" dirty="0">
                <a:latin typeface="Calibri"/>
                <a:cs typeface="Calibri"/>
              </a:rPr>
              <a:t> </a:t>
            </a:r>
            <a:r>
              <a:rPr sz="2750" dirty="0">
                <a:latin typeface="Calibri"/>
                <a:cs typeface="Calibri"/>
              </a:rPr>
              <a:t>to</a:t>
            </a:r>
            <a:r>
              <a:rPr sz="2750" spc="65" dirty="0">
                <a:latin typeface="Calibri"/>
                <a:cs typeface="Calibri"/>
              </a:rPr>
              <a:t> </a:t>
            </a:r>
            <a:r>
              <a:rPr sz="2750" dirty="0">
                <a:latin typeface="Calibri"/>
                <a:cs typeface="Calibri"/>
              </a:rPr>
              <a:t>strengthen</a:t>
            </a:r>
            <a:r>
              <a:rPr sz="2750" spc="65" dirty="0">
                <a:latin typeface="Calibri"/>
                <a:cs typeface="Calibri"/>
              </a:rPr>
              <a:t> </a:t>
            </a:r>
            <a:r>
              <a:rPr sz="2750" dirty="0">
                <a:latin typeface="Calibri"/>
                <a:cs typeface="Calibri"/>
              </a:rPr>
              <a:t>balance</a:t>
            </a:r>
            <a:r>
              <a:rPr sz="2750" spc="70" dirty="0">
                <a:latin typeface="Calibri"/>
                <a:cs typeface="Calibri"/>
              </a:rPr>
              <a:t> </a:t>
            </a:r>
            <a:r>
              <a:rPr sz="2750" dirty="0">
                <a:latin typeface="Calibri"/>
                <a:cs typeface="Calibri"/>
              </a:rPr>
              <a:t>sheet</a:t>
            </a:r>
            <a:r>
              <a:rPr sz="2750" spc="75" dirty="0">
                <a:latin typeface="Calibri"/>
                <a:cs typeface="Calibri"/>
              </a:rPr>
              <a:t> </a:t>
            </a:r>
            <a:r>
              <a:rPr sz="2750" spc="-10" dirty="0">
                <a:latin typeface="Calibri"/>
                <a:cs typeface="Calibri"/>
              </a:rPr>
              <a:t>stability.</a:t>
            </a:r>
            <a:endParaRPr sz="2750">
              <a:latin typeface="Calibri"/>
              <a:cs typeface="Calibri"/>
            </a:endParaRPr>
          </a:p>
          <a:p>
            <a:pPr marL="639445" indent="-301625">
              <a:lnSpc>
                <a:spcPct val="100000"/>
              </a:lnSpc>
              <a:spcBef>
                <a:spcPts val="1205"/>
              </a:spcBef>
              <a:buFont typeface="Arial MT"/>
              <a:buChar char="•"/>
              <a:tabLst>
                <a:tab pos="639445" algn="l"/>
              </a:tabLst>
            </a:pPr>
            <a:r>
              <a:rPr sz="2750" dirty="0">
                <a:latin typeface="Calibri"/>
                <a:cs typeface="Calibri"/>
              </a:rPr>
              <a:t>Maintain</a:t>
            </a:r>
            <a:r>
              <a:rPr sz="2750" spc="105" dirty="0">
                <a:latin typeface="Calibri"/>
                <a:cs typeface="Calibri"/>
              </a:rPr>
              <a:t> </a:t>
            </a:r>
            <a:r>
              <a:rPr sz="2750" b="1" dirty="0">
                <a:latin typeface="Calibri"/>
                <a:cs typeface="Calibri"/>
              </a:rPr>
              <a:t>steady</a:t>
            </a:r>
            <a:r>
              <a:rPr sz="2750" b="1" spc="65" dirty="0">
                <a:latin typeface="Calibri"/>
                <a:cs typeface="Calibri"/>
              </a:rPr>
              <a:t> </a:t>
            </a:r>
            <a:r>
              <a:rPr sz="2750" b="1" dirty="0">
                <a:latin typeface="Calibri"/>
                <a:cs typeface="Calibri"/>
              </a:rPr>
              <a:t>capital</a:t>
            </a:r>
            <a:r>
              <a:rPr sz="2750" b="1" spc="25" dirty="0">
                <a:latin typeface="Calibri"/>
                <a:cs typeface="Calibri"/>
              </a:rPr>
              <a:t> </a:t>
            </a:r>
            <a:r>
              <a:rPr sz="2750" b="1" dirty="0">
                <a:latin typeface="Calibri"/>
                <a:cs typeface="Calibri"/>
              </a:rPr>
              <a:t>expenditure</a:t>
            </a:r>
            <a:r>
              <a:rPr sz="2750" b="1" spc="125" dirty="0">
                <a:latin typeface="Calibri"/>
                <a:cs typeface="Calibri"/>
              </a:rPr>
              <a:t> </a:t>
            </a:r>
            <a:r>
              <a:rPr sz="2750" dirty="0">
                <a:latin typeface="Calibri"/>
                <a:cs typeface="Calibri"/>
              </a:rPr>
              <a:t>to</a:t>
            </a:r>
            <a:r>
              <a:rPr sz="2750" spc="70" dirty="0">
                <a:latin typeface="Calibri"/>
                <a:cs typeface="Calibri"/>
              </a:rPr>
              <a:t> </a:t>
            </a:r>
            <a:r>
              <a:rPr sz="2750" dirty="0">
                <a:latin typeface="Calibri"/>
                <a:cs typeface="Calibri"/>
              </a:rPr>
              <a:t>support</a:t>
            </a:r>
            <a:r>
              <a:rPr sz="2750" spc="85" dirty="0">
                <a:latin typeface="Calibri"/>
                <a:cs typeface="Calibri"/>
              </a:rPr>
              <a:t> </a:t>
            </a:r>
            <a:r>
              <a:rPr sz="2750" dirty="0">
                <a:latin typeface="Calibri"/>
                <a:cs typeface="Calibri"/>
              </a:rPr>
              <a:t>long-term</a:t>
            </a:r>
            <a:r>
              <a:rPr sz="2750" spc="70" dirty="0">
                <a:latin typeface="Calibri"/>
                <a:cs typeface="Calibri"/>
              </a:rPr>
              <a:t> </a:t>
            </a:r>
            <a:r>
              <a:rPr sz="2750" dirty="0">
                <a:latin typeface="Calibri"/>
                <a:cs typeface="Calibri"/>
              </a:rPr>
              <a:t>asset</a:t>
            </a:r>
            <a:r>
              <a:rPr sz="2750" spc="80" dirty="0">
                <a:latin typeface="Calibri"/>
                <a:cs typeface="Calibri"/>
              </a:rPr>
              <a:t> </a:t>
            </a:r>
            <a:r>
              <a:rPr sz="2750" spc="-10" dirty="0">
                <a:latin typeface="Calibri"/>
                <a:cs typeface="Calibri"/>
              </a:rPr>
              <a:t>growth.</a:t>
            </a:r>
            <a:endParaRPr sz="2750">
              <a:latin typeface="Calibri"/>
              <a:cs typeface="Calibri"/>
            </a:endParaRPr>
          </a:p>
        </p:txBody>
      </p:sp>
      <p:sp>
        <p:nvSpPr>
          <p:cNvPr id="4" name="object 4"/>
          <p:cNvSpPr/>
          <p:nvPr/>
        </p:nvSpPr>
        <p:spPr>
          <a:xfrm>
            <a:off x="1041500" y="642358"/>
            <a:ext cx="1546860" cy="1543050"/>
          </a:xfrm>
          <a:custGeom>
            <a:avLst/>
            <a:gdLst/>
            <a:ahLst/>
            <a:cxnLst/>
            <a:rect l="l" t="t" r="r" b="b"/>
            <a:pathLst>
              <a:path w="1546860" h="1543050">
                <a:moveTo>
                  <a:pt x="972261" y="511043"/>
                </a:moveTo>
                <a:lnTo>
                  <a:pt x="936795" y="518216"/>
                </a:lnTo>
                <a:lnTo>
                  <a:pt x="907796" y="537772"/>
                </a:lnTo>
                <a:lnTo>
                  <a:pt x="888224" y="566764"/>
                </a:lnTo>
                <a:lnTo>
                  <a:pt x="881043" y="602246"/>
                </a:lnTo>
                <a:lnTo>
                  <a:pt x="881043" y="1450678"/>
                </a:lnTo>
                <a:lnTo>
                  <a:pt x="888206" y="1486154"/>
                </a:lnTo>
                <a:lnTo>
                  <a:pt x="907747" y="1515126"/>
                </a:lnTo>
                <a:lnTo>
                  <a:pt x="936741" y="1534660"/>
                </a:lnTo>
                <a:lnTo>
                  <a:pt x="972261" y="1541823"/>
                </a:lnTo>
                <a:lnTo>
                  <a:pt x="972261" y="1542536"/>
                </a:lnTo>
                <a:lnTo>
                  <a:pt x="1007781" y="1535382"/>
                </a:lnTo>
                <a:lnTo>
                  <a:pt x="1036775" y="1515864"/>
                </a:lnTo>
                <a:lnTo>
                  <a:pt x="1056316" y="1486895"/>
                </a:lnTo>
                <a:lnTo>
                  <a:pt x="1063480" y="1451391"/>
                </a:lnTo>
                <a:lnTo>
                  <a:pt x="1063479" y="602246"/>
                </a:lnTo>
                <a:lnTo>
                  <a:pt x="1056303" y="566764"/>
                </a:lnTo>
                <a:lnTo>
                  <a:pt x="1036743" y="537772"/>
                </a:lnTo>
                <a:lnTo>
                  <a:pt x="1007740" y="518216"/>
                </a:lnTo>
                <a:lnTo>
                  <a:pt x="972261" y="511043"/>
                </a:lnTo>
                <a:close/>
              </a:path>
              <a:path w="1546860" h="1543050">
                <a:moveTo>
                  <a:pt x="678589" y="611983"/>
                </a:moveTo>
                <a:lnTo>
                  <a:pt x="643110" y="619146"/>
                </a:lnTo>
                <a:lnTo>
                  <a:pt x="614108" y="638680"/>
                </a:lnTo>
                <a:lnTo>
                  <a:pt x="594547" y="667650"/>
                </a:lnTo>
                <a:lnTo>
                  <a:pt x="587371" y="703122"/>
                </a:lnTo>
                <a:lnTo>
                  <a:pt x="587371" y="1349622"/>
                </a:lnTo>
                <a:lnTo>
                  <a:pt x="594535" y="1385098"/>
                </a:lnTo>
                <a:lnTo>
                  <a:pt x="614076" y="1414070"/>
                </a:lnTo>
                <a:lnTo>
                  <a:pt x="643069" y="1433604"/>
                </a:lnTo>
                <a:lnTo>
                  <a:pt x="678564" y="1440762"/>
                </a:lnTo>
                <a:lnTo>
                  <a:pt x="677976" y="1440762"/>
                </a:lnTo>
                <a:lnTo>
                  <a:pt x="713516" y="1433604"/>
                </a:lnTo>
                <a:lnTo>
                  <a:pt x="713932" y="1433604"/>
                </a:lnTo>
                <a:lnTo>
                  <a:pt x="742948" y="1414070"/>
                </a:lnTo>
                <a:lnTo>
                  <a:pt x="767425" y="1361300"/>
                </a:lnTo>
                <a:lnTo>
                  <a:pt x="769808" y="703122"/>
                </a:lnTo>
                <a:lnTo>
                  <a:pt x="762626" y="667650"/>
                </a:lnTo>
                <a:lnTo>
                  <a:pt x="743055" y="638680"/>
                </a:lnTo>
                <a:lnTo>
                  <a:pt x="714055" y="619146"/>
                </a:lnTo>
                <a:lnTo>
                  <a:pt x="678589" y="611983"/>
                </a:lnTo>
                <a:close/>
              </a:path>
              <a:path w="1546860" h="1543050">
                <a:moveTo>
                  <a:pt x="1154762" y="1247724"/>
                </a:moveTo>
                <a:lnTo>
                  <a:pt x="1154762" y="1321249"/>
                </a:lnTo>
                <a:lnTo>
                  <a:pt x="1427676" y="1403065"/>
                </a:lnTo>
                <a:lnTo>
                  <a:pt x="1460360" y="1408052"/>
                </a:lnTo>
                <a:lnTo>
                  <a:pt x="1492625" y="1403065"/>
                </a:lnTo>
                <a:lnTo>
                  <a:pt x="1519733" y="1386623"/>
                </a:lnTo>
                <a:lnTo>
                  <a:pt x="1538586" y="1361301"/>
                </a:lnTo>
                <a:lnTo>
                  <a:pt x="1544573" y="1337378"/>
                </a:lnTo>
                <a:lnTo>
                  <a:pt x="1456822" y="1337378"/>
                </a:lnTo>
                <a:lnTo>
                  <a:pt x="1452592" y="1336694"/>
                </a:lnTo>
                <a:lnTo>
                  <a:pt x="1448595" y="1335370"/>
                </a:lnTo>
                <a:lnTo>
                  <a:pt x="1154762" y="1247724"/>
                </a:lnTo>
                <a:close/>
              </a:path>
              <a:path w="1546860" h="1543050">
                <a:moveTo>
                  <a:pt x="384918" y="708745"/>
                </a:moveTo>
                <a:lnTo>
                  <a:pt x="349367" y="715909"/>
                </a:lnTo>
                <a:lnTo>
                  <a:pt x="320366" y="735447"/>
                </a:lnTo>
                <a:lnTo>
                  <a:pt x="300837" y="764426"/>
                </a:lnTo>
                <a:lnTo>
                  <a:pt x="293680" y="799916"/>
                </a:lnTo>
                <a:lnTo>
                  <a:pt x="293680" y="1253360"/>
                </a:lnTo>
                <a:lnTo>
                  <a:pt x="320418" y="1317832"/>
                </a:lnTo>
                <a:lnTo>
                  <a:pt x="384918" y="1344506"/>
                </a:lnTo>
                <a:lnTo>
                  <a:pt x="420289" y="1337378"/>
                </a:lnTo>
                <a:lnTo>
                  <a:pt x="421399" y="1336693"/>
                </a:lnTo>
                <a:lnTo>
                  <a:pt x="449439" y="1317832"/>
                </a:lnTo>
                <a:lnTo>
                  <a:pt x="469018" y="1288863"/>
                </a:lnTo>
                <a:lnTo>
                  <a:pt x="476201" y="1253360"/>
                </a:lnTo>
                <a:lnTo>
                  <a:pt x="476201" y="799916"/>
                </a:lnTo>
                <a:lnTo>
                  <a:pt x="469027" y="764426"/>
                </a:lnTo>
                <a:lnTo>
                  <a:pt x="449464" y="735447"/>
                </a:lnTo>
                <a:lnTo>
                  <a:pt x="420448" y="715909"/>
                </a:lnTo>
                <a:lnTo>
                  <a:pt x="384918" y="708745"/>
                </a:lnTo>
                <a:close/>
              </a:path>
              <a:path w="1546860" h="1543050">
                <a:moveTo>
                  <a:pt x="396105" y="70325"/>
                </a:moveTo>
                <a:lnTo>
                  <a:pt x="146464" y="70324"/>
                </a:lnTo>
                <a:lnTo>
                  <a:pt x="150670" y="70999"/>
                </a:lnTo>
                <a:lnTo>
                  <a:pt x="154702" y="72285"/>
                </a:lnTo>
                <a:lnTo>
                  <a:pt x="1428385" y="452940"/>
                </a:lnTo>
                <a:lnTo>
                  <a:pt x="1462878" y="476709"/>
                </a:lnTo>
                <a:lnTo>
                  <a:pt x="1476605" y="1337378"/>
                </a:lnTo>
                <a:lnTo>
                  <a:pt x="1544573" y="1337378"/>
                </a:lnTo>
                <a:lnTo>
                  <a:pt x="1546518" y="1329604"/>
                </a:lnTo>
                <a:lnTo>
                  <a:pt x="1546582" y="508215"/>
                </a:lnTo>
                <a:lnTo>
                  <a:pt x="1538943" y="468946"/>
                </a:lnTo>
                <a:lnTo>
                  <a:pt x="1517980" y="432795"/>
                </a:lnTo>
                <a:lnTo>
                  <a:pt x="1486628" y="403447"/>
                </a:lnTo>
                <a:lnTo>
                  <a:pt x="1448063" y="384704"/>
                </a:lnTo>
                <a:lnTo>
                  <a:pt x="396105" y="70325"/>
                </a:lnTo>
                <a:close/>
              </a:path>
              <a:path w="1546860" h="1543050">
                <a:moveTo>
                  <a:pt x="91223" y="807018"/>
                </a:moveTo>
                <a:lnTo>
                  <a:pt x="55284" y="814277"/>
                </a:lnTo>
                <a:lnTo>
                  <a:pt x="55613" y="814277"/>
                </a:lnTo>
                <a:lnTo>
                  <a:pt x="26680" y="833824"/>
                </a:lnTo>
                <a:lnTo>
                  <a:pt x="7168" y="862753"/>
                </a:lnTo>
                <a:lnTo>
                  <a:pt x="0" y="898157"/>
                </a:lnTo>
                <a:lnTo>
                  <a:pt x="13" y="1154959"/>
                </a:lnTo>
                <a:lnTo>
                  <a:pt x="7215" y="1190431"/>
                </a:lnTo>
                <a:lnTo>
                  <a:pt x="26823" y="1219403"/>
                </a:lnTo>
                <a:lnTo>
                  <a:pt x="55821" y="1238939"/>
                </a:lnTo>
                <a:lnTo>
                  <a:pt x="56044" y="1238939"/>
                </a:lnTo>
                <a:lnTo>
                  <a:pt x="91529" y="1246101"/>
                </a:lnTo>
                <a:lnTo>
                  <a:pt x="91236" y="1246101"/>
                </a:lnTo>
                <a:lnTo>
                  <a:pt x="126730" y="1238939"/>
                </a:lnTo>
                <a:lnTo>
                  <a:pt x="155749" y="1219403"/>
                </a:lnTo>
                <a:lnTo>
                  <a:pt x="175327" y="1190431"/>
                </a:lnTo>
                <a:lnTo>
                  <a:pt x="182510" y="1154959"/>
                </a:lnTo>
                <a:lnTo>
                  <a:pt x="182509" y="898157"/>
                </a:lnTo>
                <a:lnTo>
                  <a:pt x="175288" y="862753"/>
                </a:lnTo>
                <a:lnTo>
                  <a:pt x="155724" y="833824"/>
                </a:lnTo>
                <a:lnTo>
                  <a:pt x="126731" y="814277"/>
                </a:lnTo>
                <a:lnTo>
                  <a:pt x="91223" y="807018"/>
                </a:lnTo>
                <a:close/>
              </a:path>
              <a:path w="1546860" h="1543050">
                <a:moveTo>
                  <a:pt x="129961" y="0"/>
                </a:moveTo>
                <a:lnTo>
                  <a:pt x="92018" y="14202"/>
                </a:lnTo>
                <a:lnTo>
                  <a:pt x="65795" y="43379"/>
                </a:lnTo>
                <a:lnTo>
                  <a:pt x="56006" y="84079"/>
                </a:lnTo>
                <a:lnTo>
                  <a:pt x="56006" y="719382"/>
                </a:lnTo>
                <a:lnTo>
                  <a:pt x="64753" y="717859"/>
                </a:lnTo>
                <a:lnTo>
                  <a:pt x="73560" y="716763"/>
                </a:lnTo>
                <a:lnTo>
                  <a:pt x="82410" y="716102"/>
                </a:lnTo>
                <a:lnTo>
                  <a:pt x="90103" y="715909"/>
                </a:lnTo>
                <a:lnTo>
                  <a:pt x="126634" y="715909"/>
                </a:lnTo>
                <a:lnTo>
                  <a:pt x="126634" y="70324"/>
                </a:lnTo>
                <a:lnTo>
                  <a:pt x="396105" y="70325"/>
                </a:lnTo>
                <a:lnTo>
                  <a:pt x="174909" y="4220"/>
                </a:lnTo>
                <a:lnTo>
                  <a:pt x="129961" y="0"/>
                </a:lnTo>
                <a:close/>
              </a:path>
              <a:path w="1546860" h="1543050">
                <a:moveTo>
                  <a:pt x="126634" y="715909"/>
                </a:moveTo>
                <a:lnTo>
                  <a:pt x="92475" y="715909"/>
                </a:lnTo>
                <a:lnTo>
                  <a:pt x="100181" y="716102"/>
                </a:lnTo>
                <a:lnTo>
                  <a:pt x="109047" y="716763"/>
                </a:lnTo>
                <a:lnTo>
                  <a:pt x="117870" y="717859"/>
                </a:lnTo>
                <a:lnTo>
                  <a:pt x="126634" y="719382"/>
                </a:lnTo>
                <a:lnTo>
                  <a:pt x="126634" y="715909"/>
                </a:lnTo>
                <a:close/>
              </a:path>
            </a:pathLst>
          </a:custGeom>
          <a:solidFill>
            <a:srgbClr val="333333"/>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1502" rIns="0" bIns="0" rtlCol="0">
            <a:spAutoFit/>
          </a:bodyPr>
          <a:lstStyle/>
          <a:p>
            <a:pPr marL="316865">
              <a:lnSpc>
                <a:spcPct val="100000"/>
              </a:lnSpc>
              <a:spcBef>
                <a:spcPts val="105"/>
              </a:spcBef>
            </a:pPr>
            <a:r>
              <a:rPr spc="-10" dirty="0"/>
              <a:t>Conclusion</a:t>
            </a:r>
          </a:p>
        </p:txBody>
      </p:sp>
      <p:sp>
        <p:nvSpPr>
          <p:cNvPr id="3" name="object 3"/>
          <p:cNvSpPr txBox="1">
            <a:spLocks noGrp="1"/>
          </p:cNvSpPr>
          <p:nvPr>
            <p:ph type="body" idx="1"/>
          </p:nvPr>
        </p:nvSpPr>
        <p:spPr>
          <a:prstGeom prst="rect">
            <a:avLst/>
          </a:prstGeom>
        </p:spPr>
        <p:txBody>
          <a:bodyPr vert="horz" wrap="square" lIns="0" tIns="12065" rIns="0" bIns="0" rtlCol="0">
            <a:spAutoFit/>
          </a:bodyPr>
          <a:lstStyle/>
          <a:p>
            <a:pPr marL="314325" marR="413384" indent="-302260">
              <a:lnSpc>
                <a:spcPct val="136500"/>
              </a:lnSpc>
              <a:spcBef>
                <a:spcPts val="95"/>
              </a:spcBef>
              <a:buFont typeface="Arial MT"/>
              <a:buChar char="•"/>
              <a:tabLst>
                <a:tab pos="314325" algn="l"/>
              </a:tabLst>
            </a:pPr>
            <a:r>
              <a:rPr dirty="0"/>
              <a:t>The</a:t>
            </a:r>
            <a:r>
              <a:rPr spc="45" dirty="0"/>
              <a:t> </a:t>
            </a:r>
            <a:r>
              <a:rPr dirty="0"/>
              <a:t>Power</a:t>
            </a:r>
            <a:r>
              <a:rPr spc="80" dirty="0"/>
              <a:t> </a:t>
            </a:r>
            <a:r>
              <a:rPr dirty="0"/>
              <a:t>BI</a:t>
            </a:r>
            <a:r>
              <a:rPr spc="105" dirty="0"/>
              <a:t> </a:t>
            </a:r>
            <a:r>
              <a:rPr dirty="0"/>
              <a:t>dashboards</a:t>
            </a:r>
            <a:r>
              <a:rPr spc="110" dirty="0"/>
              <a:t> </a:t>
            </a:r>
            <a:r>
              <a:rPr dirty="0"/>
              <a:t>provided</a:t>
            </a:r>
            <a:r>
              <a:rPr spc="100" dirty="0"/>
              <a:t> </a:t>
            </a:r>
            <a:r>
              <a:rPr dirty="0"/>
              <a:t>a</a:t>
            </a:r>
            <a:r>
              <a:rPr spc="75" dirty="0"/>
              <a:t> </a:t>
            </a:r>
            <a:r>
              <a:rPr dirty="0"/>
              <a:t>complete</a:t>
            </a:r>
            <a:r>
              <a:rPr spc="45" dirty="0"/>
              <a:t> </a:t>
            </a:r>
            <a:r>
              <a:rPr dirty="0"/>
              <a:t>view</a:t>
            </a:r>
            <a:r>
              <a:rPr spc="50" dirty="0"/>
              <a:t> </a:t>
            </a:r>
            <a:r>
              <a:rPr dirty="0"/>
              <a:t>of</a:t>
            </a:r>
            <a:r>
              <a:rPr spc="45" dirty="0"/>
              <a:t> </a:t>
            </a:r>
            <a:r>
              <a:rPr dirty="0"/>
              <a:t>company</a:t>
            </a:r>
            <a:r>
              <a:rPr spc="50" dirty="0"/>
              <a:t> </a:t>
            </a:r>
            <a:r>
              <a:rPr dirty="0"/>
              <a:t>performance</a:t>
            </a:r>
            <a:r>
              <a:rPr spc="114" dirty="0"/>
              <a:t> </a:t>
            </a:r>
            <a:r>
              <a:rPr dirty="0"/>
              <a:t>across</a:t>
            </a:r>
            <a:r>
              <a:rPr spc="35" dirty="0"/>
              <a:t> </a:t>
            </a:r>
            <a:r>
              <a:rPr dirty="0"/>
              <a:t>Income</a:t>
            </a:r>
            <a:r>
              <a:rPr spc="45" dirty="0"/>
              <a:t> </a:t>
            </a:r>
            <a:r>
              <a:rPr spc="-10" dirty="0"/>
              <a:t>Statement, </a:t>
            </a:r>
            <a:r>
              <a:rPr dirty="0"/>
              <a:t>Balance</a:t>
            </a:r>
            <a:r>
              <a:rPr spc="65" dirty="0"/>
              <a:t> </a:t>
            </a:r>
            <a:r>
              <a:rPr dirty="0"/>
              <a:t>Sheet,</a:t>
            </a:r>
            <a:r>
              <a:rPr spc="80" dirty="0"/>
              <a:t> </a:t>
            </a:r>
            <a:r>
              <a:rPr dirty="0"/>
              <a:t>and</a:t>
            </a:r>
            <a:r>
              <a:rPr spc="55" dirty="0"/>
              <a:t> </a:t>
            </a:r>
            <a:r>
              <a:rPr dirty="0"/>
              <a:t>Cash</a:t>
            </a:r>
            <a:r>
              <a:rPr spc="55" dirty="0"/>
              <a:t> </a:t>
            </a:r>
            <a:r>
              <a:rPr dirty="0"/>
              <a:t>Flow</a:t>
            </a:r>
            <a:r>
              <a:rPr spc="160" dirty="0"/>
              <a:t> </a:t>
            </a:r>
            <a:r>
              <a:rPr spc="-10" dirty="0"/>
              <a:t>data.</a:t>
            </a:r>
          </a:p>
          <a:p>
            <a:pPr marL="314325" marR="5080" indent="-302260">
              <a:lnSpc>
                <a:spcPts val="4500"/>
              </a:lnSpc>
              <a:spcBef>
                <a:spcPts val="350"/>
              </a:spcBef>
              <a:buFont typeface="Arial MT"/>
              <a:buChar char="•"/>
              <a:tabLst>
                <a:tab pos="314325" algn="l"/>
              </a:tabLst>
            </a:pPr>
            <a:r>
              <a:rPr dirty="0"/>
              <a:t>Enabled</a:t>
            </a:r>
            <a:r>
              <a:rPr spc="-10" dirty="0"/>
              <a:t> </a:t>
            </a:r>
            <a:r>
              <a:rPr dirty="0"/>
              <a:t>accurate</a:t>
            </a:r>
            <a:r>
              <a:rPr spc="95" dirty="0"/>
              <a:t> </a:t>
            </a:r>
            <a:r>
              <a:rPr dirty="0"/>
              <a:t>tracking</a:t>
            </a:r>
            <a:r>
              <a:rPr spc="105" dirty="0"/>
              <a:t> </a:t>
            </a:r>
            <a:r>
              <a:rPr dirty="0"/>
              <a:t>of</a:t>
            </a:r>
            <a:r>
              <a:rPr spc="25" dirty="0"/>
              <a:t> </a:t>
            </a:r>
            <a:r>
              <a:rPr dirty="0"/>
              <a:t>Revenue,</a:t>
            </a:r>
            <a:r>
              <a:rPr spc="25" dirty="0"/>
              <a:t> </a:t>
            </a:r>
            <a:r>
              <a:rPr dirty="0"/>
              <a:t>Profitability,</a:t>
            </a:r>
            <a:r>
              <a:rPr spc="30" dirty="0"/>
              <a:t> </a:t>
            </a:r>
            <a:r>
              <a:rPr dirty="0"/>
              <a:t>Assets,</a:t>
            </a:r>
            <a:r>
              <a:rPr spc="25" dirty="0"/>
              <a:t> </a:t>
            </a:r>
            <a:r>
              <a:rPr dirty="0"/>
              <a:t>Liabilities,</a:t>
            </a:r>
            <a:r>
              <a:rPr spc="30" dirty="0"/>
              <a:t> </a:t>
            </a:r>
            <a:r>
              <a:rPr dirty="0"/>
              <a:t>and</a:t>
            </a:r>
            <a:r>
              <a:rPr spc="75" dirty="0"/>
              <a:t> </a:t>
            </a:r>
            <a:r>
              <a:rPr dirty="0"/>
              <a:t>Cash</a:t>
            </a:r>
            <a:r>
              <a:rPr spc="80" dirty="0"/>
              <a:t> </a:t>
            </a:r>
            <a:r>
              <a:rPr dirty="0"/>
              <a:t>Flow</a:t>
            </a:r>
            <a:r>
              <a:rPr spc="25" dirty="0"/>
              <a:t> </a:t>
            </a:r>
            <a:r>
              <a:rPr dirty="0"/>
              <a:t>over</a:t>
            </a:r>
            <a:r>
              <a:rPr spc="55" dirty="0"/>
              <a:t> </a:t>
            </a:r>
            <a:r>
              <a:rPr dirty="0"/>
              <a:t>time</a:t>
            </a:r>
            <a:r>
              <a:rPr spc="25" dirty="0"/>
              <a:t> </a:t>
            </a:r>
            <a:r>
              <a:rPr dirty="0"/>
              <a:t>for</a:t>
            </a:r>
            <a:r>
              <a:rPr spc="65" dirty="0"/>
              <a:t> </a:t>
            </a:r>
            <a:r>
              <a:rPr spc="-10" dirty="0"/>
              <a:t>multiple companies.</a:t>
            </a:r>
          </a:p>
          <a:p>
            <a:pPr marL="314325" marR="1305560" indent="-302260">
              <a:lnSpc>
                <a:spcPts val="4500"/>
              </a:lnSpc>
              <a:spcBef>
                <a:spcPts val="10"/>
              </a:spcBef>
              <a:buFont typeface="Arial MT"/>
              <a:buChar char="•"/>
              <a:tabLst>
                <a:tab pos="314325" algn="l"/>
              </a:tabLst>
            </a:pPr>
            <a:r>
              <a:rPr dirty="0"/>
              <a:t>Helped</a:t>
            </a:r>
            <a:r>
              <a:rPr spc="150" dirty="0"/>
              <a:t> </a:t>
            </a:r>
            <a:r>
              <a:rPr dirty="0"/>
              <a:t>identify</a:t>
            </a:r>
            <a:r>
              <a:rPr spc="100" dirty="0"/>
              <a:t> </a:t>
            </a:r>
            <a:r>
              <a:rPr dirty="0"/>
              <a:t>high-performing</a:t>
            </a:r>
            <a:r>
              <a:rPr spc="100" dirty="0"/>
              <a:t> </a:t>
            </a:r>
            <a:r>
              <a:rPr dirty="0"/>
              <a:t>companies,</a:t>
            </a:r>
            <a:r>
              <a:rPr spc="105" dirty="0"/>
              <a:t> </a:t>
            </a:r>
            <a:r>
              <a:rPr dirty="0"/>
              <a:t>financial</a:t>
            </a:r>
            <a:r>
              <a:rPr spc="60" dirty="0"/>
              <a:t> </a:t>
            </a:r>
            <a:r>
              <a:rPr dirty="0"/>
              <a:t>risks,</a:t>
            </a:r>
            <a:r>
              <a:rPr spc="100" dirty="0"/>
              <a:t> </a:t>
            </a:r>
            <a:r>
              <a:rPr dirty="0"/>
              <a:t>and</a:t>
            </a:r>
            <a:r>
              <a:rPr spc="75" dirty="0"/>
              <a:t> </a:t>
            </a:r>
            <a:r>
              <a:rPr dirty="0"/>
              <a:t>investment</a:t>
            </a:r>
            <a:r>
              <a:rPr spc="160" dirty="0"/>
              <a:t> </a:t>
            </a:r>
            <a:r>
              <a:rPr dirty="0"/>
              <a:t>opportunities</a:t>
            </a:r>
            <a:r>
              <a:rPr spc="165" dirty="0"/>
              <a:t> </a:t>
            </a:r>
            <a:r>
              <a:rPr spc="-10" dirty="0"/>
              <a:t>through </a:t>
            </a:r>
            <a:r>
              <a:rPr dirty="0"/>
              <a:t>interactive</a:t>
            </a:r>
            <a:r>
              <a:rPr spc="100" dirty="0"/>
              <a:t> </a:t>
            </a:r>
            <a:r>
              <a:rPr dirty="0"/>
              <a:t>KPIs</a:t>
            </a:r>
            <a:r>
              <a:rPr spc="20" dirty="0"/>
              <a:t> </a:t>
            </a:r>
            <a:r>
              <a:rPr dirty="0"/>
              <a:t>and</a:t>
            </a:r>
            <a:r>
              <a:rPr spc="15" dirty="0"/>
              <a:t> </a:t>
            </a:r>
            <a:r>
              <a:rPr spc="-10" dirty="0"/>
              <a:t>visuals</a:t>
            </a:r>
            <a:r>
              <a:rPr spc="-10" dirty="0" smtClean="0"/>
              <a:t>.</a:t>
            </a:r>
            <a:r>
              <a:rPr spc="-10" dirty="0" smtClean="0">
                <a:latin typeface="Times New Roman"/>
                <a:cs typeface="Times New Roman"/>
              </a:rPr>
              <a:t>.</a:t>
            </a:r>
            <a:r>
              <a:rPr lang="en-US" spc="-10" dirty="0" smtClean="0">
                <a:latin typeface="Times New Roman"/>
                <a:cs typeface="Times New Roman"/>
              </a:rPr>
              <a:t>Like </a:t>
            </a:r>
            <a:r>
              <a:rPr lang="en-US" spc="-10" dirty="0" err="1" smtClean="0">
                <a:latin typeface="Times New Roman"/>
                <a:cs typeface="Times New Roman"/>
              </a:rPr>
              <a:t>Walmart</a:t>
            </a:r>
            <a:r>
              <a:rPr lang="en-US" spc="-10" dirty="0" smtClean="0">
                <a:latin typeface="Times New Roman"/>
                <a:cs typeface="Times New Roman"/>
              </a:rPr>
              <a:t> has highest gross Profit.</a:t>
            </a:r>
            <a:endParaRPr spc="-10" dirty="0">
              <a:latin typeface="Times New Roman"/>
              <a:cs typeface="Times New Roman"/>
            </a:endParaRPr>
          </a:p>
          <a:p>
            <a:pPr marL="314325" marR="101600" indent="-302260">
              <a:lnSpc>
                <a:spcPts val="4500"/>
              </a:lnSpc>
              <a:spcBef>
                <a:spcPts val="10"/>
              </a:spcBef>
              <a:buFont typeface="Arial MT"/>
              <a:buChar char="•"/>
              <a:tabLst>
                <a:tab pos="314325" algn="l"/>
              </a:tabLst>
            </a:pPr>
            <a:r>
              <a:rPr dirty="0"/>
              <a:t>Revealed</a:t>
            </a:r>
            <a:r>
              <a:rPr spc="25" dirty="0"/>
              <a:t> </a:t>
            </a:r>
            <a:r>
              <a:rPr dirty="0"/>
              <a:t>consistent</a:t>
            </a:r>
            <a:r>
              <a:rPr spc="105" dirty="0"/>
              <a:t> </a:t>
            </a:r>
            <a:r>
              <a:rPr dirty="0"/>
              <a:t>growth</a:t>
            </a:r>
            <a:r>
              <a:rPr spc="105" dirty="0"/>
              <a:t> </a:t>
            </a:r>
            <a:r>
              <a:rPr dirty="0"/>
              <a:t>in</a:t>
            </a:r>
            <a:r>
              <a:rPr spc="15" dirty="0"/>
              <a:t> </a:t>
            </a:r>
            <a:r>
              <a:rPr dirty="0"/>
              <a:t>top</a:t>
            </a:r>
            <a:r>
              <a:rPr spc="35" dirty="0"/>
              <a:t> </a:t>
            </a:r>
            <a:r>
              <a:rPr dirty="0"/>
              <a:t>firms</a:t>
            </a:r>
            <a:r>
              <a:rPr spc="30" dirty="0"/>
              <a:t> </a:t>
            </a:r>
            <a:r>
              <a:rPr dirty="0"/>
              <a:t>like</a:t>
            </a:r>
            <a:r>
              <a:rPr spc="50" dirty="0"/>
              <a:t> </a:t>
            </a:r>
            <a:r>
              <a:rPr dirty="0"/>
              <a:t>AAPL,</a:t>
            </a:r>
            <a:r>
              <a:rPr spc="50" dirty="0"/>
              <a:t> </a:t>
            </a:r>
            <a:r>
              <a:rPr dirty="0"/>
              <a:t>JPM,</a:t>
            </a:r>
            <a:r>
              <a:rPr spc="50" dirty="0"/>
              <a:t> </a:t>
            </a:r>
            <a:r>
              <a:rPr dirty="0"/>
              <a:t>and</a:t>
            </a:r>
            <a:r>
              <a:rPr spc="105" dirty="0"/>
              <a:t> </a:t>
            </a:r>
            <a:r>
              <a:rPr spc="-20" dirty="0"/>
              <a:t>MSFT,</a:t>
            </a:r>
            <a:r>
              <a:rPr spc="50" dirty="0"/>
              <a:t> </a:t>
            </a:r>
            <a:r>
              <a:rPr dirty="0"/>
              <a:t>while</a:t>
            </a:r>
            <a:r>
              <a:rPr spc="45" dirty="0"/>
              <a:t> </a:t>
            </a:r>
            <a:r>
              <a:rPr dirty="0"/>
              <a:t>some</a:t>
            </a:r>
            <a:r>
              <a:rPr spc="45" dirty="0"/>
              <a:t> </a:t>
            </a:r>
            <a:r>
              <a:rPr dirty="0"/>
              <a:t>companies</a:t>
            </a:r>
            <a:r>
              <a:rPr spc="35" dirty="0"/>
              <a:t> </a:t>
            </a:r>
            <a:r>
              <a:rPr dirty="0"/>
              <a:t>showed</a:t>
            </a:r>
            <a:r>
              <a:rPr spc="105" dirty="0"/>
              <a:t> </a:t>
            </a:r>
            <a:r>
              <a:rPr spc="-10" dirty="0"/>
              <a:t>weaker </a:t>
            </a:r>
            <a:r>
              <a:rPr dirty="0"/>
              <a:t>free</a:t>
            </a:r>
            <a:r>
              <a:rPr spc="30" dirty="0"/>
              <a:t> </a:t>
            </a:r>
            <a:r>
              <a:rPr dirty="0"/>
              <a:t>cash</a:t>
            </a:r>
            <a:r>
              <a:rPr spc="20" dirty="0"/>
              <a:t> </a:t>
            </a:r>
            <a:r>
              <a:rPr dirty="0"/>
              <a:t>flow</a:t>
            </a:r>
            <a:r>
              <a:rPr spc="45" dirty="0"/>
              <a:t> </a:t>
            </a:r>
            <a:r>
              <a:rPr spc="-10" dirty="0"/>
              <a:t>trends.</a:t>
            </a:r>
          </a:p>
          <a:p>
            <a:pPr marL="314325" marR="496570" indent="-302260">
              <a:lnSpc>
                <a:spcPts val="4500"/>
              </a:lnSpc>
              <a:spcBef>
                <a:spcPts val="10"/>
              </a:spcBef>
              <a:buFont typeface="Arial MT"/>
              <a:buChar char="•"/>
              <a:tabLst>
                <a:tab pos="314325" algn="l"/>
              </a:tabLst>
            </a:pPr>
            <a:r>
              <a:rPr dirty="0"/>
              <a:t>Power</a:t>
            </a:r>
            <a:r>
              <a:rPr spc="25" dirty="0"/>
              <a:t> </a:t>
            </a:r>
            <a:r>
              <a:rPr dirty="0"/>
              <a:t>BI’s</a:t>
            </a:r>
            <a:r>
              <a:rPr spc="50" dirty="0"/>
              <a:t> </a:t>
            </a:r>
            <a:r>
              <a:rPr dirty="0"/>
              <a:t>dynamic</a:t>
            </a:r>
            <a:r>
              <a:rPr spc="65" dirty="0"/>
              <a:t> </a:t>
            </a:r>
            <a:r>
              <a:rPr dirty="0"/>
              <a:t>visuals</a:t>
            </a:r>
            <a:r>
              <a:rPr spc="125" dirty="0"/>
              <a:t> </a:t>
            </a:r>
            <a:r>
              <a:rPr dirty="0"/>
              <a:t>and</a:t>
            </a:r>
            <a:r>
              <a:rPr spc="125" dirty="0"/>
              <a:t> </a:t>
            </a:r>
            <a:r>
              <a:rPr dirty="0"/>
              <a:t>DAX-driven</a:t>
            </a:r>
            <a:r>
              <a:rPr spc="40" dirty="0"/>
              <a:t> </a:t>
            </a:r>
            <a:r>
              <a:rPr dirty="0"/>
              <a:t>measures</a:t>
            </a:r>
            <a:r>
              <a:rPr spc="130" dirty="0"/>
              <a:t> </a:t>
            </a:r>
            <a:r>
              <a:rPr dirty="0"/>
              <a:t>simplified</a:t>
            </a:r>
            <a:r>
              <a:rPr spc="125" dirty="0"/>
              <a:t> </a:t>
            </a:r>
            <a:r>
              <a:rPr dirty="0"/>
              <a:t>complex</a:t>
            </a:r>
            <a:r>
              <a:rPr spc="110" dirty="0"/>
              <a:t> </a:t>
            </a:r>
            <a:r>
              <a:rPr dirty="0"/>
              <a:t>financial</a:t>
            </a:r>
            <a:r>
              <a:rPr spc="110" dirty="0"/>
              <a:t> </a:t>
            </a:r>
            <a:r>
              <a:rPr dirty="0"/>
              <a:t>analysis</a:t>
            </a:r>
            <a:r>
              <a:rPr spc="40" dirty="0"/>
              <a:t> </a:t>
            </a:r>
            <a:r>
              <a:rPr dirty="0"/>
              <a:t>into</a:t>
            </a:r>
            <a:r>
              <a:rPr spc="40" dirty="0"/>
              <a:t> </a:t>
            </a:r>
            <a:r>
              <a:rPr dirty="0"/>
              <a:t>easy-</a:t>
            </a:r>
            <a:r>
              <a:rPr spc="-25" dirty="0"/>
              <a:t>to- </a:t>
            </a:r>
            <a:r>
              <a:rPr dirty="0"/>
              <a:t>understand</a:t>
            </a:r>
            <a:r>
              <a:rPr spc="85" dirty="0"/>
              <a:t> </a:t>
            </a:r>
            <a:r>
              <a:rPr spc="-10" dirty="0"/>
              <a:t>dashboards.</a:t>
            </a:r>
            <a:r>
              <a:rPr spc="-10" dirty="0">
                <a:latin typeface="Times New Roman"/>
                <a:cs typeface="Times New Roman"/>
              </a:rPr>
              <a:t>.</a:t>
            </a:r>
          </a:p>
          <a:p>
            <a:pPr marL="314325" indent="-301625">
              <a:lnSpc>
                <a:spcPct val="100000"/>
              </a:lnSpc>
              <a:spcBef>
                <a:spcPts val="855"/>
              </a:spcBef>
              <a:buFont typeface="Arial MT"/>
              <a:buChar char="•"/>
              <a:tabLst>
                <a:tab pos="314325" algn="l"/>
              </a:tabLst>
            </a:pPr>
            <a:r>
              <a:rPr dirty="0"/>
              <a:t>The</a:t>
            </a:r>
            <a:r>
              <a:rPr spc="55" dirty="0"/>
              <a:t> </a:t>
            </a:r>
            <a:r>
              <a:rPr dirty="0"/>
              <a:t>project</a:t>
            </a:r>
            <a:r>
              <a:rPr spc="40" dirty="0"/>
              <a:t> </a:t>
            </a:r>
            <a:r>
              <a:rPr dirty="0"/>
              <a:t>successfully</a:t>
            </a:r>
            <a:r>
              <a:rPr spc="60" dirty="0"/>
              <a:t> </a:t>
            </a:r>
            <a:r>
              <a:rPr dirty="0"/>
              <a:t>transformed</a:t>
            </a:r>
            <a:r>
              <a:rPr spc="114" dirty="0"/>
              <a:t> </a:t>
            </a:r>
            <a:r>
              <a:rPr dirty="0"/>
              <a:t>raw</a:t>
            </a:r>
            <a:r>
              <a:rPr spc="140" dirty="0"/>
              <a:t> </a:t>
            </a:r>
            <a:r>
              <a:rPr dirty="0"/>
              <a:t>financial</a:t>
            </a:r>
            <a:r>
              <a:rPr spc="25" dirty="0"/>
              <a:t> </a:t>
            </a:r>
            <a:r>
              <a:rPr dirty="0"/>
              <a:t>data</a:t>
            </a:r>
            <a:r>
              <a:rPr spc="85" dirty="0"/>
              <a:t> </a:t>
            </a:r>
            <a:r>
              <a:rPr dirty="0"/>
              <a:t>into</a:t>
            </a:r>
            <a:r>
              <a:rPr spc="35" dirty="0"/>
              <a:t> </a:t>
            </a:r>
            <a:r>
              <a:rPr dirty="0"/>
              <a:t>actionable</a:t>
            </a:r>
            <a:r>
              <a:rPr spc="45" dirty="0"/>
              <a:t> </a:t>
            </a:r>
            <a:r>
              <a:rPr dirty="0"/>
              <a:t>business</a:t>
            </a:r>
            <a:r>
              <a:rPr spc="45" dirty="0"/>
              <a:t> </a:t>
            </a:r>
            <a:r>
              <a:rPr dirty="0"/>
              <a:t>insights,</a:t>
            </a:r>
            <a:r>
              <a:rPr spc="60" dirty="0"/>
              <a:t> </a:t>
            </a:r>
            <a:r>
              <a:rPr dirty="0"/>
              <a:t>enabling</a:t>
            </a:r>
            <a:r>
              <a:rPr spc="145" dirty="0"/>
              <a:t> </a:t>
            </a:r>
            <a:r>
              <a:rPr spc="-10" dirty="0"/>
              <a:t>smarter</a:t>
            </a:r>
          </a:p>
          <a:p>
            <a:pPr marL="314325">
              <a:lnSpc>
                <a:spcPct val="100000"/>
              </a:lnSpc>
              <a:spcBef>
                <a:spcPts val="1205"/>
              </a:spcBef>
            </a:pPr>
            <a:r>
              <a:rPr dirty="0"/>
              <a:t>financial</a:t>
            </a:r>
            <a:r>
              <a:rPr spc="70" dirty="0"/>
              <a:t> </a:t>
            </a:r>
            <a:r>
              <a:rPr dirty="0"/>
              <a:t>decisions</a:t>
            </a:r>
            <a:r>
              <a:rPr spc="100" dirty="0"/>
              <a:t> </a:t>
            </a:r>
            <a:r>
              <a:rPr dirty="0"/>
              <a:t>and</a:t>
            </a:r>
            <a:r>
              <a:rPr spc="90" dirty="0"/>
              <a:t> </a:t>
            </a:r>
            <a:r>
              <a:rPr dirty="0"/>
              <a:t>strategic</a:t>
            </a:r>
            <a:r>
              <a:rPr spc="25" dirty="0"/>
              <a:t> </a:t>
            </a:r>
            <a:r>
              <a:rPr spc="-10" dirty="0"/>
              <a:t>planning.</a:t>
            </a:r>
          </a:p>
        </p:txBody>
      </p:sp>
      <p:sp>
        <p:nvSpPr>
          <p:cNvPr id="4" name="object 4"/>
          <p:cNvSpPr/>
          <p:nvPr/>
        </p:nvSpPr>
        <p:spPr>
          <a:xfrm>
            <a:off x="1041500" y="642358"/>
            <a:ext cx="1546860" cy="1543050"/>
          </a:xfrm>
          <a:custGeom>
            <a:avLst/>
            <a:gdLst/>
            <a:ahLst/>
            <a:cxnLst/>
            <a:rect l="l" t="t" r="r" b="b"/>
            <a:pathLst>
              <a:path w="1546860" h="1543050">
                <a:moveTo>
                  <a:pt x="972261" y="511043"/>
                </a:moveTo>
                <a:lnTo>
                  <a:pt x="936795" y="518216"/>
                </a:lnTo>
                <a:lnTo>
                  <a:pt x="907796" y="537772"/>
                </a:lnTo>
                <a:lnTo>
                  <a:pt x="888224" y="566764"/>
                </a:lnTo>
                <a:lnTo>
                  <a:pt x="881043" y="602246"/>
                </a:lnTo>
                <a:lnTo>
                  <a:pt x="881043" y="1450678"/>
                </a:lnTo>
                <a:lnTo>
                  <a:pt x="888206" y="1486154"/>
                </a:lnTo>
                <a:lnTo>
                  <a:pt x="907747" y="1515126"/>
                </a:lnTo>
                <a:lnTo>
                  <a:pt x="936741" y="1534660"/>
                </a:lnTo>
                <a:lnTo>
                  <a:pt x="972261" y="1541823"/>
                </a:lnTo>
                <a:lnTo>
                  <a:pt x="972261" y="1542536"/>
                </a:lnTo>
                <a:lnTo>
                  <a:pt x="1007781" y="1535382"/>
                </a:lnTo>
                <a:lnTo>
                  <a:pt x="1036775" y="1515864"/>
                </a:lnTo>
                <a:lnTo>
                  <a:pt x="1056316" y="1486895"/>
                </a:lnTo>
                <a:lnTo>
                  <a:pt x="1063480" y="1451391"/>
                </a:lnTo>
                <a:lnTo>
                  <a:pt x="1063479" y="602246"/>
                </a:lnTo>
                <a:lnTo>
                  <a:pt x="1056303" y="566764"/>
                </a:lnTo>
                <a:lnTo>
                  <a:pt x="1036743" y="537772"/>
                </a:lnTo>
                <a:lnTo>
                  <a:pt x="1007740" y="518216"/>
                </a:lnTo>
                <a:lnTo>
                  <a:pt x="972261" y="511043"/>
                </a:lnTo>
                <a:close/>
              </a:path>
              <a:path w="1546860" h="1543050">
                <a:moveTo>
                  <a:pt x="678589" y="611983"/>
                </a:moveTo>
                <a:lnTo>
                  <a:pt x="643110" y="619146"/>
                </a:lnTo>
                <a:lnTo>
                  <a:pt x="614108" y="638680"/>
                </a:lnTo>
                <a:lnTo>
                  <a:pt x="594547" y="667650"/>
                </a:lnTo>
                <a:lnTo>
                  <a:pt x="587371" y="703122"/>
                </a:lnTo>
                <a:lnTo>
                  <a:pt x="587371" y="1349622"/>
                </a:lnTo>
                <a:lnTo>
                  <a:pt x="594535" y="1385098"/>
                </a:lnTo>
                <a:lnTo>
                  <a:pt x="614076" y="1414070"/>
                </a:lnTo>
                <a:lnTo>
                  <a:pt x="643069" y="1433604"/>
                </a:lnTo>
                <a:lnTo>
                  <a:pt x="678564" y="1440762"/>
                </a:lnTo>
                <a:lnTo>
                  <a:pt x="677976" y="1440762"/>
                </a:lnTo>
                <a:lnTo>
                  <a:pt x="713516" y="1433604"/>
                </a:lnTo>
                <a:lnTo>
                  <a:pt x="713932" y="1433604"/>
                </a:lnTo>
                <a:lnTo>
                  <a:pt x="742948" y="1414070"/>
                </a:lnTo>
                <a:lnTo>
                  <a:pt x="767425" y="1361300"/>
                </a:lnTo>
                <a:lnTo>
                  <a:pt x="769808" y="703122"/>
                </a:lnTo>
                <a:lnTo>
                  <a:pt x="762626" y="667650"/>
                </a:lnTo>
                <a:lnTo>
                  <a:pt x="743055" y="638680"/>
                </a:lnTo>
                <a:lnTo>
                  <a:pt x="714055" y="619146"/>
                </a:lnTo>
                <a:lnTo>
                  <a:pt x="678589" y="611983"/>
                </a:lnTo>
                <a:close/>
              </a:path>
              <a:path w="1546860" h="1543050">
                <a:moveTo>
                  <a:pt x="1154762" y="1247724"/>
                </a:moveTo>
                <a:lnTo>
                  <a:pt x="1154762" y="1321249"/>
                </a:lnTo>
                <a:lnTo>
                  <a:pt x="1427676" y="1403065"/>
                </a:lnTo>
                <a:lnTo>
                  <a:pt x="1460360" y="1408052"/>
                </a:lnTo>
                <a:lnTo>
                  <a:pt x="1492625" y="1403065"/>
                </a:lnTo>
                <a:lnTo>
                  <a:pt x="1519733" y="1386623"/>
                </a:lnTo>
                <a:lnTo>
                  <a:pt x="1538586" y="1361301"/>
                </a:lnTo>
                <a:lnTo>
                  <a:pt x="1544573" y="1337378"/>
                </a:lnTo>
                <a:lnTo>
                  <a:pt x="1456822" y="1337378"/>
                </a:lnTo>
                <a:lnTo>
                  <a:pt x="1452592" y="1336694"/>
                </a:lnTo>
                <a:lnTo>
                  <a:pt x="1448595" y="1335370"/>
                </a:lnTo>
                <a:lnTo>
                  <a:pt x="1154762" y="1247724"/>
                </a:lnTo>
                <a:close/>
              </a:path>
              <a:path w="1546860" h="1543050">
                <a:moveTo>
                  <a:pt x="384918" y="708745"/>
                </a:moveTo>
                <a:lnTo>
                  <a:pt x="349367" y="715909"/>
                </a:lnTo>
                <a:lnTo>
                  <a:pt x="320366" y="735447"/>
                </a:lnTo>
                <a:lnTo>
                  <a:pt x="300837" y="764426"/>
                </a:lnTo>
                <a:lnTo>
                  <a:pt x="293680" y="799916"/>
                </a:lnTo>
                <a:lnTo>
                  <a:pt x="293680" y="1253360"/>
                </a:lnTo>
                <a:lnTo>
                  <a:pt x="320418" y="1317832"/>
                </a:lnTo>
                <a:lnTo>
                  <a:pt x="384918" y="1344506"/>
                </a:lnTo>
                <a:lnTo>
                  <a:pt x="420289" y="1337378"/>
                </a:lnTo>
                <a:lnTo>
                  <a:pt x="421399" y="1336693"/>
                </a:lnTo>
                <a:lnTo>
                  <a:pt x="449439" y="1317832"/>
                </a:lnTo>
                <a:lnTo>
                  <a:pt x="469018" y="1288863"/>
                </a:lnTo>
                <a:lnTo>
                  <a:pt x="476201" y="1253360"/>
                </a:lnTo>
                <a:lnTo>
                  <a:pt x="476201" y="799916"/>
                </a:lnTo>
                <a:lnTo>
                  <a:pt x="469027" y="764426"/>
                </a:lnTo>
                <a:lnTo>
                  <a:pt x="449464" y="735447"/>
                </a:lnTo>
                <a:lnTo>
                  <a:pt x="420448" y="715909"/>
                </a:lnTo>
                <a:lnTo>
                  <a:pt x="384918" y="708745"/>
                </a:lnTo>
                <a:close/>
              </a:path>
              <a:path w="1546860" h="1543050">
                <a:moveTo>
                  <a:pt x="396105" y="70325"/>
                </a:moveTo>
                <a:lnTo>
                  <a:pt x="146464" y="70324"/>
                </a:lnTo>
                <a:lnTo>
                  <a:pt x="150670" y="70999"/>
                </a:lnTo>
                <a:lnTo>
                  <a:pt x="154702" y="72285"/>
                </a:lnTo>
                <a:lnTo>
                  <a:pt x="1428385" y="452940"/>
                </a:lnTo>
                <a:lnTo>
                  <a:pt x="1462878" y="476709"/>
                </a:lnTo>
                <a:lnTo>
                  <a:pt x="1476605" y="1337378"/>
                </a:lnTo>
                <a:lnTo>
                  <a:pt x="1544573" y="1337378"/>
                </a:lnTo>
                <a:lnTo>
                  <a:pt x="1546518" y="1329604"/>
                </a:lnTo>
                <a:lnTo>
                  <a:pt x="1546582" y="508215"/>
                </a:lnTo>
                <a:lnTo>
                  <a:pt x="1538943" y="468946"/>
                </a:lnTo>
                <a:lnTo>
                  <a:pt x="1517980" y="432795"/>
                </a:lnTo>
                <a:lnTo>
                  <a:pt x="1486628" y="403447"/>
                </a:lnTo>
                <a:lnTo>
                  <a:pt x="1448063" y="384704"/>
                </a:lnTo>
                <a:lnTo>
                  <a:pt x="396105" y="70325"/>
                </a:lnTo>
                <a:close/>
              </a:path>
              <a:path w="1546860" h="1543050">
                <a:moveTo>
                  <a:pt x="91223" y="807018"/>
                </a:moveTo>
                <a:lnTo>
                  <a:pt x="55284" y="814277"/>
                </a:lnTo>
                <a:lnTo>
                  <a:pt x="55613" y="814277"/>
                </a:lnTo>
                <a:lnTo>
                  <a:pt x="26680" y="833824"/>
                </a:lnTo>
                <a:lnTo>
                  <a:pt x="7168" y="862753"/>
                </a:lnTo>
                <a:lnTo>
                  <a:pt x="0" y="898157"/>
                </a:lnTo>
                <a:lnTo>
                  <a:pt x="13" y="1154959"/>
                </a:lnTo>
                <a:lnTo>
                  <a:pt x="7215" y="1190431"/>
                </a:lnTo>
                <a:lnTo>
                  <a:pt x="26823" y="1219403"/>
                </a:lnTo>
                <a:lnTo>
                  <a:pt x="55821" y="1238939"/>
                </a:lnTo>
                <a:lnTo>
                  <a:pt x="56044" y="1238939"/>
                </a:lnTo>
                <a:lnTo>
                  <a:pt x="91529" y="1246101"/>
                </a:lnTo>
                <a:lnTo>
                  <a:pt x="91236" y="1246101"/>
                </a:lnTo>
                <a:lnTo>
                  <a:pt x="126730" y="1238939"/>
                </a:lnTo>
                <a:lnTo>
                  <a:pt x="155749" y="1219403"/>
                </a:lnTo>
                <a:lnTo>
                  <a:pt x="175327" y="1190431"/>
                </a:lnTo>
                <a:lnTo>
                  <a:pt x="182510" y="1154959"/>
                </a:lnTo>
                <a:lnTo>
                  <a:pt x="182509" y="898157"/>
                </a:lnTo>
                <a:lnTo>
                  <a:pt x="175288" y="862753"/>
                </a:lnTo>
                <a:lnTo>
                  <a:pt x="155724" y="833824"/>
                </a:lnTo>
                <a:lnTo>
                  <a:pt x="126731" y="814277"/>
                </a:lnTo>
                <a:lnTo>
                  <a:pt x="91223" y="807018"/>
                </a:lnTo>
                <a:close/>
              </a:path>
              <a:path w="1546860" h="1543050">
                <a:moveTo>
                  <a:pt x="129961" y="0"/>
                </a:moveTo>
                <a:lnTo>
                  <a:pt x="92018" y="14202"/>
                </a:lnTo>
                <a:lnTo>
                  <a:pt x="65795" y="43379"/>
                </a:lnTo>
                <a:lnTo>
                  <a:pt x="56006" y="84079"/>
                </a:lnTo>
                <a:lnTo>
                  <a:pt x="56006" y="719382"/>
                </a:lnTo>
                <a:lnTo>
                  <a:pt x="64753" y="717859"/>
                </a:lnTo>
                <a:lnTo>
                  <a:pt x="73560" y="716763"/>
                </a:lnTo>
                <a:lnTo>
                  <a:pt x="82410" y="716102"/>
                </a:lnTo>
                <a:lnTo>
                  <a:pt x="90103" y="715909"/>
                </a:lnTo>
                <a:lnTo>
                  <a:pt x="126634" y="715909"/>
                </a:lnTo>
                <a:lnTo>
                  <a:pt x="126634" y="70324"/>
                </a:lnTo>
                <a:lnTo>
                  <a:pt x="396105" y="70325"/>
                </a:lnTo>
                <a:lnTo>
                  <a:pt x="174909" y="4220"/>
                </a:lnTo>
                <a:lnTo>
                  <a:pt x="129961" y="0"/>
                </a:lnTo>
                <a:close/>
              </a:path>
              <a:path w="1546860" h="1543050">
                <a:moveTo>
                  <a:pt x="126634" y="715909"/>
                </a:moveTo>
                <a:lnTo>
                  <a:pt x="92475" y="715909"/>
                </a:lnTo>
                <a:lnTo>
                  <a:pt x="100181" y="716102"/>
                </a:lnTo>
                <a:lnTo>
                  <a:pt x="109047" y="716763"/>
                </a:lnTo>
                <a:lnTo>
                  <a:pt x="117870" y="717859"/>
                </a:lnTo>
                <a:lnTo>
                  <a:pt x="126634" y="719382"/>
                </a:lnTo>
                <a:lnTo>
                  <a:pt x="126634" y="715909"/>
                </a:lnTo>
                <a:close/>
              </a:path>
            </a:pathLst>
          </a:custGeom>
          <a:solidFill>
            <a:srgbClr val="333333"/>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324350" y="0"/>
            <a:ext cx="13525500" cy="10096500"/>
            <a:chOff x="4324350" y="0"/>
            <a:chExt cx="13525500" cy="10096500"/>
          </a:xfrm>
        </p:grpSpPr>
        <p:pic>
          <p:nvPicPr>
            <p:cNvPr id="3" name="object 3"/>
            <p:cNvPicPr/>
            <p:nvPr/>
          </p:nvPicPr>
          <p:blipFill>
            <a:blip r:embed="rId2" cstate="print"/>
            <a:stretch>
              <a:fillRect/>
            </a:stretch>
          </p:blipFill>
          <p:spPr>
            <a:xfrm>
              <a:off x="13449300" y="9429743"/>
              <a:ext cx="4400550" cy="666731"/>
            </a:xfrm>
            <a:prstGeom prst="rect">
              <a:avLst/>
            </a:prstGeom>
          </p:spPr>
        </p:pic>
        <p:pic>
          <p:nvPicPr>
            <p:cNvPr id="4" name="object 4"/>
            <p:cNvPicPr/>
            <p:nvPr/>
          </p:nvPicPr>
          <p:blipFill>
            <a:blip r:embed="rId3" cstate="print"/>
            <a:stretch>
              <a:fillRect/>
            </a:stretch>
          </p:blipFill>
          <p:spPr>
            <a:xfrm>
              <a:off x="4324350" y="0"/>
              <a:ext cx="9639300" cy="9782175"/>
            </a:xfrm>
            <a:prstGeom prst="rect">
              <a:avLst/>
            </a:prstGeom>
          </p:spPr>
        </p:pic>
      </p:grpSp>
      <p:sp>
        <p:nvSpPr>
          <p:cNvPr id="5" name="object 5"/>
          <p:cNvSpPr txBox="1"/>
          <p:nvPr/>
        </p:nvSpPr>
        <p:spPr>
          <a:xfrm>
            <a:off x="5373370" y="2687827"/>
            <a:ext cx="7548245" cy="6310630"/>
          </a:xfrm>
          <a:prstGeom prst="rect">
            <a:avLst/>
          </a:prstGeom>
        </p:spPr>
        <p:txBody>
          <a:bodyPr vert="horz" wrap="square" lIns="0" tIns="13970" rIns="0" bIns="0" rtlCol="0">
            <a:spAutoFit/>
          </a:bodyPr>
          <a:lstStyle/>
          <a:p>
            <a:pPr marL="3810" algn="ctr">
              <a:lnSpc>
                <a:spcPts val="16780"/>
              </a:lnSpc>
              <a:spcBef>
                <a:spcPts val="110"/>
              </a:spcBef>
            </a:pPr>
            <a:r>
              <a:rPr sz="14700" spc="-844" dirty="0">
                <a:solidFill>
                  <a:srgbClr val="FFBC58"/>
                </a:solidFill>
                <a:latin typeface="Arial Black"/>
                <a:cs typeface="Arial Black"/>
              </a:rPr>
              <a:t>ANY</a:t>
            </a:r>
            <a:endParaRPr sz="14700">
              <a:latin typeface="Arial Black"/>
              <a:cs typeface="Arial Black"/>
            </a:endParaRPr>
          </a:p>
          <a:p>
            <a:pPr algn="ctr">
              <a:lnSpc>
                <a:spcPts val="15915"/>
              </a:lnSpc>
            </a:pPr>
            <a:r>
              <a:rPr sz="14700" spc="-490" dirty="0">
                <a:solidFill>
                  <a:srgbClr val="FFBC58"/>
                </a:solidFill>
                <a:latin typeface="Arial Black"/>
                <a:cs typeface="Arial Black"/>
              </a:rPr>
              <a:t>Queries</a:t>
            </a:r>
            <a:endParaRPr sz="14700">
              <a:latin typeface="Arial Black"/>
              <a:cs typeface="Arial Black"/>
            </a:endParaRPr>
          </a:p>
          <a:p>
            <a:pPr marL="2540" algn="ctr">
              <a:lnSpc>
                <a:spcPts val="16780"/>
              </a:lnSpc>
            </a:pPr>
            <a:r>
              <a:rPr sz="14700" spc="-1130" dirty="0">
                <a:solidFill>
                  <a:srgbClr val="FFBC58"/>
                </a:solidFill>
                <a:latin typeface="Arial Black"/>
                <a:cs typeface="Arial Black"/>
              </a:rPr>
              <a:t>?</a:t>
            </a:r>
            <a:endParaRPr sz="14700">
              <a:latin typeface="Arial Black"/>
              <a:cs typeface="Arial Black"/>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696450" y="2771775"/>
            <a:ext cx="6705600" cy="4257675"/>
          </a:xfrm>
          <a:prstGeom prst="rect">
            <a:avLst/>
          </a:prstGeom>
        </p:spPr>
      </p:pic>
      <p:sp>
        <p:nvSpPr>
          <p:cNvPr id="3" name="object 3"/>
          <p:cNvSpPr txBox="1">
            <a:spLocks noGrp="1"/>
          </p:cNvSpPr>
          <p:nvPr>
            <p:ph type="title"/>
          </p:nvPr>
        </p:nvSpPr>
        <p:spPr>
          <a:xfrm>
            <a:off x="1946529" y="4476115"/>
            <a:ext cx="3528060" cy="2042795"/>
          </a:xfrm>
          <a:prstGeom prst="rect">
            <a:avLst/>
          </a:prstGeom>
        </p:spPr>
        <p:txBody>
          <a:bodyPr vert="horz" wrap="square" lIns="0" tIns="8255" rIns="0" bIns="0" rtlCol="0">
            <a:spAutoFit/>
          </a:bodyPr>
          <a:lstStyle/>
          <a:p>
            <a:pPr marL="12700" marR="5080">
              <a:lnSpc>
                <a:spcPct val="100499"/>
              </a:lnSpc>
              <a:spcBef>
                <a:spcPts val="65"/>
              </a:spcBef>
            </a:pPr>
            <a:r>
              <a:rPr b="0" spc="495" dirty="0">
                <a:solidFill>
                  <a:srgbClr val="C00000"/>
                </a:solidFill>
                <a:latin typeface="Palatino Linotype"/>
                <a:cs typeface="Palatino Linotype"/>
              </a:rPr>
              <a:t>THANK </a:t>
            </a:r>
            <a:r>
              <a:rPr b="0" spc="645" dirty="0">
                <a:solidFill>
                  <a:srgbClr val="C00000"/>
                </a:solidFill>
                <a:latin typeface="Palatino Linotype"/>
                <a:cs typeface="Palatino Linotype"/>
              </a:rPr>
              <a:t>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328</TotalTime>
  <Words>756</Words>
  <Application>Microsoft Office PowerPoint</Application>
  <PresentationFormat>Custom</PresentationFormat>
  <Paragraphs>115</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Financial Data Analysis Power BI</vt:lpstr>
      <vt:lpstr>Agenda</vt:lpstr>
      <vt:lpstr>Project Overview</vt:lpstr>
      <vt:lpstr>Data Overview</vt:lpstr>
      <vt:lpstr>Data Preparation</vt:lpstr>
      <vt:lpstr>Data Model</vt:lpstr>
      <vt:lpstr>Dashboard Visualizations</vt:lpstr>
      <vt:lpstr>Slide 8</vt:lpstr>
      <vt:lpstr>Dashboard Visualizations</vt:lpstr>
      <vt:lpstr>încome Statement Analysis Design</vt:lpstr>
      <vt:lpstr>Dashboard Visualizations</vt:lpstr>
      <vt:lpstr>Slide 12</vt:lpstr>
      <vt:lpstr>Dashboard Visualizations</vt:lpstr>
      <vt:lpstr>Slide 14</vt:lpstr>
      <vt:lpstr>Slide 15</vt:lpstr>
      <vt:lpstr>Applications &amp; Recommendations</vt:lpstr>
      <vt:lpstr>Conclusion</vt:lpstr>
      <vt:lpstr>Slide 18</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Data Analysis Power BI</dc:title>
  <dc:creator>user</dc:creator>
  <cp:lastModifiedBy>user</cp:lastModifiedBy>
  <cp:revision>7</cp:revision>
  <dcterms:created xsi:type="dcterms:W3CDTF">2025-11-15T02:41:08Z</dcterms:created>
  <dcterms:modified xsi:type="dcterms:W3CDTF">2025-11-15T09:53:43Z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2025-11-15T00:00:00Z</vt:filetime>
  </property>
  <property fmtid="{D5CDD505-2E9C-101B-9397-08002B2CF9AE}" pid="3" name="LastSaved">
    <vt:filetime>2025-11-15T00:00:00Z</vt:filetime>
  </property>
</Properties>
</file>